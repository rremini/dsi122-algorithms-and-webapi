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5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661" r:id="rId1"/>
  </p:sldMasterIdLst>
  <p:notesMasterIdLst>
    <p:notesMasterId r:id="rId67"/>
  </p:notesMasterIdLst>
  <p:handoutMasterIdLst>
    <p:handoutMasterId r:id="rId68"/>
  </p:handoutMasterIdLst>
  <p:sldIdLst>
    <p:sldId id="289" r:id="rId2"/>
    <p:sldId id="265" r:id="rId3"/>
    <p:sldId id="266" r:id="rId4"/>
    <p:sldId id="267" r:id="rId5"/>
    <p:sldId id="333" r:id="rId6"/>
    <p:sldId id="334" r:id="rId7"/>
    <p:sldId id="335" r:id="rId8"/>
    <p:sldId id="268" r:id="rId9"/>
    <p:sldId id="269" r:id="rId10"/>
    <p:sldId id="292" r:id="rId11"/>
    <p:sldId id="301" r:id="rId12"/>
    <p:sldId id="273" r:id="rId13"/>
    <p:sldId id="260" r:id="rId14"/>
    <p:sldId id="305" r:id="rId15"/>
    <p:sldId id="306" r:id="rId16"/>
    <p:sldId id="307" r:id="rId17"/>
    <p:sldId id="308" r:id="rId18"/>
    <p:sldId id="309" r:id="rId19"/>
    <p:sldId id="288" r:id="rId20"/>
    <p:sldId id="262" r:id="rId21"/>
    <p:sldId id="279" r:id="rId22"/>
    <p:sldId id="296" r:id="rId23"/>
    <p:sldId id="263" r:id="rId24"/>
    <p:sldId id="293" r:id="rId25"/>
    <p:sldId id="295" r:id="rId26"/>
    <p:sldId id="275" r:id="rId27"/>
    <p:sldId id="272" r:id="rId28"/>
    <p:sldId id="276" r:id="rId29"/>
    <p:sldId id="315" r:id="rId30"/>
    <p:sldId id="277" r:id="rId31"/>
    <p:sldId id="332" r:id="rId32"/>
    <p:sldId id="337" r:id="rId33"/>
    <p:sldId id="338" r:id="rId34"/>
    <p:sldId id="339" r:id="rId35"/>
    <p:sldId id="278" r:id="rId36"/>
    <p:sldId id="290" r:id="rId37"/>
    <p:sldId id="336" r:id="rId38"/>
    <p:sldId id="325" r:id="rId39"/>
    <p:sldId id="326" r:id="rId40"/>
    <p:sldId id="327" r:id="rId41"/>
    <p:sldId id="328" r:id="rId42"/>
    <p:sldId id="329" r:id="rId43"/>
    <p:sldId id="330" r:id="rId44"/>
    <p:sldId id="297" r:id="rId45"/>
    <p:sldId id="291" r:id="rId46"/>
    <p:sldId id="298" r:id="rId47"/>
    <p:sldId id="303" r:id="rId48"/>
    <p:sldId id="300" r:id="rId49"/>
    <p:sldId id="280" r:id="rId50"/>
    <p:sldId id="299" r:id="rId51"/>
    <p:sldId id="281" r:id="rId52"/>
    <p:sldId id="287" r:id="rId53"/>
    <p:sldId id="284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285" r:id="rId63"/>
    <p:sldId id="286" r:id="rId64"/>
    <p:sldId id="302" r:id="rId65"/>
    <p:sldId id="331" r:id="rId6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8992" autoAdjust="0"/>
  </p:normalViewPr>
  <p:slideViewPr>
    <p:cSldViewPr>
      <p:cViewPr varScale="1">
        <p:scale>
          <a:sx n="110" d="100"/>
          <a:sy n="110" d="100"/>
        </p:scale>
        <p:origin x="15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8"/>
    </p:cViewPr>
  </p:sorterViewPr>
  <p:notesViewPr>
    <p:cSldViewPr>
      <p:cViewPr>
        <p:scale>
          <a:sx n="100" d="100"/>
          <a:sy n="100" d="100"/>
        </p:scale>
        <p:origin x="-636" y="-7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>
            <a:extLst>
              <a:ext uri="{FF2B5EF4-FFF2-40B4-BE49-F238E27FC236}">
                <a16:creationId xmlns:a16="http://schemas.microsoft.com/office/drawing/2014/main" id="{BAC1FAD4-AEED-4CD2-9136-2F4935F3F38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054AE084-A3BB-4B40-8C12-1D12F451BF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fld id="{30E6E62E-9567-441B-A961-31D6FB3C010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F5A5218E-2B6C-4426-AB12-83400B6D7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243" tIns="50122" rIns="100243" bIns="50122"/>
          <a:lstStyle>
            <a:lvl1pPr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defRPr/>
            </a:pPr>
            <a:r>
              <a:rPr lang="en-US" altLang="en-US" sz="1800" b="1" i="1"/>
              <a:t>Design and Analysis of Algorithms</a:t>
            </a:r>
          </a:p>
        </p:txBody>
      </p:sp>
      <p:sp>
        <p:nvSpPr>
          <p:cNvPr id="4101" name="Rectangle 7">
            <a:extLst>
              <a:ext uri="{FF2B5EF4-FFF2-40B4-BE49-F238E27FC236}">
                <a16:creationId xmlns:a16="http://schemas.microsoft.com/office/drawing/2014/main" id="{4DC5DC7C-68B9-42F9-819B-A1D313C78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243" tIns="50122" rIns="100243" bIns="50122"/>
          <a:lstStyle>
            <a:lvl1pPr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03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03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r>
              <a:rPr lang="en-US" altLang="en-US" sz="1800" b="1" i="1"/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3-11-12T10:27:39.3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9431 4930 15 0,'0'0'0'0,"-11"0"1"0,11 0 1 0,0 11-1 0,0-11 0 0,11 0 0 0,12 13-2 0,14-2-1 0,-13 0-15 0</inkml:trace>
  <inkml:trace contextRef="#ctx0" brushRef="#br0" timeOffset="1">18362 7858 13 0,'0'0'0'0,"0"-24"1"0,13 24 1 0,-2 0-2 0,25 24 0 0,-12-12-3 0,-13 12-10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5-11-21T05:20:23.51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5317 3985 24 0,'0'0'15'0,"-36"18"13"0,19 0-9 0,-3 19 7 0,20-37 6 0,0 0-5 0,20-55-2 0,-3-55-8 0,38-108-8 0,0-18-4 0,-19 54-3 0,1 37-2 0,-21 90 1 0,21 55-1 0,0 74 4 0,18 89-1 0,0 55-1 0,-19 18-2 0,1-73-1 0,-20-126-47 0,3-92-63 0,-20-37 38 0</inkml:trace>
  <inkml:trace contextRef="#ctx0" brushRef="#br0" timeOffset="1">5264 3439 35 0,'-73'55'86'0,"53"-19"-45"0,40 1-22 0,125-19-9 0,91-36-8 0,55-55-28 0,17-54-100 0,-232 107 91 0</inkml:trace>
  <inkml:trace contextRef="#ctx0" brushRef="#br0" timeOffset="2">9316 6728 70 0,'-18'39'37'0,"1"51"-9"0,17-39-20 0,0-51-5 0,0-15 4 0,0-75 6 0,-20-38 2 0,4-19-3 0,16-16-4 0,0 19-3 0,16 17-3 0,41 17-2 0,-4 39 1 0,39 52-1 0,-21 38 0 0,-34 34 1 0,-37 20 2 0,-53 17-2 0,-39 2 1 0,1-37 0 0,17-19-2 0,58-19-1 0,52-34-2 0,73-1 2 0,72 18 0 0,2 0 0 0,-75 53 0 0,-71 20 3 0,-57 54 1 0,-88 1-1 0,-72-20-6 0,52-16-26 0,73-92-58 0,55-55-3 0</inkml:trace>
  <inkml:trace contextRef="#ctx0" brushRef="#br0" timeOffset="3">13297 2713 12 0,'18'-37'12'0,"55"-108"32"0,-38 56-9 0,-35 34-5 0,-35 36-2 0,-93 109-6 0,-33 38-5 0,14 72-8 0,1 53 3 0,111 38-9 0,106-146-4 0,111-108-7 0,109-164-25 0,17-146-43 0,-72-34-28 0</inkml:trace>
  <inkml:trace contextRef="#ctx0" brushRef="#br0" timeOffset="4">12732 2057 115 0,'-34'18'19'0,"-203"129"-9"0,72-1-9 0,22 54-2 0,33 55 1 0,75-39 1 0,35-161 0 0,15 236 5 0,132-72 0 0,89-75-4 0,110-125-2 0,38-93 2 0,-3-125 5 0,-57-74 5 0,-67-109-3 0,-166-15-7 0,-111 12-1 0,-196 77-3 0,-132 53-24 0,-48 202-36 0,66 196-36 0</inkml:trace>
  <inkml:trace contextRef="#ctx0" brushRef="#br0" timeOffset="5">8028 10399 70 0,'0'-2'0'0,"-20"59"25"0,20-39-21 0,0-36 1 0,20-53 7 0,-4-39 5 0,-16-53-9 0,0 54-4 0,-16-37 5 0,-4 109-1 0,20 37-1 0,20 17-3 0,31 21-3 0,24 17 2 0,-22-18 0 0,4 34 1 0,-42 3-4 0,-15 34 4 0,-35 0-4 0,-55 75 1 0,15-57-11 0,-13-71-75 0,52-73 1 0</inkml:trace>
  <inkml:trace contextRef="#ctx0" brushRef="#br0" timeOffset="6">7991 9490 114 0,'-57'2'13'0,"-106"35"0"0,2-37-11 0,-4 36-1 0,37 54 0 0,0 38 0 0,74 72 0 0,18 35-1 0,52 56 0 0,78-20 0 0,50-14 0 0,56-112-1 0,2-90 0 0,14-92 1 0,4-108-1 0,-4-55 4 0,-51-73 0 0,-59-53 5 0,-85-2-5 0,-76 55 2 0,-110 73-2 0,-70 74 0 0,-38 89-21 0,0 92-27 0,57 35-30 0,179-72 47 0</inkml:trace>
  <inkml:trace contextRef="#ctx0" brushRef="#br0" timeOffset="7">8662 5495 81 0,'-2'-2'0'0,"-69"112"11"0,54-2-14 0,-3 57-6 0,40 53 5 0,52 35 5 0,36 20 4 0,55-18 2 0,38-55-4 0,38-129-1 0,-23-71-1 0,-16-108 5 0,-35-94 5 0,-22-69 2 0,-70-73-7 0,-73-1-4 0,-108 34-9 0,-129 58-37 0,58 161-31 0</inkml:trace>
  <inkml:trace contextRef="#ctx0" brushRef="#br0" timeOffset="8">5264 2805 35 0,'-36'-37'12'0,"-74"-16"-7"0,0 53 3 0,-52 108 3 0,16 18 5 0,-1 164-1 0,96-35-8 0,67 144-3 0,129 2 3 0,92-127-1 0,91-185-6 0,34-164 0 0,-15-139 7 0,-74-114 1 0,-92-55 2 0,-146-17-4 0,-178 19-5 0,-167 73-12 0,-91 145-7 0,73 216-18 0,75 75-54 0</inkml:trace>
  <inkml:trace contextRef="#ctx0" brushRef="#br0" timeOffset="9">6518 3149 67 0,'-55'18'24'0,"38"-36"-16"0,34-37-1 0,54 0 5 0,94 2-3 0,88 35-2 0,75-19-3 0,55 0 1 0,17 1 0 0,-19 17-3 0,-90 3 1 0,-238 16-3 0,257-18 3 0,-53 18 0 0,-58-19 0 0,-19 19-2 0,2-18 1 0,-36 36-2 0,-19-18 1 0,19 19 1 0,-21-19-1 0,3 0 0 0,0 18 0 0,17-18 1 0,-17 0 1 0,-19 0 0 0,-18 0-2 0,-38 0 2 0,4-18-2 0,-20 18 3 0,18 0-3 0,-4 0 3 0,22 18-6 0,1-18 7 0,-38 0-6 0,-17 16 1 0,-19-16 2 0,0 0 0 0,-19-16-2 0,1 16-1 0,-37-37 3 0,-18-18-4 0,-35-36 1 0,-37-18 2 0,35 54-1 0,57 2 0 0,16 35 0 0,19 18 1 0,18 18-2 0,0 17 2 0,0 38-3 0,0 1 3 0,0 36 0 0,0 33-1 0,0 38 0 0,-19-14 1 0,19-59-2 0,37-75 0 0,16-66-2 0,39-114-5 0,16-52-31 0,75-38-26 0,-20 37-14 0</inkml:trace>
  <inkml:trace contextRef="#ctx0" brushRef="#br0" timeOffset="10">8572 5876 1 0,'0'0'0'0,"-20"0"13"0,20-18-1 0,0-1-1 0,0-17 1 0,0-21-4 0,0 4 3 0,20-21 1 0,15 38-3 0,36-1-3 0,23-16-2 0,49 16-1 0,4 19-3 0,-1 0 0 0,-19-1-36 0,-54 19-26 0</inkml:trace>
  <inkml:trace contextRef="#ctx0" brushRef="#br0" timeOffset="11">6355 3911 0 0,'-37'-18'7'0,"17"2"15"0,-31-23-2 0,30 21-7 0,21-1 1 0,-16 19 1 0,16-16 2 0,0 16-4 0,37 0-3 0,14 16 0 0,42 3-3 0,34-19-3 0,36 36-1 0,-17 1 2 0,18 18 4 0,-3 37-2 0,4-1-1 0,-19-1-2 0,1 2-1 0,-2 16-1 0,-2-18-1 0,-13 20 1 0,-4 18 0 0,-16-38-1 0,-38-35 0 0,-17-19 0 0,-19-1-1 0,-19-35 0 0,-17 0 2 0,-17 0-2 0,-3 0 1 0,4-16-2 0,-23-3 0 0,23-36 0 0,-4-18 1 0,3-17 0 0,-3-1-2 0,20 19 4 0,0 17-6 0,0 39 5 0,-15-4-1 0,-5 20 1 0,4 20-1 0,-41 13-1 0,4 24 2 0,14 32-3 0,4 3 2 0,19-2 0 0,-4 1-1 0,20-56 1 0,20 2-1 0,-20-19-1 0,35-18 1 0,20-18 0 0,18-19 0 0,15 2-4 0,-15-1-62 0,-34-19-43 0</inkml:trace>
  <inkml:trace contextRef="#ctx0" brushRef="#br0" timeOffset="12">8591 6602 19 0,'-2'0'5'0,"20"18"8"0,-18-18-6 0,0 0 7 0,0 0 5 0,-18 18-3 0,-19 1-4 0,0-1-6 0,-34-18-2 0,-21 0-1 0,-32 0 0 0,-25-37 3 0,-32-18-1 0,1-16 0 0,-20-21-1 0,35 19-1 0,1-17 0 0,-18 17 1 0,39-17-2 0,13-20-1 0,4-16 0 0,16 14 1 0,3-15 0 0,14 19 1 0,5-20-1 0,-4 20-1 0,-16 35 2 0,-4-17-2 0,41-2 0 0,-2 56-1 0,56 1 2 0,-3 35-1 0,20 16-1 0,73 39-1 0,35-2 0 0,21-32 0 0,-3-58 1 0,-32-36 0 0,-23 19 0 0,-34-1 1 0,-21 37-1 0,-16 18 3 0,-16 37-2 0,-56 53 0 0,-1-1-1 0,-39 40-1 0,24-1 1 0,-5-20 0 0,39-53 0 0,18-55-3 0,36-55 0 0,-17-71 0 0,17-21-2 0,0 130 2 0,17-182-40 0,1 52-71 0</inkml:trace>
  <inkml:trace contextRef="#ctx0" brushRef="#br0" timeOffset="13">10099 6237 51 0,'0'0'6'0,"-37"39"8"0,37-39-14 0,17 0 0 0,19-19 9 0,1-17 11 0,36-38 0 0,54-34-4 0,54-37-3 0,56-56-5 0,36-17-4 0,36-55 1 0,18 1 2 0,-34 36-2 0,-57 73-4 0,-54 53 0 0,-56 20 1 0,-53 35-1 0,-56 18 1 0,-17 19 2 0,-37 18-3 0,-36 0-1 0,1 0 0 0,1 18 0 0,-22-18-1 0,21 0 0 0,1-18 1 0,14 18-1 0,-15-18 0 0,36 18 1 0,19 18-2 0,17 37 0 0,37 72 0 0,51 19 0 0,5 17 2 0,-23-36 0 0,3-72 0 0,-36-37-1 0,-1-91 1 0,-15-54-1 0,-21-36-3 0,0-2-32 0,16 20-55 0,-16 127 62 0</inkml:trace>
  <inkml:trace contextRef="#ctx0" brushRef="#br0" timeOffset="14">13497 3659 82 0,'0'-2'13'0,"-17"38"-2"0,17 19-10 0,17 53 3 0,3 39-2 0,-20 36 3 0,0 89 1 0,-57 19 0 0,-51 33-3 0,-21 41 5 0,-52-37 1 0,-37 18-3 0,-17-38-1 0,15 19-4 0,-32-36 0 0,-22-20-2 0,3-33 0 0,-22 17 0 0,22 0-1 0,-4-39 0 0,2 2 0 0,2-55 0 0,34-16 0 0,19-21 2 0,38-32 0 0,34-23-1 0,19-34 1 0,36-20-1 0,17 1 1 0,20 0 0 0,-20 1 0 0,21 15 0 0,15-14 1 0,1-1-1 0,2-1 0 0,19-18 0 0,-5 18 0 0,5-18 1 0,16 0-2 0,0-36 1 0,53-56 0 0,19-18 1 0,19-16-3 0,1-1 4 0,-37 36-3 0,18 34 4 0,-55 40-3 0,1 34 5 0,-3 113-3 0,-16 33-2 0,-16 19 2 0,16-18-2 0,-19-19 2 0,1-53-3 0,0-55 1 0,-37-56 0 0,-35-36-1 0,-3-35-15 0,1-38-71 0,57 91 32 0</inkml:trace>
  <inkml:trace contextRef="#ctx0" brushRef="#br0" timeOffset="15">7790 9036 2 0,'0'0'9'0,"-19"36"12"0,19-16 2 0,0 17 1 0,-16-20-4 0,16-17-9 0,16-17-4 0,-16-40 7 0,39-51-4 0,14-55-1 0,2-18 0 0,35-56-2 0,0 37-3 0,3-16 1 0,15 33-3 0,0 1-1 0,-36 36-1 0,1 36 0 0,-36 38 0 0,1 17 1 0,-5 37 0 0,-15 0-1 0,3-1 1 0,-21 19 0 0,0 19 3 0,0 54-3 0,0 17 0 0,0 1 1 0,0 19-4 0,0 0 4 0,16-1-3 0,-16-54 2 0,20-19-2 0,-40-19 1 0,-35-34-2 0,-33-19 1 0,-22-19 0 0,0-19 1 0,2 39-1 0,35 17 0 0,56 0-1 0,17 18 0 0,17-19-1 0,91 1 1 0,40-19-16 0,-3-54-34 0,-57-19-40 0</inkml:trace>
  <inkml:trace contextRef="#ctx0" brushRef="#br0" timeOffset="16">6663 10199 46 0,'0'74'19'0,"-19"-21"-11"0,-17-33-2 0,19-20-4 0,-40-20 1 0,6-50-1 0,-41-1 1 0,-16-41 2 0,-22-51 0 0,-13 0 2 0,-22-37 1 0,2-18-1 0,-2-19-1 0,2 17 5 0,37-14-1 0,-5-3-4 0,5-17-2 0,18-19 0 0,0-35-1 0,36 51 0 0,-1-14 0 0,16 36-2 0,6-56 0 0,-4 36 0 0,18 19 1 0,17 18-1 0,4 18-1 0,-5 17 0 0,21 1 0 0,0 17-1 0,0 22 2 0,0 33 1 0,0 39 0 0,0 34-1 0,0 37-1 0,21 55-1 0,52 53 0 0,15 57 2 0,24-22-1 0,-4-33 1 0,-53-38-2 0,-19-36 1 0,-36-36-1 0,-56 0-7 0,-51 0 0 0,-23 0 0 0,-13 0-4 0,-2 0 6 0,34 0 4 0,59-18-1 0,32-17-4 0,40-75 3 0,68-34 2 0,59-56-28 0,18 0-58 0</inkml:trace>
  <inkml:trace contextRef="#ctx0" brushRef="#br0" timeOffset="17">3573 7929 8 0,'-19'1'25'0,"1"-1"-7"0,18 0 5 0,0-20-4 0,0 20-1 0,37 57-3 0,18 86-5 0,0 20-7 0,16 55-4 0,2-38-24 0,-36-142-60 0,-37-38 60 0</inkml:trace>
  <inkml:trace contextRef="#ctx0" brushRef="#br0" timeOffset="18">4045 8020 44 0,'0'37'17'0,"-36"34"0"0,19 3-9 0,-3-3-5 0,20 21 7 0,20 16 3 0,33-18-3 0,19-52-6 0,1-38-1 0,2-91-1 0,-38-36 2 0,-37-36 1 0,-75 35 1 0,-15 75 0 0,-18 53-6 0,16 71-27 0,37 57-66 0,55-109 65 0</inkml:trace>
  <inkml:trace contextRef="#ctx0" brushRef="#br0" timeOffset="19">6298 6294 0 0,'0'-18'4'0,"0"18"2"0,20 0 1 0,-40 0 21 0,20 0-10 0,-15 36-3 0,15-19-2 0,-20 19-6 0,4 19-5 0,16 0-1 0,0-18 0 0,0-21-1 0,16 39 2 0,19-18-1 0,1-37 0 0,38 0-1 0,16-18 0 0,3-37 0 0,-3 20 0 0,-17-2-1 0,-36 1-68 0,-21 36 34 0</inkml:trace>
  <inkml:trace contextRef="#ctx0" brushRef="#br0" timeOffset="20">6426 6365 6 0,'0'0'0'0,"-18"0"12"0,18 0-9 0,-17-18-2 0,17 18 2 0,0 0 7 0,-20-18 3 0,20 18 2 0,0 0 1 0,0 18 13 0,20 19-14 0,-3 54-6 0,21 36-6 0,-1-1-4 0,-2-18-9 0,1-69-82 0,-19-39 64 0</inkml:trace>
  <inkml:trace contextRef="#ctx0" brushRef="#br0" timeOffset="21">4553 3385 0 0,'0'0'0'0,"-18"-18"2"0,18-2 5 0,0 20-1 0,-17-17 1 0,-19 1 2 0,1 16 4 0,-22-20 2 0,-31 40-1 0,-40 13-1 0,-37 38 0 0,-17 60-3 0,-17 13-1 0,17 19-2 0,-18 39-2 0,17 16-1 0,22 17-1 0,-4 38 0 0,2 16-1 0,35 3 2 0,18 17-4 0,20 20 2 0,17-3-2 0,19 2 0 0,18-2 0 0,17 19 0 0,19-16 0 0,0 14 0 0,19 3-2 0,17 17 1 0,38 20 1 0,15-20-1 0,38-53 0 0,1-39 0 0,37-34 0 0,15-19 0 0,21-37 1 0,-1-36-1 0,-20-17 1 0,3 0 0 0,17-19 0 0,-17-18 0 0,-2-17 0 0,-1-21 1 0,-17-33 1 0,-16-4-2 0,16 5 3 0,2 12-2 0,-22-13 1 0,22-20-2 0,-2 0 3 0,-17-20-3 0,-1 3 1 0,-18 17 1 0,-17 0-2 0,-2 0 2 0,-33 0-1 0,-2-16 2 0,-38 16-5 0,2 0 2 0,-37-21 1 0,0 21 0 0,0 0 1 0,-37 0-3 0,2-16 1 0,15-4-1 0,-33 1 1 0,14 1 0 0,-14 2 0 0,-2 16 1 0,-18 0-1 0,20 16 1 0,14 21-1 0,23 20 1 0,-21-4-1 0,37 36 0 0,18 21-1 0,17-38 1 0,20-17-2 0,19-55-1 0,-3-55 1 0,21-72 0 0,1-54 0 0,-21-55-29 0,19-3-63 0,-91 205 70 0</inkml:trace>
  <inkml:trace contextRef="#ctx0" brushRef="#br0" timeOffset="22">7790 3732 3 0,'0'-2'4'0,"-19"2"9"0,19 0-2 0,-16 0 2 0,16 0 1 0,16-18-2 0,3-1-3 0,17 1 0 0,19 0-1 0,-2-1-2 0,4 19-3 0,-20 19 4 0,-21-1 1 0,-16 37-1 0,-36 0-4 0,-17 16 1 0,-4-16-1 0,5 0 0 0,16-36-2 0,36-1-2 0,36-18 1 0,52 18 0 0,57 1 0 0,20 17-1 0,-18-17-14 0,-2-19-65 0,-109-19 40 0</inkml:trace>
  <inkml:trace contextRef="#ctx0" brushRef="#br0" timeOffset="23">7991 1604 37 0,'0'0'0'0,"-110"37"31"0,55-19-11 0,19-18-1 0,36 0-12 0,73-18 4 0,55 18-1 0,52 0-3 0,1 0-1 0,-54 0 0 0,-70 35 3 0,-41-17-1 0,-53 92 1 0,-87 53-8 0,-3 0 2 0,17-16-9 0,54-37-64 0,37-74-33 0</inkml:trace>
  <inkml:trace contextRef="#ctx0" brushRef="#br0" timeOffset="24">10462 5075 49 0,'-19'-2'15'0,"56"-14"-2"0,34-39 8 0,21 2 2 0,-19 16-14 0,-36 37 1 0,-37 37 3 0,-20 34-7 0,-17 21-4 0,1-56-2 0,36-19-4 0,20-17 2 0,53 0 1 0,-1-17 2 0,1 34 1 0,-55 38 6 0,-36 37-1 0,-74 16-6 0,-18-53-33 0,2-92-104 0</inkml:trace>
  <inkml:trace contextRef="#ctx0" brushRef="#br0" timeOffset="25">7427 8128 2 0,'-19'0'9'0,"1"-36"8"0,0-17 3 0,-1 14 3 0,1 6 5 0,18 33 1 0,0 33-15 0,37 77-9 0,36 53-4 0,0 2-12 0,-38-93-119 0</inkml:trace>
  <inkml:trace contextRef="#ctx0" brushRef="#br0" timeOffset="26">12789 7329 26 0,'-18'-1'28'0,"-19"1"-1"0,1 0-9 0,-19 18-7 0,1 19-4 0,34 17-1 0,4 1-1 0,52 0-3 0,18-18 2 0,145 18 2 0,-70-37-2 0,-38 36 2 0,-38 19 4 0,-53 17-8 0,-91 3-6 0,-36-40-27 0,-18-73-44 0,54-13 24 0</inkml:trace>
  <inkml:trace contextRef="#ctx0" brushRef="#br0" timeOffset="27">12496 7474 55 0,'0'0'25'0,"37"18"18"0,36-18-14 0,55-55-17 0,17-36-9 0,18-17-5 0,-16-21-61 0,-56 21-33 0</inkml:trace>
  <inkml:trace contextRef="#ctx0" brushRef="#br0" timeOffset="28">901 8638 20 0,'0'0'0'0,"-35"0"26"0,15 0-6 0,3 0-11 0,-3-37 5 0,20 37 5 0,0-18 1 0,0 18-10 0,0 55-3 0,57 16-4 0,-4 58-3 0,0-3 0 0,4 39-3 0,-4-20-24 0,4-90-31 0,-22-37-2 0</inkml:trace>
  <inkml:trace contextRef="#ctx0" brushRef="#br0" timeOffset="29">1139 8601 30 0,'-20'0'22'0,"3"0"-3"0,-3 0-16 0,20 0 0 0,0 19 5 0,20 15 1 0,32 3 0 0,21-19 2 0,18 37-5 0,-19-18 0 0,1 0 1 0,-54 16 1 0,-19 20-2 0,-92 17-5 0,20 2-9 0,19-56-29 0,-3-17-12 0,56-38-4 0</inkml:trace>
  <inkml:trace contextRef="#ctx0" brushRef="#br0" timeOffset="30">1139 8530 36 0,'0'0'22'0,"0"16"-9"0,15-16-3 0,21 0 3 0,1 0 13 0,1-16-10 0,36-4-9 0,-3 1-7 0,1-34-2 0,19-20-54 0,-54 36-17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5-11-21T05:20:54.5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3269 2829 24 0,'0'0'15'0,"-20"10"13"0,11 0-9 0,-2 10 7 0,11-20 6 0,0 0-5 0,11-30-2 0,-2-30-8 0,21-59-8 0,0-10-4 0,-10 30-3 0,0 20-2 0,-11 49 1 0,11 30-1 0,0 40 4 0,10 49-1 0,0 30-1 0,-10 10-2 0,0-40-1 0,-11-69-47 0,2-50-63 0,-11-20 38 0</inkml:trace>
  <inkml:trace contextRef="#ctx0" brushRef="#br0" timeOffset="1">3240 2531 35 0,'-40'30'86'0,"29"-10"-45"0,22 0-22 0,68-10-9 0,50-20-8 0,30-30-28 0,9-29-100 0,-127 58 91 0</inkml:trace>
  <inkml:trace contextRef="#ctx0" brushRef="#br0" timeOffset="2">5451 4326 70 0,'-10'21'37'0,"1"28"-9"0,9-21-20 0,0-28-5 0,0-8 4 0,0-41 6 0,-11-21 2 0,2-10-3 0,9-9-4 0,0 10-3 0,9 10-3 0,22 9-2 0,-2 21 1 0,21 29-1 0,-11 20 0 0,-19 19 1 0,-20 11 2 0,-29 9-2 0,-21 1 1 0,0-20 0 0,10-10-2 0,31-11-1 0,29-18-2 0,39-1 2 0,40 10 0 0,1 0 0 0,-41 29 0 0,-39 11 3 0,-31 29 1 0,-48 1-1 0,-39-11-6 0,28-9-26 0,40-50-58 0,30-30-3 0</inkml:trace>
  <inkml:trace contextRef="#ctx0" brushRef="#br0" timeOffset="3">7623 2135 12 0,'10'-20'12'0,"30"-59"32"0,-21 30-9 0,-19 19-5 0,-19 20-2 0,-51 59-6 0,-18 21-5 0,8 39-8 0,0 29 3 0,61 21-9 0,58-80-4 0,60-59-7 0,60-89-25 0,9-80-43 0,-39-19-28 0</inkml:trace>
  <inkml:trace contextRef="#ctx0" brushRef="#br0" timeOffset="4">7315 1777 115 0,'-19'10'19'0,"-110"70"-9"0,39 0-9 0,12 29-2 0,18 30 1 0,41-21 1 0,19-88 0 0,8 129 5 0,72-40 0 0,49-40-4 0,60-69-2 0,20-50 2 0,-1-69 5 0,-31-40 5 0,-37-59-3 0,-90-9-7 0,-61 7-1 0,-107 42-3 0,-72 29-24 0,-26 110-36 0,36 107-36 0</inkml:trace>
  <inkml:trace contextRef="#ctx0" brushRef="#br0" timeOffset="5">4748 6329 70 0,'0'-1'0'0,"-11"32"25"0,11-21-21 0,0-20 1 0,11-29 7 0,-2-21 5 0,-9-29-9 0,0 30-4 0,-9-21 5 0,-2 60-1 0,11 20-1 0,11 9-3 0,17 12-3 0,13 9 2 0,-12-10 0 0,2 19 1 0,-23 1-4 0,-8 19 4 0,-19 0-4 0,-30 41 1 0,8-31-11 0,-7-39-75 0,28-40 1 0</inkml:trace>
  <inkml:trace contextRef="#ctx0" brushRef="#br0" timeOffset="6">4728 5833 114 0,'-31'1'13'0,"-58"19"0"0,1-20-11 0,-2 20-1 0,20 29 0 0,0 21 0 0,41 39 0 0,9 19-1 0,29 31 0 0,42-11 0 0,28-8 0 0,30-61-1 0,1-49 0 0,8-50 1 0,2-59-1 0,-2-30 4 0,-28-40 0 0,-32-29 5 0,-47-1-5 0,-41 30 2 0,-60 40-2 0,-38 40 0 0,-21 49-21 0,0 50-27 0,31 19-30 0,98-39 47 0</inkml:trace>
  <inkml:trace contextRef="#ctx0" brushRef="#br0" timeOffset="7">5094 3653 81 0,'-1'-1'0'0,"-38"61"11"0,30-1-14 0,-2 31-6 0,22 29 5 0,28 19 5 0,20 11 4 0,30-10 2 0,21-30-4 0,20-70-1 0,-12-39-1 0,-9-59 5 0,-19-51 5 0,-12-38 2 0,-38-40-7 0,-40 0-4 0,-59 18-9 0,-70 32-37 0,31 88-31 0</inkml:trace>
  <inkml:trace contextRef="#ctx0" brushRef="#br0" timeOffset="8">3240 2185 35 0,'-20'-20'12'0,"-40"-9"-7"0,0 29 3 0,-28 59 3 0,8 10 5 0,0 89-1 0,52-19-8 0,37 79-3 0,70 1 3 0,50-70-1 0,50-100-6 0,19-90 0 0,-9-76 7 0,-40-62 1 0,-50-30 2 0,-80-9-4 0,-97 10-5 0,-91 40-12 0,-50 79-7 0,40 118-18 0,41 41-54 0</inkml:trace>
  <inkml:trace contextRef="#ctx0" brushRef="#br0" timeOffset="9">3924 2373 67 0,'-30'10'24'0,"21"-20"-16"0,18-20-1 0,30 0 5 0,51 1-3 0,48 19-2 0,41-10-3 0,30 0 1 0,9 0 0 0,-10 10-3 0,-49 1 1 0,-130 9-3 0,140-10 3 0,-29 10 0 0,-31-10 0 0,-11 10-2 0,1-10 1 0,-19 20-2 0,-11-10 1 0,11 10 1 0,-12-10-1 0,2 0 0 0,0 10 0 0,9-10 1 0,-9 0 1 0,-11 0 0 0,-9 0-2 0,-21 0 2 0,2-10-2 0,-11 10 3 0,10 0-3 0,-2 0 3 0,12 10-6 0,0-10 7 0,-20 0-6 0,-10 9 1 0,-10-9 2 0,0 0 0 0,-10-9-2 0,0 9-1 0,-20-20 3 0,-10-10-4 0,-19-20 1 0,-20-9 2 0,19 29-1 0,31 1 0 0,9 19 0 0,10 10 1 0,10 10-2 0,0 9 2 0,0 21-3 0,0 0 3 0,0 20 0 0,0 18-1 0,0 21 0 0,-10-8 1 0,10-32-2 0,20-41 0 0,9-36-2 0,21-62-5 0,9-29-31 0,41-20-26 0,-11 20-14 0</inkml:trace>
  <inkml:trace contextRef="#ctx0" brushRef="#br0" timeOffset="10">5045 3861 1 0,'0'0'0'0,"-11"0"13"0,11-10-1 0,0 0-1 0,0-10 1 0,0-11-4 0,0 2 3 0,11-11 1 0,8 20-3 0,20 0-3 0,12-9-2 0,27 9-1 0,2 10-3 0,0 0 0 0,-11 0-36 0,-29 10-26 0</inkml:trace>
  <inkml:trace contextRef="#ctx0" brushRef="#br0" timeOffset="11">3835 2789 0 0,'-20'-10'7'0,"9"1"15"0,-17-12-2 0,17 11-7 0,11 0 1 0,-9 10 1 0,9-9 2 0,0 9-4 0,20 0-3 0,8 9 0 0,23 1-3 0,18-10-3 0,20 20-1 0,-9 0 2 0,9 10 4 0,-1 20-2 0,2 0-1 0,-10-1-2 0,0 1-1 0,-1 9-1 0,-1-10-1 0,-7 11 1 0,-2 10 0 0,-9-21-1 0,-21-19 0 0,-9-10 0 0,-10-1-1 0,-11-19 0 0,-9 0 2 0,-9 0-2 0,-2 0 1 0,2-9-2 0,-12-1 0 0,12-20 0 0,-2-10 1 0,2-9 0 0,-2-1-2 0,11 11 4 0,0 9-6 0,0 21 5 0,-8-2-1 0,-3 11 1 0,2 11-1 0,-22 7-1 0,2 13 2 0,8 18-3 0,2 1 2 0,10-1 0 0,-2 1-1 0,11-31 1 0,11 1-1 0,-11-10-1 0,19-10 1 0,11-10 0 0,10-10 0 0,8 1-4 0,-8-1-62 0,-19-10-43 0</inkml:trace>
  <inkml:trace contextRef="#ctx0" brushRef="#br0" timeOffset="12">5055 4257 19 0,'-1'0'5'0,"11"10"8"0,-10-10-6 0,0 0 7 0,0 0 5 0,-10 10-3 0,-10 0-4 0,0 0-6 0,-19-10-2 0,-11 0-1 0,-18 0 0 0,-13-20 3 0,-18-10-1 0,1-9 0 0,-11-11-1 0,19 10-1 0,0-9 0 0,-9 9 1 0,21-9-2 0,7-11-1 0,2-9 0 0,9 8 1 0,2-8 0 0,7 10 1 0,3-11-1 0,-2 11-1 0,-9 19 2 0,-2-9-2 0,22-1 0 0,-1 30-1 0,31 1 2 0,-2 19-1 0,11 9-1 0,40 21-1 0,19-1 0 0,11-18 0 0,-1-31 1 0,-18-20 0 0,-12 11 0 0,-19-1 1 0,-11 20-1 0,-9 10 3 0,-9 20-2 0,-30 29 0 0,-1 0-1 0,-21 21-1 0,13 0 1 0,-3-11 0 0,22-29 0 0,9-30-3 0,20-30 0 0,-9-39 0 0,9-11-2 0,0 71 2 0,9-100-40 0,1 29-71 0</inkml:trace>
  <inkml:trace contextRef="#ctx0" brushRef="#br0" timeOffset="13">5878 4058 51 0,'0'0'6'0,"-20"21"8"0,20-21-14 0,9 0 0 0,11-10 9 0,0-10 11 0,20-20 0 0,29-19-4 0,30-20-3 0,30-31-5 0,20-9-4 0,20-30 1 0,9 1 2 0,-18 19-2 0,-31 40-4 0,-30 29 0 0,-30 11 1 0,-29 19-1 0,-31 10 1 0,-9 10 2 0,-20 10-3 0,-20 0-1 0,1 0 0 0,0 10 0 0,-12-10-1 0,12 0 0 0,0-10 1 0,8 10-1 0,-8-10 0 0,19 10 1 0,11 10-2 0,9 20 0 0,20 39 0 0,28 11 0 0,3 9 2 0,-13-20 0 0,2-39 0 0,-20-20-1 0,0-50 1 0,-9-29-1 0,-11-20-3 0,0-1-32 0,9 11-55 0,-9 69 62 0</inkml:trace>
  <inkml:trace contextRef="#ctx0" brushRef="#br0" timeOffset="14">7732 2651 82 0,'0'-1'13'0,"-9"21"-2"0,9 10-10 0,9 29 3 0,2 21-2 0,-11 20 3 0,0 48 1 0,-31 11 0 0,-28 18-3 0,-11 22 5 0,-29-20 1 0,-20 10-3 0,-9-21-1 0,8 10-4 0,-18-19 0 0,-11-11-2 0,1-18 0 0,-12 9 0 0,12 0-1 0,-2-21 0 0,1 1 0 0,1-30 0 0,19-9 0 0,10-11 2 0,21-18 0 0,18-12-1 0,11-19 1 0,19-11-1 0,10 1 1 0,10 0 0 0,-10 0 0 0,11 9 0 0,8-8 1 0,1-1-1 0,1 0 0 0,10-10 0 0,-2 10 0 0,2-10 1 0,9 0-2 0,0-20 1 0,29-30 0 0,10-10 1 0,11-9-3 0,0 0 4 0,-20 19-3 0,10 19 4 0,-30 22-3 0,0 18 5 0,-1 62-3 0,-9 18-2 0,-9 10 2 0,9-9-2 0,-10-11 2 0,0-29-3 0,0-30 1 0,-20-30 0 0,-19-20-1 0,-2-19-15 0,1-21-71 0,31 50 32 0</inkml:trace>
  <inkml:trace contextRef="#ctx0" brushRef="#br0" timeOffset="15">4618 5585 2 0,'0'0'9'0,"-10"20"12"0,10-9 2 0,0 9 1 0,-9-11-4 0,9-9-9 0,9-9-4 0,-9-22 7 0,21-28-4 0,8-30-1 0,1-10 0 0,19-30-2 0,0 20-3 0,2-9 1 0,8 18-3 0,0 1-1 0,-20 19-1 0,1 20 0 0,-20 21 0 0,1 9 1 0,-3 20 0 0,-8 0-1 0,1 0 1 0,-11 10 0 0,0 10 3 0,0 30-3 0,0 9 0 0,0 1 1 0,0 10-4 0,0 0 4 0,9-1-3 0,-9-29 2 0,11-10-2 0,-22-11 1 0,-19-18-2 0,-18-11 1 0,-12-10 0 0,0-10 1 0,1 21-1 0,19 9 0 0,31 0-1 0,9 10 0 0,9-10-1 0,50 0 1 0,22-10-16 0,-2-30-34 0,-31-10-40 0</inkml:trace>
  <inkml:trace contextRef="#ctx0" brushRef="#br0" timeOffset="16">4003 6220 46 0,'0'40'19'0,"-10"-11"-11"0,-10-18-2 0,11-11-4 0,-22-11 1 0,3-27-1 0,-22-1 1 0,-9-22 2 0,-12-28 0 0,-7 0 2 0,-12-20 1 0,1-10-1 0,-1-10-1 0,1 9 5 0,20-8-1 0,-2-1-4 0,2-10-2 0,10-10 0 0,0-19-1 0,20 28 0 0,-1-8 0 0,9 20-2 0,3-31 0 0,-2 20 0 0,10 10 1 0,9 10-1 0,2 10-1 0,-2 9 0 0,11 1 0 0,0 9-1 0,0 12 2 0,0 18 1 0,0 21 0 0,0 19-1 0,0 20-1 0,11 30-1 0,29 29 0 0,8 31 2 0,13-12-1 0,-2-18 1 0,-29-21-2 0,-10-19 1 0,-20-20-1 0,-31 0-7 0,-27 0 0 0,-13 0 0 0,-7 0-4 0,-1 0 6 0,18 0 4 0,33-10-1 0,17-9-4 0,22-41 3 0,37-19 2 0,32-30-28 0,10 0-58 0</inkml:trace>
  <inkml:trace contextRef="#ctx0" brushRef="#br0" timeOffset="17">2317 4981 8 0,'-10'1'25'0,"0"-1"-7"0,10 0 5 0,0-11-4 0,0 11-1 0,20 31-3 0,10 47-5 0,0 11-7 0,9 30-4 0,1-21-24 0,-20-77-60 0,-20-21 60 0</inkml:trace>
  <inkml:trace contextRef="#ctx0" brushRef="#br0" timeOffset="18">2575 5031 44 0,'0'20'17'0,"-20"19"0"0,11 1-9 0,-2-1-5 0,11 11 7 0,11 9 3 0,18-10-3 0,10-28-6 0,1-21-1 0,1-50-1 0,-21-19 2 0,-20-20 1 0,-41 19 1 0,-8 41 0 0,-10 29-6 0,9 39-27 0,20 31-66 0,30-60 65 0</inkml:trace>
  <inkml:trace contextRef="#ctx0" brushRef="#br0" timeOffset="19">3804 4089 0 0,'0'-10'4'0,"0"10"2"0,11 0 1 0,-22 0 21 0,11 0-10 0,-8 20-3 0,8-11-2 0,-11 11-6 0,2 10-5 0,9 0-1 0,0-10 0 0,0-11-1 0,9 21 2 0,10-10-1 0,1-20 0 0,20 0-1 0,9-10 0 0,2-20 0 0,-2 11 0 0,-9-1-1 0,-20 0-68 0,-11 20 34 0</inkml:trace>
  <inkml:trace contextRef="#ctx0" brushRef="#br0" timeOffset="20">3874 4128 6 0,'0'0'0'0,"-10"0"12"0,10 0-9 0,-9-10-2 0,9 10 2 0,0 0 7 0,-11-10 3 0,11 10 2 0,0 0 1 0,0 10 13 0,11 10-14 0,-2 30-6 0,12 19-6 0,-1 0-4 0,-1-10-9 0,1-38-82 0,-11-21 64 0</inkml:trace>
  <inkml:trace contextRef="#ctx0" brushRef="#br0" timeOffset="21">2852 2502 0 0,'0'0'0'0,"-10"-10"2"0,10-1 5 0,0 11-1 0,-9-9 1 0,-11 0 2 0,1 9 4 0,-12-11 2 0,-17 22-1 0,-22 7-1 0,-20 21 0 0,-9 32-3 0,-10 8-1 0,10 10-2 0,-10 21-2 0,9 9-1 0,12 9-1 0,-2 21 0 0,1 9-1 0,19 1 2 0,10 10-4 0,11 10 2 0,9-1-2 0,11 1 0 0,9-1 0 0,10 10 0 0,10-8 0 0,0 7 0 0,10 2-2 0,10 9 1 0,20 11 1 0,9-11-1 0,20-29 0 0,1-21 0 0,20-19 0 0,8-10 0 0,12-20 1 0,-1-20-1 0,-11-9 1 0,2 0 0 0,9-11 0 0,-9-9 0 0,-1-10 0 0,-1-11 1 0,-9-18 1 0,-9-2-2 0,9 2 3 0,1 7-2 0,-12-7 1 0,12-11-2 0,-1 0 3 0,-9-11-3 0,-1 2 1 0,-10 9 1 0,-9 0-2 0,-1 0 2 0,-18 0-1 0,-1-9 2 0,-21 9-5 0,1 0 2 0,-20-11 1 0,0 11 0 0,0 0 1 0,-20 0-3 0,1-9 1 0,8-2-1 0,-18 1 1 0,8 0 0 0,-8 1 0 0,-1 9 1 0,-10 0-1 0,11 9 1 0,8 11-1 0,12 11 1 0,-11-2-1 0,20 20 0 0,10 11-1 0,9-21 1 0,11-9-2 0,10-30-1 0,-1-30 1 0,11-39 0 0,1-30 0 0,-12-30-29 0,11-1-63 0,-50 111 70 0</inkml:trace>
  <inkml:trace contextRef="#ctx0" brushRef="#br0" timeOffset="22">4618 2691 3 0,'0'-1'4'0,"-10"1"9"0,10 0-2 0,-9 0 2 0,9 0 1 0,9-10-2 0,1 0-3 0,10 0 0 0,10 0-1 0,-1 0-2 0,2 10-3 0,-11 10 4 0,-11 0 1 0,-9 20-1 0,-20 0-4 0,-9 9 1 0,-2-9-1 0,3 0 0 0,8-20-2 0,20 0-2 0,20-10 1 0,28 10 0 0,31 0 0 0,11 10-1 0,-10-10-14 0,-1-10-65 0,-59-10 40 0</inkml:trace>
  <inkml:trace contextRef="#ctx0" brushRef="#br0" timeOffset="23">4728 1530 37 0,'0'0'0'0,"-60"20"31"0,30-10-11 0,10-10-1 0,20 0-12 0,40-10 4 0,30 10-1 0,28 0-3 0,1 0-1 0,-30 0 0 0,-38 19 3 0,-22-9-1 0,-29 50 1 0,-48 29-8 0,-1 0 2 0,9-9-9 0,29-20-64 0,21-40-33 0</inkml:trace>
  <inkml:trace contextRef="#ctx0" brushRef="#br0" timeOffset="24">6076 3424 49 0,'-10'-1'15'0,"30"-8"-2"0,19-21 8 0,11 1 2 0,-10 9-14 0,-20 20 1 0,-20 20 3 0,-11 19-7 0,-9 11-4 0,0-30-2 0,20-11-4 0,11-9 2 0,29 0 1 0,-1-9 2 0,1 18 1 0,-30 21 6 0,-20 20-1 0,-40 9-6 0,-10-29-33 0,1-50-104 0</inkml:trace>
  <inkml:trace contextRef="#ctx0" brushRef="#br0" timeOffset="25">4420 5090 2 0,'-10'0'9'0,"0"-20"8"0,0-9 3 0,0 8 3 0,0 3 5 0,10 18 1 0,0 18-15 0,20 42-9 0,20 29-4 0,0 1-12 0,-21-51-119 0</inkml:trace>
  <inkml:trace contextRef="#ctx0" brushRef="#br0" timeOffset="26">7346 4654 26 0,'-10'-1'28'0,"-10"1"-1"0,0 0-9 0,-10 10-7 0,1 10-4 0,18 10-1 0,2 0-1 0,29 0-3 0,9-10 2 0,80 10 2 0,-39-20-2 0,-20 19 2 0,-21 11 4 0,-29 9-8 0,-50 2-6 0,-19-22-27 0,-10-40-44 0,29-7 24 0</inkml:trace>
  <inkml:trace contextRef="#ctx0" brushRef="#br0" timeOffset="27">7186 4733 55 0,'0'0'25'0,"20"10"18"0,20-10-14 0,30-30-17 0,9-20-9 0,10-9-5 0,-9-11-61 0,-30 11-33 0</inkml:trace>
  <inkml:trace contextRef="#ctx0" brushRef="#br0" timeOffset="28">859 5368 20 0,'0'0'0'0,"-19"0"26"0,8 0-6 0,2 0-11 0,-2-20 5 0,11 20 5 0,0-10 1 0,0 10-10 0,0 30-3 0,31 9-4 0,-2 31-3 0,0-1 0 0,2 21-3 0,-2-11-24 0,2-49-31 0,-12-20-2 0</inkml:trace>
  <inkml:trace contextRef="#ctx0" brushRef="#br0" timeOffset="29">989 5348 30 0,'-11'0'22'0,"2"0"-3"0,-2 0-16 0,11 0 0 0,0 10 5 0,11 9 1 0,17 1 0 0,12-10 2 0,10 20-5 0,-11-10 0 0,1 0 1 0,-30 9 1 0,-10 11-2 0,-50 9-5 0,11 1-9 0,10-30-29 0,-2-10-12 0,31-20-4 0</inkml:trace>
  <inkml:trace contextRef="#ctx0" brushRef="#br0" timeOffset="30">989 5309 36 0,'0'0'22'0,"0"9"-9"0,8-9-3 0,12 0 3 0,0 0 13 0,1-9-10 0,19-2-9 0,-1 1-7 0,0-19-2 0,11-11-54 0,-30 20-17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5-11-21T05:21:09.84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3269 2829 24 0,'0'0'15'0,"-20"10"13"0,11 0-9 0,-2 10 7 0,11-20 6 0,0 0-5 0,11-30-2 0,-2-30-8 0,21-59-8 0,0-10-4 0,-10 30-3 0,0 20-2 0,-11 49 1 0,11 30-1 0,0 40 4 0,10 49-1 0,0 30-1 0,-10 10-2 0,0-40-1 0,-11-69-47 0,2-50-63 0,-11-20 38 0</inkml:trace>
  <inkml:trace contextRef="#ctx0" brushRef="#br0" timeOffset="1">3240 2531 35 0,'-40'30'86'0,"29"-10"-45"0,22 0-22 0,68-10-9 0,50-20-8 0,30-30-28 0,9-29-100 0,-127 58 91 0</inkml:trace>
  <inkml:trace contextRef="#ctx0" brushRef="#br0" timeOffset="2">5451 4326 70 0,'-10'21'37'0,"1"28"-9"0,9-21-20 0,0-28-5 0,0-8 4 0,0-41 6 0,-11-21 2 0,2-10-3 0,9-9-4 0,0 10-3 0,9 10-3 0,22 9-2 0,-2 21 1 0,21 29-1 0,-11 20 0 0,-19 19 1 0,-20 11 2 0,-29 9-2 0,-21 1 1 0,0-20 0 0,10-10-2 0,31-11-1 0,29-18-2 0,39-1 2 0,40 10 0 0,1 0 0 0,-41 29 0 0,-39 11 3 0,-31 29 1 0,-48 1-1 0,-39-11-6 0,28-9-26 0,40-50-58 0,30-30-3 0</inkml:trace>
  <inkml:trace contextRef="#ctx0" brushRef="#br0" timeOffset="3">7623 2135 12 0,'10'-20'12'0,"30"-59"32"0,-21 30-9 0,-19 19-5 0,-19 20-2 0,-51 59-6 0,-18 21-5 0,8 39-8 0,0 29 3 0,61 21-9 0,58-80-4 0,60-59-7 0,60-89-25 0,9-80-43 0,-39-19-28 0</inkml:trace>
  <inkml:trace contextRef="#ctx0" brushRef="#br0" timeOffset="4">7315 1777 115 0,'-19'10'19'0,"-110"70"-9"0,39 0-9 0,12 29-2 0,18 30 1 0,41-21 1 0,19-88 0 0,8 129 5 0,72-40 0 0,49-40-4 0,60-69-2 0,20-50 2 0,-1-69 5 0,-31-40 5 0,-37-59-3 0,-90-9-7 0,-61 7-1 0,-107 42-3 0,-72 29-24 0,-26 110-36 0,36 107-36 0</inkml:trace>
  <inkml:trace contextRef="#ctx0" brushRef="#br0" timeOffset="5">4748 6329 70 0,'0'-1'0'0,"-11"32"25"0,11-21-21 0,0-20 1 0,11-29 7 0,-2-21 5 0,-9-29-9 0,0 30-4 0,-9-21 5 0,-2 60-1 0,11 20-1 0,11 9-3 0,17 12-3 0,13 9 2 0,-12-10 0 0,2 19 1 0,-23 1-4 0,-8 19 4 0,-19 0-4 0,-30 41 1 0,8-31-11 0,-7-39-75 0,28-40 1 0</inkml:trace>
  <inkml:trace contextRef="#ctx0" brushRef="#br0" timeOffset="6">4728 5833 114 0,'-31'1'13'0,"-58"19"0"0,1-20-11 0,-2 20-1 0,20 29 0 0,0 21 0 0,41 39 0 0,9 19-1 0,29 31 0 0,42-11 0 0,28-8 0 0,30-61-1 0,1-49 0 0,8-50 1 0,2-59-1 0,-2-30 4 0,-28-40 0 0,-32-29 5 0,-47-1-5 0,-41 30 2 0,-60 40-2 0,-38 40 0 0,-21 49-21 0,0 50-27 0,31 19-30 0,98-39 47 0</inkml:trace>
  <inkml:trace contextRef="#ctx0" brushRef="#br0" timeOffset="7">5094 3653 81 0,'-1'-1'0'0,"-38"61"11"0,30-1-14 0,-2 31-6 0,22 29 5 0,28 19 5 0,20 11 4 0,30-10 2 0,21-30-4 0,20-70-1 0,-12-39-1 0,-9-59 5 0,-19-51 5 0,-12-38 2 0,-38-40-7 0,-40 0-4 0,-59 18-9 0,-70 32-37 0,31 88-31 0</inkml:trace>
  <inkml:trace contextRef="#ctx0" brushRef="#br0" timeOffset="8">3240 2185 35 0,'-20'-20'12'0,"-40"-9"-7"0,0 29 3 0,-28 59 3 0,8 10 5 0,0 89-1 0,52-19-8 0,37 79-3 0,70 1 3 0,50-70-1 0,50-100-6 0,19-90 0 0,-9-76 7 0,-40-62 1 0,-50-30 2 0,-80-9-4 0,-97 10-5 0,-91 40-12 0,-50 79-7 0,40 118-18 0,41 41-54 0</inkml:trace>
  <inkml:trace contextRef="#ctx0" brushRef="#br0" timeOffset="9">3924 2373 67 0,'-30'10'24'0,"21"-20"-16"0,18-20-1 0,30 0 5 0,51 1-3 0,48 19-2 0,41-10-3 0,30 0 1 0,9 0 0 0,-10 10-3 0,-49 1 1 0,-130 9-3 0,140-10 3 0,-29 10 0 0,-31-10 0 0,-11 10-2 0,1-10 1 0,-19 20-2 0,-11-10 1 0,11 10 1 0,-12-10-1 0,2 0 0 0,0 10 0 0,9-10 1 0,-9 0 1 0,-11 0 0 0,-9 0-2 0,-21 0 2 0,2-10-2 0,-11 10 3 0,10 0-3 0,-2 0 3 0,12 10-6 0,0-10 7 0,-20 0-6 0,-10 9 1 0,-10-9 2 0,0 0 0 0,-10-9-2 0,0 9-1 0,-20-20 3 0,-10-10-4 0,-19-20 1 0,-20-9 2 0,19 29-1 0,31 1 0 0,9 19 0 0,10 10 1 0,10 10-2 0,0 9 2 0,0 21-3 0,0 0 3 0,0 20 0 0,0 18-1 0,0 21 0 0,-10-8 1 0,10-32-2 0,20-41 0 0,9-36-2 0,21-62-5 0,9-29-31 0,41-20-26 0,-11 20-14 0</inkml:trace>
  <inkml:trace contextRef="#ctx0" brushRef="#br0" timeOffset="10">5045 3861 1 0,'0'0'0'0,"-11"0"13"0,11-10-1 0,0 0-1 0,0-10 1 0,0-11-4 0,0 2 3 0,11-11 1 0,8 20-3 0,20 0-3 0,12-9-2 0,27 9-1 0,2 10-3 0,0 0 0 0,-11 0-36 0,-29 10-26 0</inkml:trace>
  <inkml:trace contextRef="#ctx0" brushRef="#br0" timeOffset="11">3835 2789 0 0,'-20'-10'7'0,"9"1"15"0,-17-12-2 0,17 11-7 0,11 0 1 0,-9 10 1 0,9-9 2 0,0 9-4 0,20 0-3 0,8 9 0 0,23 1-3 0,18-10-3 0,20 20-1 0,-9 0 2 0,9 10 4 0,-1 20-2 0,2 0-1 0,-10-1-2 0,0 1-1 0,-1 9-1 0,-1-10-1 0,-7 11 1 0,-2 10 0 0,-9-21-1 0,-21-19 0 0,-9-10 0 0,-10-1-1 0,-11-19 0 0,-9 0 2 0,-9 0-2 0,-2 0 1 0,2-9-2 0,-12-1 0 0,12-20 0 0,-2-10 1 0,2-9 0 0,-2-1-2 0,11 11 4 0,0 9-6 0,0 21 5 0,-8-2-1 0,-3 11 1 0,2 11-1 0,-22 7-1 0,2 13 2 0,8 18-3 0,2 1 2 0,10-1 0 0,-2 1-1 0,11-31 1 0,11 1-1 0,-11-10-1 0,19-10 1 0,11-10 0 0,10-10 0 0,8 1-4 0,-8-1-62 0,-19-10-43 0</inkml:trace>
  <inkml:trace contextRef="#ctx0" brushRef="#br0" timeOffset="12">5055 4257 19 0,'-1'0'5'0,"11"10"8"0,-10-10-6 0,0 0 7 0,0 0 5 0,-10 10-3 0,-10 0-4 0,0 0-6 0,-19-10-2 0,-11 0-1 0,-18 0 0 0,-13-20 3 0,-18-10-1 0,1-9 0 0,-11-11-1 0,19 10-1 0,0-9 0 0,-9 9 1 0,21-9-2 0,7-11-1 0,2-9 0 0,9 8 1 0,2-8 0 0,7 10 1 0,3-11-1 0,-2 11-1 0,-9 19 2 0,-2-9-2 0,22-1 0 0,-1 30-1 0,31 1 2 0,-2 19-1 0,11 9-1 0,40 21-1 0,19-1 0 0,11-18 0 0,-1-31 1 0,-18-20 0 0,-12 11 0 0,-19-1 1 0,-11 20-1 0,-9 10 3 0,-9 20-2 0,-30 29 0 0,-1 0-1 0,-21 21-1 0,13 0 1 0,-3-11 0 0,22-29 0 0,9-30-3 0,20-30 0 0,-9-39 0 0,9-11-2 0,0 71 2 0,9-100-40 0,1 29-71 0</inkml:trace>
  <inkml:trace contextRef="#ctx0" brushRef="#br0" timeOffset="13">5878 4058 51 0,'0'0'6'0,"-20"21"8"0,20-21-14 0,9 0 0 0,11-10 9 0,0-10 11 0,20-20 0 0,29-19-4 0,30-20-3 0,30-31-5 0,20-9-4 0,20-30 1 0,9 1 2 0,-18 19-2 0,-31 40-4 0,-30 29 0 0,-30 11 1 0,-29 19-1 0,-31 10 1 0,-9 10 2 0,-20 10-3 0,-20 0-1 0,1 0 0 0,0 10 0 0,-12-10-1 0,12 0 0 0,0-10 1 0,8 10-1 0,-8-10 0 0,19 10 1 0,11 10-2 0,9 20 0 0,20 39 0 0,28 11 0 0,3 9 2 0,-13-20 0 0,2-39 0 0,-20-20-1 0,0-50 1 0,-9-29-1 0,-11-20-3 0,0-1-32 0,9 11-55 0,-9 69 62 0</inkml:trace>
  <inkml:trace contextRef="#ctx0" brushRef="#br0" timeOffset="14">7732 2651 82 0,'0'-1'13'0,"-9"21"-2"0,9 10-10 0,9 29 3 0,2 21-2 0,-11 20 3 0,0 48 1 0,-31 11 0 0,-28 18-3 0,-11 22 5 0,-29-20 1 0,-20 10-3 0,-9-21-1 0,8 10-4 0,-18-19 0 0,-11-11-2 0,1-18 0 0,-12 9 0 0,12 0-1 0,-2-21 0 0,1 1 0 0,1-30 0 0,19-9 0 0,10-11 2 0,21-18 0 0,18-12-1 0,11-19 1 0,19-11-1 0,10 1 1 0,10 0 0 0,-10 0 0 0,11 9 0 0,8-8 1 0,1-1-1 0,1 0 0 0,10-10 0 0,-2 10 0 0,2-10 1 0,9 0-2 0,0-20 1 0,29-30 0 0,10-10 1 0,11-9-3 0,0 0 4 0,-20 19-3 0,10 19 4 0,-30 22-3 0,0 18 5 0,-1 62-3 0,-9 18-2 0,-9 10 2 0,9-9-2 0,-10-11 2 0,0-29-3 0,0-30 1 0,-20-30 0 0,-19-20-1 0,-2-19-15 0,1-21-71 0,31 50 32 0</inkml:trace>
  <inkml:trace contextRef="#ctx0" brushRef="#br0" timeOffset="15">4618 5585 2 0,'0'0'9'0,"-10"20"12"0,10-9 2 0,0 9 1 0,-9-11-4 0,9-9-9 0,9-9-4 0,-9-22 7 0,21-28-4 0,8-30-1 0,1-10 0 0,19-30-2 0,0 20-3 0,2-9 1 0,8 18-3 0,0 1-1 0,-20 19-1 0,1 20 0 0,-20 21 0 0,1 9 1 0,-3 20 0 0,-8 0-1 0,1 0 1 0,-11 10 0 0,0 10 3 0,0 30-3 0,0 9 0 0,0 1 1 0,0 10-4 0,0 0 4 0,9-1-3 0,-9-29 2 0,11-10-2 0,-22-11 1 0,-19-18-2 0,-18-11 1 0,-12-10 0 0,0-10 1 0,1 21-1 0,19 9 0 0,31 0-1 0,9 10 0 0,9-10-1 0,50 0 1 0,22-10-16 0,-2-30-34 0,-31-10-40 0</inkml:trace>
  <inkml:trace contextRef="#ctx0" brushRef="#br0" timeOffset="16">4003 6220 46 0,'0'40'19'0,"-10"-11"-11"0,-10-18-2 0,11-11-4 0,-22-11 1 0,3-27-1 0,-22-1 1 0,-9-22 2 0,-12-28 0 0,-7 0 2 0,-12-20 1 0,1-10-1 0,-1-10-1 0,1 9 5 0,20-8-1 0,-2-1-4 0,2-10-2 0,10-10 0 0,0-19-1 0,20 28 0 0,-1-8 0 0,9 20-2 0,3-31 0 0,-2 20 0 0,10 10 1 0,9 10-1 0,2 10-1 0,-2 9 0 0,11 1 0 0,0 9-1 0,0 12 2 0,0 18 1 0,0 21 0 0,0 19-1 0,0 20-1 0,11 30-1 0,29 29 0 0,8 31 2 0,13-12-1 0,-2-18 1 0,-29-21-2 0,-10-19 1 0,-20-20-1 0,-31 0-7 0,-27 0 0 0,-13 0 0 0,-7 0-4 0,-1 0 6 0,18 0 4 0,33-10-1 0,17-9-4 0,22-41 3 0,37-19 2 0,32-30-28 0,10 0-58 0</inkml:trace>
  <inkml:trace contextRef="#ctx0" brushRef="#br0" timeOffset="17">2317 4981 8 0,'-10'1'25'0,"0"-1"-7"0,10 0 5 0,0-11-4 0,0 11-1 0,20 31-3 0,10 47-5 0,0 11-7 0,9 30-4 0,1-21-24 0,-20-77-60 0,-20-21 60 0</inkml:trace>
  <inkml:trace contextRef="#ctx0" brushRef="#br0" timeOffset="18">2575 5031 44 0,'0'20'17'0,"-20"19"0"0,11 1-9 0,-2-1-5 0,11 11 7 0,11 9 3 0,18-10-3 0,10-28-6 0,1-21-1 0,1-50-1 0,-21-19 2 0,-20-20 1 0,-41 19 1 0,-8 41 0 0,-10 29-6 0,9 39-27 0,20 31-66 0,30-60 65 0</inkml:trace>
  <inkml:trace contextRef="#ctx0" brushRef="#br0" timeOffset="19">3804 4089 0 0,'0'-10'4'0,"0"10"2"0,11 0 1 0,-22 0 21 0,11 0-10 0,-8 20-3 0,8-11-2 0,-11 11-6 0,2 10-5 0,9 0-1 0,0-10 0 0,0-11-1 0,9 21 2 0,10-10-1 0,1-20 0 0,20 0-1 0,9-10 0 0,2-20 0 0,-2 11 0 0,-9-1-1 0,-20 0-68 0,-11 20 34 0</inkml:trace>
  <inkml:trace contextRef="#ctx0" brushRef="#br0" timeOffset="20">3874 4128 6 0,'0'0'0'0,"-10"0"12"0,10 0-9 0,-9-10-2 0,9 10 2 0,0 0 7 0,-11-10 3 0,11 10 2 0,0 0 1 0,0 10 13 0,11 10-14 0,-2 30-6 0,12 19-6 0,-1 0-4 0,-1-10-9 0,1-38-82 0,-11-21 64 0</inkml:trace>
  <inkml:trace contextRef="#ctx0" brushRef="#br0" timeOffset="21">2852 2502 0 0,'0'0'0'0,"-10"-10"2"0,10-1 5 0,0 11-1 0,-9-9 1 0,-11 0 2 0,1 9 4 0,-12-11 2 0,-17 22-1 0,-22 7-1 0,-20 21 0 0,-9 32-3 0,-10 8-1 0,10 10-2 0,-10 21-2 0,9 9-1 0,12 9-1 0,-2 21 0 0,1 9-1 0,19 1 2 0,10 10-4 0,11 10 2 0,9-1-2 0,11 1 0 0,9-1 0 0,10 10 0 0,10-8 0 0,0 7 0 0,10 2-2 0,10 9 1 0,20 11 1 0,9-11-1 0,20-29 0 0,1-21 0 0,20-19 0 0,8-10 0 0,12-20 1 0,-1-20-1 0,-11-9 1 0,2 0 0 0,9-11 0 0,-9-9 0 0,-1-10 0 0,-1-11 1 0,-9-18 1 0,-9-2-2 0,9 2 3 0,1 7-2 0,-12-7 1 0,12-11-2 0,-1 0 3 0,-9-11-3 0,-1 2 1 0,-10 9 1 0,-9 0-2 0,-1 0 2 0,-18 0-1 0,-1-9 2 0,-21 9-5 0,1 0 2 0,-20-11 1 0,0 11 0 0,0 0 1 0,-20 0-3 0,1-9 1 0,8-2-1 0,-18 1 1 0,8 0 0 0,-8 1 0 0,-1 9 1 0,-10 0-1 0,11 9 1 0,8 11-1 0,12 11 1 0,-11-2-1 0,20 20 0 0,10 11-1 0,9-21 1 0,11-9-2 0,10-30-1 0,-1-30 1 0,11-39 0 0,1-30 0 0,-12-30-29 0,11-1-63 0,-50 111 70 0</inkml:trace>
  <inkml:trace contextRef="#ctx0" brushRef="#br0" timeOffset="22">4618 2691 3 0,'0'-1'4'0,"-10"1"9"0,10 0-2 0,-9 0 2 0,9 0 1 0,9-10-2 0,1 0-3 0,10 0 0 0,10 0-1 0,-1 0-2 0,2 10-3 0,-11 10 4 0,-11 0 1 0,-9 20-1 0,-20 0-4 0,-9 9 1 0,-2-9-1 0,3 0 0 0,8-20-2 0,20 0-2 0,20-10 1 0,28 10 0 0,31 0 0 0,11 10-1 0,-10-10-14 0,-1-10-65 0,-59-10 40 0</inkml:trace>
  <inkml:trace contextRef="#ctx0" brushRef="#br0" timeOffset="23">4728 1530 37 0,'0'0'0'0,"-60"20"31"0,30-10-11 0,10-10-1 0,20 0-12 0,40-10 4 0,30 10-1 0,28 0-3 0,1 0-1 0,-30 0 0 0,-38 19 3 0,-22-9-1 0,-29 50 1 0,-48 29-8 0,-1 0 2 0,9-9-9 0,29-20-64 0,21-40-33 0</inkml:trace>
  <inkml:trace contextRef="#ctx0" brushRef="#br0" timeOffset="24">6076 3424 49 0,'-10'-1'15'0,"30"-8"-2"0,19-21 8 0,11 1 2 0,-10 9-14 0,-20 20 1 0,-20 20 3 0,-11 19-7 0,-9 11-4 0,0-30-2 0,20-11-4 0,11-9 2 0,29 0 1 0,-1-9 2 0,1 18 1 0,-30 21 6 0,-20 20-1 0,-40 9-6 0,-10-29-33 0,1-50-104 0</inkml:trace>
  <inkml:trace contextRef="#ctx0" brushRef="#br0" timeOffset="25">4420 5090 2 0,'-10'0'9'0,"0"-20"8"0,0-9 3 0,0 8 3 0,0 3 5 0,10 18 1 0,0 18-15 0,20 42-9 0,20 29-4 0,0 1-12 0,-21-51-119 0</inkml:trace>
  <inkml:trace contextRef="#ctx0" brushRef="#br0" timeOffset="26">7346 4654 26 0,'-10'-1'28'0,"-10"1"-1"0,0 0-9 0,-10 10-7 0,1 10-4 0,18 10-1 0,2 0-1 0,29 0-3 0,9-10 2 0,80 10 2 0,-39-20-2 0,-20 19 2 0,-21 11 4 0,-29 9-8 0,-50 2-6 0,-19-22-27 0,-10-40-44 0,29-7 24 0</inkml:trace>
  <inkml:trace contextRef="#ctx0" brushRef="#br0" timeOffset="27">7186 4733 55 0,'0'0'25'0,"20"10"18"0,20-10-14 0,30-30-17 0,9-20-9 0,10-9-5 0,-9-11-61 0,-30 11-33 0</inkml:trace>
  <inkml:trace contextRef="#ctx0" brushRef="#br0" timeOffset="28">859 5368 20 0,'0'0'0'0,"-19"0"26"0,8 0-6 0,2 0-11 0,-2-20 5 0,11 20 5 0,0-10 1 0,0 10-10 0,0 30-3 0,31 9-4 0,-2 31-3 0,0-1 0 0,2 21-3 0,-2-11-24 0,2-49-31 0,-12-20-2 0</inkml:trace>
  <inkml:trace contextRef="#ctx0" brushRef="#br0" timeOffset="29">989 5348 30 0,'-11'0'22'0,"2"0"-3"0,-2 0-16 0,11 0 0 0,0 10 5 0,11 9 1 0,17 1 0 0,12-10 2 0,10 20-5 0,-11-10 0 0,1 0 1 0,-30 9 1 0,-10 11-2 0,-50 9-5 0,11 1-9 0,10-30-29 0,-2-10-12 0,31-20-4 0</inkml:trace>
  <inkml:trace contextRef="#ctx0" brushRef="#br0" timeOffset="30">989 5309 36 0,'0'0'22'0,"0"9"-9"0,8-9-3 0,12 0 3 0,0 0 13 0,1-9-10 0,19-2-9 0,-1 1-7 0,0-19-2 0,11-11-54 0,-30 20-17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1-26T09:23:29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14156 3032 0 0,'0'0'0'16,"0"0"0"-16,0 0 0 0,0 0 0 0,0 0 0 15,0 0 0-15,0 0 0 0,0 0 0 0,0 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457D998E-E2B9-47A9-89A5-0ACAA63883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39D413D3-0D33-41C5-BBFF-6A87D53868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3B2F7C0-B38F-A006-330D-FBE09ED740D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E8FF1197-45FA-4634-BA2A-271D1EC621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801F9A2A-79EB-45B3-A3D2-B0DC69C071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4666DF17-C456-4D0C-842A-03F1CC72B6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fld id="{5C217471-0FDA-4C12-95A9-7212899184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2EF6164-AA3B-7DDF-0A01-2B84764AD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991FBD-ECC3-48C0-A05B-06B7094BA4FA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5DE2C33-D385-73BB-962B-D68182E6B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FDD3A8D-6469-EC1A-F206-709FDEC45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FB6DBA94-BE7A-55ED-8F60-E3C19D1FE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CA348C-379D-4272-B05E-A9BF263EC5AB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89821ED-2C54-EDB0-6FE2-C7BE68BB1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B92C44A-AEAA-549B-D064-8BEDCF9E7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B5BD19FE-EE77-6E0E-FEB4-1DF2DD035A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1814B1-7CC0-4BBF-8A95-3D58EA9B571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8ADC1B8-E511-B588-39D1-ED3D078EB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15820EA-B162-C7AF-3ECA-197B14A1E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1A390D0F-03E9-91CA-E3D2-E4FA1ABFB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FF8CEA-29BD-4A38-91E1-B8EB71CE48D2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183DB4F-5B66-C63D-3900-A038A19487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70CB6D9-A1BF-77F2-9901-B2B5F8545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76485DF-1AEE-2AD0-2AD9-7B8F5F04A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85ABA2-CBA3-448F-8B6D-908052802D8D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FA4EE53-B854-1B64-111C-94A0088389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658322D-221A-8879-DB73-45A2014F1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896BA6E-A124-EF38-51A2-2F4996C50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355A1F-F4C3-47B0-A210-D20C3C32FDDA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862526B-76E9-5541-EB21-FAC98E9E39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5D10E82-E739-37C3-D7F0-2279AA5EA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0467AB30-1C5E-D2DF-9755-FB81A2A611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036C23-6DB5-4980-B3B4-F3D55986FD16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0DAAEF1-2115-C489-0266-C1F80B2A0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FC24801-0F62-3551-C6D9-9AA9D6D0D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A03419BE-E148-E816-851E-57F0BD93FF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960C3F-5670-4A1B-B8DF-6A5506A3507B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0DE82A1-BC5C-B17D-11B0-069AD6AE6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CCDD77B-22DD-5632-89E4-5F5CB6614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DF0C8AD-4A11-BB6D-2067-C10E59AC3D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772D955-716A-4FFB-B28D-9A150DA30889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A1E23C9-D0EF-6BF0-C485-EA01ABD0C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21F5BF3-A712-78A8-BBC4-D91F7BFA8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F8238B4-570A-3F21-EFDF-28FFF2D58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F6B548-9F06-4B26-8466-7B0D2F545AF4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FB08BED-A9F4-0653-4C4B-38A9EA08C8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8E5B174-B620-7FF8-617B-7373EB22E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37F69A6-C043-8FCF-EC45-638AB7171E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70D77E-AF2E-4D5E-A441-7C85D9F87DB7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E770B97-C712-4913-1377-9432D0B87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09BAC93-555D-81B8-C629-41E50B283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273B25B-46E5-3A9C-D4CD-D3CA02568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2FEE99-A1FB-4B88-A57B-BE72BE6AF785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BBCE36F-41F4-2161-02C8-E424A2D41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D8EC24F-9021-E62A-B6B0-1D0388E8D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1AE2FCC1-C895-ED7E-137C-30E5B5F701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1B42BF-6B3C-4657-A4B3-9FCC3C7601E5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3F24BF4-78E7-3FD4-A131-CE6E5A2321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08CBF58-0410-899D-E082-B8B4EDCB2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FEA235C-27B3-2086-11D9-72BF3A855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5BFD0A-76DE-4920-BB0B-242A480597B2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7A6E4C9-FA16-17F6-D00A-CBF582B1B8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4CA56DB-0CEA-A563-5DF6-168267F59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45AEA25-5B8A-CA0A-1DC2-015289EEB4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FA2590-2055-47A6-A48E-A01A37AA373B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C6ACFEC-2D35-68E5-6B3C-BEE5CCC33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F759552A-5ACD-91EF-58F5-6144E4BFB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D8C9F3BA-9E03-E9B1-F268-A4E4E6B79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B3996A-C3CB-4990-84E1-DACA9C4D3A5C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6112FC0-FF64-5165-436D-7E04A265B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6AB739A-63A7-AB2B-E836-93698EA16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0EA0B232-7E0D-B33E-0E44-AB99D44B0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1868EA-2E08-41FD-8F0A-D76291D9470C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A969B4B-98B0-B09E-0FCD-D6D751791C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0F4DC3C3-4A17-6CDF-18D4-13233426F9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3600572E-4A35-4E2E-2489-B90FEEBE17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DAF98E-C27E-4BA2-800C-A3E74F2C6CB4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2A599E74-222B-F0B1-F8D0-CC2DBAF97E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9B4CB9C6-680B-6B46-9AF6-15621C75E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19D00DA9-0D48-388E-2116-A3D17B807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90FF25B-D805-4F3D-91C7-CD27A031DE7A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527EFCE0-0EA4-AEA4-A0DF-E50ABCCF4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E7461D9-8661-AC62-1F40-AAE639478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E627B9B7-C531-F6BE-A0DE-D6188B7F5D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41E337-22B3-4F6F-ADC7-4708F403DCDD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F1C8DAA-7094-E699-6A6B-C33BDF01B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84D01759-D4E4-0205-F585-DC67C2132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D2B4E14-AD69-111B-5DE5-FCAB77F7D3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2F0B46-B415-4A07-B10E-D25B6FB4526C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0C5DEF9-13BE-E781-BF3F-DC3E2C0ED4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06B3FCD-6935-B01E-D8CD-6194738D1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01266753-4FF9-7615-A23F-B6069C6424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FC85AB-2581-44E2-87DD-DF699B5F2238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F28D6ED-9F90-C71F-7193-C638A9DCE4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6DE79704-D2F6-25C2-DE0C-C5214840F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2BE9083-1032-9973-AE54-8AD4DA543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85BE79-F1DD-4531-962B-EFA34AC0E22C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BB0E8DD-61BA-E8BA-245C-04717A27A6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52BA5D8-2CCF-C408-566D-C19C72735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ED16FDD-AFCE-7EFC-D72A-E69517F049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4EDA48-4A35-4388-8CC4-AA63F568A31A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52E0212-35C5-4752-E68A-D347FF2E8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B9A8E5C-2165-6583-9729-3460D7FC2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211DEBD-2624-1E53-F8A8-FD5801F84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5F7192-AB1A-450A-A7B2-FA89CEC831A8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D47C5A7-1D77-10BC-515D-F01AB8C5E1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AC51EBEB-DC6B-7AEE-8549-88CD7B327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05EC5CE9-5828-D8E3-4F36-E416D960B4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77946D-6FF3-4735-B42C-D1D1147164F1}" type="slidenum">
              <a:rPr lang="en-US" altLang="en-US" sz="1200"/>
              <a:pPr/>
              <a:t>62</a:t>
            </a:fld>
            <a:endParaRPr lang="en-US" altLang="en-US" sz="12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62A3299E-2504-F91F-1A45-227F420FF5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59E3BBE9-3311-AB1F-895D-03E696DBC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EBA37-0308-8941-1410-34CCCA23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94092-6DEA-4BCA-9CF8-D7E856DD09E4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71F1B-3355-3A62-0E1A-1ABAE265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5BECF-84C8-4DD6-AF14-C110DC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8079F0-FCF6-4D82-9FB5-111FBCDCA2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11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D325-4CB6-AEAA-15BB-A8C25844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F7725-FE43-4BA8-B53B-41F1F698EDC6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DA223-EEEB-DFF6-EF0D-5E39BC6D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232E1-5149-C747-1765-AA476637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6094D-3344-4B0C-B631-E132079A0F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86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7172B-178D-440F-8885-9AADA91C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7C23B-A7EE-423F-80F7-BEDEED9B7502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7A9-DAD4-2547-FE2E-AAA7086D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EECCA-D477-4562-2982-4438830B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65323-D71F-4B34-ADBB-DFE15378E6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54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CF34A32-0D8D-45FE-B217-14F83B47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D9834-7A4D-4995-BEE2-A8CA80905826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4CB1E9-7489-2CF3-D07D-FB985D66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17B947-A911-3115-7BD9-3B6ECC5D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D48DB-9396-44D4-BF46-BFB23C7580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98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3E1420-270D-16FD-2C8D-E331E3FE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84675-049C-41D2-94BF-55EAEBDD5827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518EFF-722B-F1EC-A907-178894B4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88A611-F803-0F3D-8739-340EA498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BA536-13D8-4D10-B99A-A8ECDEEA73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05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A7EAF8-90C7-91E4-378E-9A126345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E1410-2050-4292-9994-8FC6AF742AD6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99046D1-F112-97A0-BEE6-D3E4927C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2F0707-8834-6C17-10DC-B7BFB5B1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8D6A5-4292-41FB-8F7D-4B4346E8E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DB3DE6F-E0FA-4D2E-B9DF-B7051D02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420A5-67B5-44C3-93CA-A919A6285E59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8D61A3-0532-30FE-5DCB-01A6FF8E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392F34-FE0B-AF23-C3A3-0BD2608D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0B4359-4E4B-4DB8-A03E-F0FE6B87C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38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C5BA57-8C23-A837-FE1C-38289313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87451-BE3A-4524-ABBA-D76001B5403D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6A71D8-F2F6-2AC6-5992-BEA59D97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3A6E22-884E-B3BA-7B91-42DD4238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458FF-B223-4FFE-ABBD-28DFAF05E0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1130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8BBDD7D-CCAC-3335-860F-1A71C1BB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4D51A-1C3A-487A-847B-A9D912D5D410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A4D9CC-33A5-E1B5-1300-B3FC813D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5340E5-1B78-7E86-65C0-944442F6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33272-71B1-4E69-A7B9-5D8C796C3B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44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D3B3-D9CB-B10F-7EB1-10BB9E67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D0AA1-084A-42A3-A189-00D756E3B860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D52D9-5F9E-B45C-CCB0-D20EF813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29E7C-ACB7-A742-45FB-5BC8D88C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C89CA4-F5CB-45D4-8D90-713AF9591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4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5EECC-14E3-EFA4-1734-398E3CAD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D0604-EE55-4566-AA7A-AC86CA2EA3D0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F1D75-2E23-A81D-6532-3152FCED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2EA27-C1B3-012A-3B78-FFFCAFA9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36C23-FA96-4E3F-BA33-1B81DE883D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7952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47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34E6B-F4AC-2C52-17CB-8A194AE68A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99C5-38BF-6296-0DE7-472245244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7560F-A926-4C8D-B019-B3D1C2A2A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5E9EBE-9758-46FE-8E25-C8E3B751D33A}" type="datetimeFigureOut">
              <a:rPr lang="en-US"/>
              <a:pPr>
                <a:defRPr/>
              </a:pPr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FD6F5-124F-43B9-A3DA-929F4936F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0E64D-5F99-442F-B176-A29090498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3FD0EE3-387C-4641-A7E6-A888CA8AB8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06189C46-766C-499D-AFE1-B9267AA9B74E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6908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400">
                <a:latin typeface="Arial Narrow" panose="020B0606020202030204" pitchFamily="34" charset="0"/>
                <a:ea typeface="ヒラギノ角ゴ Pro W3"/>
                <a:cs typeface="ヒラギノ角ゴ Pro W3"/>
              </a:rPr>
              <a:t>8-</a:t>
            </a:r>
            <a:fld id="{3D6F8473-E76F-425A-B6ED-84BEF73EFE50}" type="slidenum">
              <a:rPr lang="en-US" altLang="en-US" sz="1400">
                <a:latin typeface="Arial Narrow" panose="020B0606020202030204" pitchFamily="34" charset="0"/>
                <a:ea typeface="ヒラギノ角ゴ Pro W3"/>
                <a:cs typeface="ヒラギノ角ゴ Pro W3"/>
              </a:rPr>
              <a:pPr algn="r"/>
              <a:t>‹#›</a:t>
            </a:fld>
            <a:endParaRPr lang="en-US" altLang="en-US" sz="1400">
              <a:latin typeface="Arial Narrow" panose="020B0606020202030204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1032" name="Rectangle 28">
            <a:extLst>
              <a:ext uri="{FF2B5EF4-FFF2-40B4-BE49-F238E27FC236}">
                <a16:creationId xmlns:a16="http://schemas.microsoft.com/office/drawing/2014/main" id="{04E1D06F-D7D6-4A30-A956-B84039D1DB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" y="6172200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defRPr/>
            </a:pPr>
            <a:r>
              <a:rPr lang="en-US" altLang="en-US" sz="800">
                <a:latin typeface="Arial" panose="020B0604020202020204" pitchFamily="34" charset="0"/>
                <a:ea typeface="ヒラギノ角ゴ Pro W3"/>
                <a:cs typeface="ヒラギノ角ゴ Pro W3"/>
              </a:rPr>
              <a:t>Copyright © 2007 Pearson Addison-Wesley. All rights reserved.</a:t>
            </a:r>
            <a:endParaRPr lang="en-US" altLang="en-US" sz="900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1033" name="Rectangle 29">
            <a:extLst>
              <a:ext uri="{FF2B5EF4-FFF2-40B4-BE49-F238E27FC236}">
                <a16:creationId xmlns:a16="http://schemas.microsoft.com/office/drawing/2014/main" id="{23ED4FE7-6BD7-4DBE-B682-9CFF94798B32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2667000" y="6462713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000">
                <a:latin typeface="Arial Narrow" panose="020B0606020202030204" pitchFamily="34" charset="0"/>
                <a:ea typeface="ヒラギノ角ゴ Pro W3"/>
                <a:cs typeface="ヒラギノ角ゴ Pro W3"/>
              </a:rPr>
              <a:t>A. Levitin </a:t>
            </a:r>
            <a:r>
              <a:rPr lang="en-US" altLang="en-US" sz="1000">
                <a:latin typeface="Arial" panose="020B0604020202020204" pitchFamily="34" charset="0"/>
                <a:ea typeface="ヒラギノ角ゴ Pro W3"/>
                <a:cs typeface="ヒラギノ角ゴ Pro W3"/>
              </a:rPr>
              <a:t>“</a:t>
            </a:r>
            <a:r>
              <a:rPr lang="en-US" altLang="en-US" sz="1000">
                <a:latin typeface="Arial Narrow" panose="020B0606020202030204" pitchFamily="34" charset="0"/>
                <a:ea typeface="ヒラギノ角ゴ Pro W3"/>
                <a:cs typeface="ヒラギノ角ゴ Pro W3"/>
              </a:rPr>
              <a:t>Introduction to the Design &amp; Analysis of Algorithms,</a:t>
            </a:r>
            <a:r>
              <a:rPr lang="en-US" altLang="en-US" sz="1000">
                <a:latin typeface="Arial" panose="020B0604020202020204" pitchFamily="34" charset="0"/>
                <a:ea typeface="ヒラギノ角ゴ Pro W3"/>
                <a:cs typeface="ヒラギノ角ゴ Pro W3"/>
              </a:rPr>
              <a:t>”</a:t>
            </a:r>
            <a:r>
              <a:rPr lang="en-US" altLang="en-US" sz="1000">
                <a:latin typeface="Arial Narrow" panose="020B0606020202030204" pitchFamily="34" charset="0"/>
                <a:ea typeface="ヒラギノ角ゴ Pro W3"/>
                <a:cs typeface="ヒラギノ角ゴ Pro W3"/>
              </a:rPr>
              <a:t> 2</a:t>
            </a:r>
            <a:r>
              <a:rPr lang="en-US" altLang="en-US" sz="1000" baseline="30000">
                <a:latin typeface="Arial Narrow" panose="020B0606020202030204" pitchFamily="34" charset="0"/>
                <a:ea typeface="ヒラギノ角ゴ Pro W3"/>
                <a:cs typeface="ヒラギノ角ゴ Pro W3"/>
              </a:rPr>
              <a:t>nd</a:t>
            </a:r>
            <a:r>
              <a:rPr lang="en-US" altLang="en-US" sz="1000">
                <a:latin typeface="Arial Narrow" panose="020B0606020202030204" pitchFamily="34" charset="0"/>
                <a:ea typeface="ヒラギノ角ゴ Pro W3"/>
                <a:cs typeface="ヒラギノ角ゴ Pro W3"/>
              </a:rPr>
              <a:t> ed., Ch. 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bldLvl="4" autoUpdateAnimBg="0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2" name="Rectangle 4" descr="Pink tissue paper">
            <a:extLst>
              <a:ext uri="{FF2B5EF4-FFF2-40B4-BE49-F238E27FC236}">
                <a16:creationId xmlns:a16="http://schemas.microsoft.com/office/drawing/2014/main" id="{DEFF5E1D-DD0A-45BB-A7F7-445CF53AC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3657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kumimoji="1" lang="en-US" sz="3300" b="1" dirty="0">
                <a:solidFill>
                  <a:schemeClr val="tx2"/>
                </a:solidFill>
                <a:latin typeface="B Frutiger Bold" pitchFamily="-124" charset="0"/>
              </a:rPr>
              <a:t>Chapter</a:t>
            </a:r>
            <a:r>
              <a:rPr kumimoji="1" lang="en-US" sz="33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 Frutiger Bold" pitchFamily="-124" charset="0"/>
              </a:rPr>
              <a:t> 8</a:t>
            </a:r>
            <a:r>
              <a:rPr kumimoji="1" lang="en-US" sz="21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 Frutiger Bold" pitchFamily="-124" charset="0"/>
              </a:rPr>
              <a:t> </a:t>
            </a:r>
          </a:p>
        </p:txBody>
      </p:sp>
      <p:pic>
        <p:nvPicPr>
          <p:cNvPr id="5123" name="Picture 5" descr="awtri_4c UPDATE_color">
            <a:extLst>
              <a:ext uri="{FF2B5EF4-FFF2-40B4-BE49-F238E27FC236}">
                <a16:creationId xmlns:a16="http://schemas.microsoft.com/office/drawing/2014/main" id="{65EC7969-757E-6906-FDB1-1CC582FB9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7213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6" descr="Pink tissue paper">
            <a:extLst>
              <a:ext uri="{FF2B5EF4-FFF2-40B4-BE49-F238E27FC236}">
                <a16:creationId xmlns:a16="http://schemas.microsoft.com/office/drawing/2014/main" id="{65D4BBD2-6B67-6028-8565-3E93B851E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38400"/>
            <a:ext cx="3505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rgbClr val="A50021"/>
              </a:buClr>
              <a:buSzPct val="75000"/>
              <a:buFont typeface="Monotype Sorts" pitchFamily="2" charset="2"/>
              <a:buNone/>
            </a:pPr>
            <a:r>
              <a:rPr kumimoji="1" lang="en-US" altLang="en-US" sz="2400" b="1">
                <a:latin typeface="Times New Roman" panose="02020603050405020304" pitchFamily="18" charset="0"/>
              </a:rPr>
              <a:t>Dynamic Programming</a:t>
            </a:r>
          </a:p>
        </p:txBody>
      </p:sp>
      <p:pic>
        <p:nvPicPr>
          <p:cNvPr id="5125" name="Picture 7" descr="levitin2e_hires">
            <a:extLst>
              <a:ext uri="{FF2B5EF4-FFF2-40B4-BE49-F238E27FC236}">
                <a16:creationId xmlns:a16="http://schemas.microsoft.com/office/drawing/2014/main" id="{B3BC8FC9-9308-070A-1F8E-E2EC67BA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57200"/>
            <a:ext cx="46894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8">
            <a:extLst>
              <a:ext uri="{FF2B5EF4-FFF2-40B4-BE49-F238E27FC236}">
                <a16:creationId xmlns:a16="http://schemas.microsoft.com/office/drawing/2014/main" id="{DA8F314E-B291-C490-53E8-7C42B616F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341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" panose="020B0604020202020204" pitchFamily="34" charset="0"/>
                <a:ea typeface="ヒラギノ角ゴ Pro W3"/>
                <a:cs typeface="ヒラギノ角ゴ Pro W3"/>
              </a:rPr>
              <a:t>Copyright © 2007 Pearson Addison-Wesley. All rights reserved.</a:t>
            </a:r>
            <a:endParaRPr lang="en-US" altLang="en-US" sz="900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E3E339-E1BF-B208-5459-E4211F79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Dynamic Programming</a:t>
            </a:r>
            <a:r>
              <a:rPr lang="en-US" altLang="en-US" sz="1800">
                <a:solidFill>
                  <a:srgbClr val="FF00FF"/>
                </a:solidFill>
              </a:rPr>
              <a:t>  </a:t>
            </a:r>
            <a:endParaRPr lang="en-US" altLang="en-US" sz="1600">
              <a:solidFill>
                <a:srgbClr val="FF00FF"/>
              </a:solidFill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99B1ECD9-187F-18FC-D1EB-556BA4B26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219200"/>
            <a:ext cx="7796213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746125" indent="-225425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D</a:t>
            </a:r>
            <a:r>
              <a:rPr lang="en-US" altLang="en-US" sz="2200" i="1">
                <a:solidFill>
                  <a:schemeClr val="hlink"/>
                </a:solidFill>
                <a:latin typeface="Times New Roman" panose="02020603050405020304" pitchFamily="18" charset="0"/>
              </a:rPr>
              <a:t>ynamic Programming  </a:t>
            </a: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is  a general algorithm design technique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for solving problems defined by recurrences with overlapping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subproblems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endParaRPr lang="en-US" altLang="en-US" sz="22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Invented by American mathematician Richard Bellman in the  1950s to solve optimization problems and later assimilated by CS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endParaRPr lang="en-US" altLang="en-US" sz="22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“Programming” here means “planning” (</a:t>
            </a:r>
            <a:r>
              <a: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not computer programming</a:t>
            </a: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endParaRPr lang="en-US" altLang="en-US" sz="22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Char char="•"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  Main idea: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set up a recurrence relating a solution to a larger instance  to solutions of some smaller instances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-  </a:t>
            </a:r>
            <a:r>
              <a: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solve smaller instances once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rPr>
              <a:t>record solutions in a table 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en-US" sz="2200">
                <a:solidFill>
                  <a:schemeClr val="hlink"/>
                </a:solidFill>
                <a:latin typeface="Times New Roman" panose="02020603050405020304" pitchFamily="18" charset="0"/>
              </a:rPr>
              <a:t>extract solution to the initial instance from that table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F1E475-244A-17B4-7A6C-0090064E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Example: Fibonacci numbers</a:t>
            </a:r>
            <a:r>
              <a:rPr lang="en-US" altLang="en-US" sz="1800">
                <a:solidFill>
                  <a:srgbClr val="FF00FF"/>
                </a:solidFill>
              </a:rPr>
              <a:t>  </a:t>
            </a:r>
            <a:endParaRPr lang="en-US" altLang="en-US" sz="1600">
              <a:solidFill>
                <a:srgbClr val="FF00FF"/>
              </a:solidFill>
            </a:endParaRPr>
          </a:p>
        </p:txBody>
      </p:sp>
      <p:grpSp>
        <p:nvGrpSpPr>
          <p:cNvPr id="8195" name="Group 10">
            <a:extLst>
              <a:ext uri="{FF2B5EF4-FFF2-40B4-BE49-F238E27FC236}">
                <a16:creationId xmlns:a16="http://schemas.microsoft.com/office/drawing/2014/main" id="{F22D0A54-29AC-93D2-6C1E-82EB7468DFE5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1066800"/>
            <a:ext cx="8072438" cy="5386388"/>
            <a:chOff x="571472" y="1066800"/>
            <a:chExt cx="8072494" cy="5386090"/>
          </a:xfrm>
        </p:grpSpPr>
        <p:sp>
          <p:nvSpPr>
            <p:cNvPr id="8196" name="Text Box 3">
              <a:extLst>
                <a:ext uri="{FF2B5EF4-FFF2-40B4-BE49-F238E27FC236}">
                  <a16:creationId xmlns:a16="http://schemas.microsoft.com/office/drawing/2014/main" id="{055A3300-6892-8A4F-C10E-3B6E142C3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72" y="1066800"/>
              <a:ext cx="8072494" cy="538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Char char="•"/>
              </a:pPr>
              <a:r>
                <a:rPr lang="en-US" altLang="en-US" sz="2400" b="1">
                  <a:latin typeface="Times New Roman" panose="02020603050405020304" pitchFamily="18" charset="0"/>
                </a:rPr>
                <a:t>  Recall definition of Fibonacci numbers:</a:t>
              </a:r>
              <a:br>
                <a:rPr lang="en-US" altLang="en-US" sz="2400" b="1">
                  <a:latin typeface="Times New Roman" panose="02020603050405020304" pitchFamily="18" charset="0"/>
                </a:rPr>
              </a:br>
              <a:endParaRPr lang="en-US" altLang="en-US" sz="2000" b="1"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1">
                  <a:latin typeface="Times New Roman" panose="02020603050405020304" pitchFamily="18" charset="0"/>
                </a:rPr>
                <a:t>)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 =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1"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 +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1">
                  <a:latin typeface="Times New Roman" panose="02020603050405020304" pitchFamily="18" charset="0"/>
                </a:rPr>
                <a:t>-2)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(0)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 = </a:t>
              </a:r>
              <a:r>
                <a:rPr lang="en-US" altLang="en-US" sz="2400" b="1">
                  <a:latin typeface="Times New Roman" panose="02020603050405020304" pitchFamily="18" charset="0"/>
                </a:rPr>
                <a:t>0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(1)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 =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endParaRPr lang="en-US" altLang="en-US" sz="2400" b="1" i="1"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endParaRPr lang="en-US" altLang="en-US" sz="20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Char char="•"/>
              </a:pP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  <a:r>
                <a:rPr lang="en-US" altLang="en-US" sz="2300" b="1">
                  <a:latin typeface="Times New Roman" panose="02020603050405020304" pitchFamily="18" charset="0"/>
                </a:rPr>
                <a:t>Computing the </a:t>
              </a:r>
              <a:r>
                <a:rPr lang="en-US" altLang="en-US" sz="23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2300" b="1" baseline="30000">
                  <a:latin typeface="Times New Roman" panose="02020603050405020304" pitchFamily="18" charset="0"/>
                </a:rPr>
                <a:t>th</a:t>
              </a:r>
              <a:r>
                <a:rPr lang="en-US" altLang="en-US" sz="2300" b="1">
                  <a:latin typeface="Times New Roman" panose="02020603050405020304" pitchFamily="18" charset="0"/>
                </a:rPr>
                <a:t> Fibonacci number recursively (top-down):</a:t>
              </a:r>
            </a:p>
            <a:p>
              <a:pPr>
                <a:spcBef>
                  <a:spcPct val="0"/>
                </a:spcBef>
                <a:buFontTx/>
                <a:buChar char="•"/>
              </a:pPr>
              <a:endParaRPr lang="en-US" altLang="en-US" sz="24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                                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2400" b="1">
                  <a:latin typeface="Times New Roman" panose="02020603050405020304" pitchFamily="18" charset="0"/>
                </a:rPr>
                <a:t>)</a:t>
              </a:r>
            </a:p>
            <a:p>
              <a:pPr>
                <a:spcBef>
                  <a:spcPct val="0"/>
                </a:spcBef>
                <a:buFontTx/>
                <a:buChar char="•"/>
              </a:pPr>
              <a:endParaRPr lang="en-US" altLang="en-US" sz="24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         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1)        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 +            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2)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2)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+    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3)     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3) 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+     F</a:t>
              </a:r>
              <a:r>
                <a:rPr lang="en-US" altLang="en-US" sz="2400" b="1"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n-</a:t>
              </a:r>
              <a:r>
                <a:rPr lang="en-US" altLang="en-US" sz="2400" b="1">
                  <a:latin typeface="Times New Roman" panose="02020603050405020304" pitchFamily="18" charset="0"/>
                </a:rPr>
                <a:t>4)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b="1">
                  <a:latin typeface="Times New Roman" panose="02020603050405020304" pitchFamily="18" charset="0"/>
                </a:rPr>
                <a:t>                       ...</a:t>
              </a:r>
            </a:p>
          </p:txBody>
        </p:sp>
        <p:grpSp>
          <p:nvGrpSpPr>
            <p:cNvPr id="8197" name="Group 9">
              <a:extLst>
                <a:ext uri="{FF2B5EF4-FFF2-40B4-BE49-F238E27FC236}">
                  <a16:creationId xmlns:a16="http://schemas.microsoft.com/office/drawing/2014/main" id="{91E2B9FB-82D9-B47F-8028-E3BACA0C5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166" y="4357694"/>
              <a:ext cx="4419600" cy="1066800"/>
              <a:chOff x="1447800" y="4572000"/>
              <a:chExt cx="4419600" cy="1066800"/>
            </a:xfrm>
          </p:grpSpPr>
          <p:sp>
            <p:nvSpPr>
              <p:cNvPr id="8198" name="Line 4">
                <a:extLst>
                  <a:ext uri="{FF2B5EF4-FFF2-40B4-BE49-F238E27FC236}">
                    <a16:creationId xmlns:a16="http://schemas.microsoft.com/office/drawing/2014/main" id="{6B87727F-5A67-A6E5-BB8A-D292655BF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7000" y="4572000"/>
                <a:ext cx="11430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9" name="Line 5">
                <a:extLst>
                  <a:ext uri="{FF2B5EF4-FFF2-40B4-BE49-F238E27FC236}">
                    <a16:creationId xmlns:a16="http://schemas.microsoft.com/office/drawing/2014/main" id="{C3081C1A-7EBF-1EBE-FE67-0D936923F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0000" y="4572000"/>
                <a:ext cx="9906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0" name="Line 6">
                <a:extLst>
                  <a:ext uri="{FF2B5EF4-FFF2-40B4-BE49-F238E27FC236}">
                    <a16:creationId xmlns:a16="http://schemas.microsoft.com/office/drawing/2014/main" id="{0D6CE22E-FD4B-61A5-4311-F25AB68B2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7800" y="5257800"/>
                <a:ext cx="7620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1" name="Line 7">
                <a:extLst>
                  <a:ext uri="{FF2B5EF4-FFF2-40B4-BE49-F238E27FC236}">
                    <a16:creationId xmlns:a16="http://schemas.microsoft.com/office/drawing/2014/main" id="{ED437D57-34CF-4731-8F23-CA25C6927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5257800"/>
                <a:ext cx="7620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2" name="Line 8">
                <a:extLst>
                  <a:ext uri="{FF2B5EF4-FFF2-40B4-BE49-F238E27FC236}">
                    <a16:creationId xmlns:a16="http://schemas.microsoft.com/office/drawing/2014/main" id="{D1413AD7-E476-6CBF-EB3B-72075CB97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48200" y="5334000"/>
                <a:ext cx="5334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3" name="Line 9">
                <a:extLst>
                  <a:ext uri="{FF2B5EF4-FFF2-40B4-BE49-F238E27FC236}">
                    <a16:creationId xmlns:a16="http://schemas.microsoft.com/office/drawing/2014/main" id="{EBB5E77A-43C6-1F61-4CC6-34C44088B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1600" y="5334000"/>
                <a:ext cx="685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>
            <a:extLst>
              <a:ext uri="{FF2B5EF4-FFF2-40B4-BE49-F238E27FC236}">
                <a16:creationId xmlns:a16="http://schemas.microsoft.com/office/drawing/2014/main" id="{41A85A4B-4082-43D4-8B69-C9A494AE3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Example: Fibonacci numbers  (cont.)</a:t>
            </a:r>
            <a:r>
              <a:rPr lang="en-US" sz="1800">
                <a:solidFill>
                  <a:srgbClr val="FF00FF"/>
                </a:solidFill>
              </a:rPr>
              <a:t>  </a:t>
            </a:r>
            <a:endParaRPr lang="en-US" sz="1600">
              <a:solidFill>
                <a:srgbClr val="FF00FF"/>
              </a:solidFill>
            </a:endParaRPr>
          </a:p>
        </p:txBody>
      </p:sp>
      <p:graphicFrame>
        <p:nvGraphicFramePr>
          <p:cNvPr id="10243" name="Object 1024">
            <a:extLst>
              <a:ext uri="{FF2B5EF4-FFF2-40B4-BE49-F238E27FC236}">
                <a16:creationId xmlns:a16="http://schemas.microsoft.com/office/drawing/2014/main" id="{E6E7DEA2-B340-3AD8-4D75-EA134CF615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4241800"/>
          <a:ext cx="6892925" cy="184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4" imgW="6582959" imgH="1759967" progId="Word.Document.8">
                  <p:embed/>
                </p:oleObj>
              </mc:Choice>
              <mc:Fallback>
                <p:oleObj name="Document" r:id="rId4" imgW="6582959" imgH="1759967" progId="Word.Document.8">
                  <p:embed/>
                  <p:pic>
                    <p:nvPicPr>
                      <p:cNvPr id="10243" name="Object 1024">
                        <a:extLst>
                          <a:ext uri="{FF2B5EF4-FFF2-40B4-BE49-F238E27FC236}">
                            <a16:creationId xmlns:a16="http://schemas.microsoft.com/office/drawing/2014/main" id="{E6E7DEA2-B340-3AD8-4D75-EA134CF615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241800"/>
                        <a:ext cx="6892925" cy="184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4" name="Group 15">
            <a:extLst>
              <a:ext uri="{FF2B5EF4-FFF2-40B4-BE49-F238E27FC236}">
                <a16:creationId xmlns:a16="http://schemas.microsoft.com/office/drawing/2014/main" id="{F84402D8-288E-6DA4-2072-CD86C307FFD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66800"/>
            <a:ext cx="8305800" cy="4978400"/>
            <a:chOff x="533400" y="1066800"/>
            <a:chExt cx="8305800" cy="4978400"/>
          </a:xfrm>
        </p:grpSpPr>
        <p:sp>
          <p:nvSpPr>
            <p:cNvPr id="10245" name="Text Box 3">
              <a:extLst>
                <a:ext uri="{FF2B5EF4-FFF2-40B4-BE49-F238E27FC236}">
                  <a16:creationId xmlns:a16="http://schemas.microsoft.com/office/drawing/2014/main" id="{3E091D9A-0E2F-CABF-9357-C5AD3DB7B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066800"/>
              <a:ext cx="8305800" cy="497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1143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1900" b="1">
                  <a:latin typeface="Times New Roman" panose="02020603050405020304" pitchFamily="18" charset="0"/>
                </a:rPr>
                <a:t>Computing the 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 baseline="30000">
                  <a:latin typeface="Times New Roman" panose="02020603050405020304" pitchFamily="18" charset="0"/>
                </a:rPr>
                <a:t>th</a:t>
              </a:r>
              <a:r>
                <a:rPr lang="en-US" altLang="en-US" sz="1900" b="1">
                  <a:latin typeface="Times New Roman" panose="02020603050405020304" pitchFamily="18" charset="0"/>
                </a:rPr>
                <a:t> Fibonacci number using bottom-up iteration and recording results: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900" b="1" i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(0)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 = </a:t>
              </a:r>
              <a:r>
                <a:rPr lang="en-US" altLang="en-US" sz="1900" b="1">
                  <a:latin typeface="Times New Roman" panose="02020603050405020304" pitchFamily="18" charset="0"/>
                </a:rPr>
                <a:t>0</a:t>
              </a:r>
              <a:endParaRPr lang="en-US" altLang="en-US" sz="1900" b="1" i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(1)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 = </a:t>
              </a:r>
              <a:r>
                <a:rPr lang="en-US" altLang="en-US" sz="1900" b="1">
                  <a:latin typeface="Times New Roman" panose="02020603050405020304" pitchFamily="18" charset="0"/>
                </a:rPr>
                <a:t>1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(2)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 = </a:t>
              </a:r>
              <a:r>
                <a:rPr lang="en-US" altLang="en-US" sz="1900" b="1">
                  <a:latin typeface="Times New Roman" panose="02020603050405020304" pitchFamily="18" charset="0"/>
                </a:rPr>
                <a:t>1+0 =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>
                  <a:latin typeface="Times New Roman" panose="02020603050405020304" pitchFamily="18" charset="0"/>
                </a:rPr>
                <a:t>  … 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>
                  <a:latin typeface="Times New Roman" panose="02020603050405020304" pitchFamily="18" charset="0"/>
                </a:rPr>
                <a:t>-2) =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>
                  <a:latin typeface="Times New Roman" panose="02020603050405020304" pitchFamily="18" charset="0"/>
                </a:rPr>
                <a:t>-1) =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1" i="1">
                  <a:latin typeface="Times New Roman" panose="02020603050405020304" pitchFamily="18" charset="0"/>
                </a:rPr>
                <a:t> 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>
                  <a:latin typeface="Times New Roman" panose="02020603050405020304" pitchFamily="18" charset="0"/>
                </a:rPr>
                <a:t>) = 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>
                  <a:latin typeface="Times New Roman" panose="02020603050405020304" pitchFamily="18" charset="0"/>
                </a:rPr>
                <a:t>-1)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 + F</a:t>
              </a:r>
              <a:r>
                <a:rPr lang="en-US" altLang="en-US" sz="1900" b="1">
                  <a:latin typeface="Times New Roman" panose="02020603050405020304" pitchFamily="18" charset="0"/>
                </a:rPr>
                <a:t>(</a:t>
              </a:r>
              <a:r>
                <a:rPr lang="en-US" altLang="en-US" sz="1900" b="1" i="1">
                  <a:latin typeface="Times New Roman" panose="02020603050405020304" pitchFamily="18" charset="0"/>
                </a:rPr>
                <a:t>n</a:t>
              </a:r>
              <a:r>
                <a:rPr lang="en-US" altLang="en-US" sz="1900" b="1">
                  <a:latin typeface="Times New Roman" panose="02020603050405020304" pitchFamily="18" charset="0"/>
                </a:rPr>
                <a:t>-2)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9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9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900" b="1">
                <a:latin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b="1">
                  <a:latin typeface="Times New Roman" panose="02020603050405020304" pitchFamily="18" charset="0"/>
                </a:rPr>
                <a:t>  </a:t>
              </a:r>
              <a:br>
                <a:rPr lang="en-US" altLang="en-US" sz="1900" b="1">
                  <a:latin typeface="Times New Roman" panose="02020603050405020304" pitchFamily="18" charset="0"/>
                </a:rPr>
              </a:br>
              <a:r>
                <a:rPr lang="en-US" altLang="en-US" sz="1900" b="1">
                  <a:latin typeface="Times New Roman" panose="02020603050405020304" pitchFamily="18" charset="0"/>
                </a:rPr>
                <a:t> Efficiency: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b="1">
                  <a:latin typeface="Times New Roman" panose="02020603050405020304" pitchFamily="18" charset="0"/>
                </a:rPr>
                <a:t>        - time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900" b="1">
                  <a:latin typeface="Times New Roman" panose="02020603050405020304" pitchFamily="18" charset="0"/>
                </a:rPr>
                <a:t>        - space</a:t>
              </a:r>
            </a:p>
          </p:txBody>
        </p:sp>
        <p:grpSp>
          <p:nvGrpSpPr>
            <p:cNvPr id="10246" name="Group 14">
              <a:extLst>
                <a:ext uri="{FF2B5EF4-FFF2-40B4-BE49-F238E27FC236}">
                  <a16:creationId xmlns:a16="http://schemas.microsoft.com/office/drawing/2014/main" id="{4E6585D3-C0DA-9180-C18A-D5564472E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800" y="4495800"/>
              <a:ext cx="6705600" cy="533400"/>
              <a:chOff x="1828800" y="4495800"/>
              <a:chExt cx="6705600" cy="533400"/>
            </a:xfrm>
          </p:grpSpPr>
          <p:sp>
            <p:nvSpPr>
              <p:cNvPr id="10247" name="Line 5">
                <a:extLst>
                  <a:ext uri="{FF2B5EF4-FFF2-40B4-BE49-F238E27FC236}">
                    <a16:creationId xmlns:a16="http://schemas.microsoft.com/office/drawing/2014/main" id="{BA8A23E6-1DC6-A3FD-6BBC-13C3417B6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495800"/>
                <a:ext cx="67056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8" name="Line 6">
                <a:extLst>
                  <a:ext uri="{FF2B5EF4-FFF2-40B4-BE49-F238E27FC236}">
                    <a16:creationId xmlns:a16="http://schemas.microsoft.com/office/drawing/2014/main" id="{C912D4C5-1A24-7A10-1D95-CCAB08CED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5029200"/>
                <a:ext cx="67056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9" name="Line 7">
                <a:extLst>
                  <a:ext uri="{FF2B5EF4-FFF2-40B4-BE49-F238E27FC236}">
                    <a16:creationId xmlns:a16="http://schemas.microsoft.com/office/drawing/2014/main" id="{2FBC1E43-8B5C-07DB-0949-5EB8A96F1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0" name="Line 8">
                <a:extLst>
                  <a:ext uri="{FF2B5EF4-FFF2-40B4-BE49-F238E27FC236}">
                    <a16:creationId xmlns:a16="http://schemas.microsoft.com/office/drawing/2014/main" id="{BC9510E6-C689-0BDB-7A90-E9BBCC151C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Line 9">
                <a:extLst>
                  <a:ext uri="{FF2B5EF4-FFF2-40B4-BE49-F238E27FC236}">
                    <a16:creationId xmlns:a16="http://schemas.microsoft.com/office/drawing/2014/main" id="{ABEB7D7A-6F39-A745-F1A1-C683A8A30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Line 10">
                <a:extLst>
                  <a:ext uri="{FF2B5EF4-FFF2-40B4-BE49-F238E27FC236}">
                    <a16:creationId xmlns:a16="http://schemas.microsoft.com/office/drawing/2014/main" id="{A35D3AEE-E565-18D1-AA33-7603981A5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2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3" name="Line 11">
                <a:extLst>
                  <a:ext uri="{FF2B5EF4-FFF2-40B4-BE49-F238E27FC236}">
                    <a16:creationId xmlns:a16="http://schemas.microsoft.com/office/drawing/2014/main" id="{112EEA7D-5966-A544-239E-A6512E558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4" name="Line 12">
                <a:extLst>
                  <a:ext uri="{FF2B5EF4-FFF2-40B4-BE49-F238E27FC236}">
                    <a16:creationId xmlns:a16="http://schemas.microsoft.com/office/drawing/2014/main" id="{382A7050-E5D5-4C2C-B212-591FA20FA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770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5" name="Line 13">
                <a:extLst>
                  <a:ext uri="{FF2B5EF4-FFF2-40B4-BE49-F238E27FC236}">
                    <a16:creationId xmlns:a16="http://schemas.microsoft.com/office/drawing/2014/main" id="{EE61815F-D450-6431-7C22-8BB9E8281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200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6" name="Line 14">
                <a:extLst>
                  <a:ext uri="{FF2B5EF4-FFF2-40B4-BE49-F238E27FC236}">
                    <a16:creationId xmlns:a16="http://schemas.microsoft.com/office/drawing/2014/main" id="{97F9095D-499E-0F91-1A1E-2385F83D5B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34400" y="4495800"/>
                <a:ext cx="0" cy="5334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F92C173-D55F-76D5-9D74-BC80C4F1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A6D4741-3A97-87E0-BDB8-BA9F0D574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5F273F9-D107-1D09-A76B-AE3B584E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9A5F316-8C00-2976-E58F-70C54081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610600" cy="838200"/>
          </a:xfrm>
        </p:spPr>
        <p:txBody>
          <a:bodyPr/>
          <a:lstStyle/>
          <a:p>
            <a:pPr eaLnBrk="1" hangingPunct="1"/>
            <a:r>
              <a:rPr lang="en-US" altLang="en-US"/>
              <a:t>Examples of DP algorithms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93901F06-9C1F-2D6F-AE4E-1F7D4875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066800"/>
            <a:ext cx="8724900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Computing a binomial coefficient</a:t>
            </a:r>
          </a:p>
          <a:p>
            <a:pPr lvl="1"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Warshall’s algorithm for transitive closure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Floyd’s algorithm for all-pairs shortest paths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8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Constructing an optimal binary search tree</a:t>
            </a:r>
          </a:p>
          <a:p>
            <a:pPr lvl="1"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Some instances of difficult discrete optimization problems: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- traveling salesman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- knapsack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FB80618A-F517-4BB3-B9D2-010D29804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3058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Computing a binomial coefficient by DP</a:t>
            </a:r>
          </a:p>
        </p:txBody>
      </p:sp>
      <p:grpSp>
        <p:nvGrpSpPr>
          <p:cNvPr id="17411" name="Group 6">
            <a:extLst>
              <a:ext uri="{FF2B5EF4-FFF2-40B4-BE49-F238E27FC236}">
                <a16:creationId xmlns:a16="http://schemas.microsoft.com/office/drawing/2014/main" id="{A7D0F1FA-F3EB-93EC-AF0B-CE3180E757EF}"/>
              </a:ext>
            </a:extLst>
          </p:cNvPr>
          <p:cNvGrpSpPr>
            <a:grpSpLocks/>
          </p:cNvGrpSpPr>
          <p:nvPr/>
        </p:nvGrpSpPr>
        <p:grpSpPr bwMode="auto">
          <a:xfrm>
            <a:off x="419100" y="1066800"/>
            <a:ext cx="7724775" cy="5461000"/>
            <a:chOff x="419100" y="1066800"/>
            <a:chExt cx="7724800" cy="5461000"/>
          </a:xfrm>
        </p:grpSpPr>
        <p:sp>
          <p:nvSpPr>
            <p:cNvPr id="17412" name="Text Box 3">
              <a:extLst>
                <a:ext uri="{FF2B5EF4-FFF2-40B4-BE49-F238E27FC236}">
                  <a16:creationId xmlns:a16="http://schemas.microsoft.com/office/drawing/2014/main" id="{5D80C6FF-F6FC-1617-51A5-7645A17BF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1066800"/>
              <a:ext cx="7724800" cy="533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1143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Binomial coefficients are coefficients of the binomial formula:</a:t>
              </a:r>
            </a:p>
            <a:p>
              <a:pPr lvl="1" algn="ctr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 + b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sz="22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,0)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2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en-US" sz="22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20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+ . . . +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2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n-k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en-US" sz="22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200">
                  <a:solidFill>
                    <a:schemeClr val="hlink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. . . +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2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en-US" sz="22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Char char="•"/>
              </a:pPr>
              <a:endPara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Recurrence: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=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+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-1)  for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 &gt; k 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&gt; 0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        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,0) = 1,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= 1  for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 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 0</a:t>
              </a:r>
              <a:endPara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Value of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can be computed by filling a table: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	 0   1   2  .  .  .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  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0   1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1   1   1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1  1      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-1)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	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		          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</a:t>
              </a:r>
            </a:p>
          </p:txBody>
        </p:sp>
        <p:grpSp>
          <p:nvGrpSpPr>
            <p:cNvPr id="17413" name="Group 5">
              <a:extLst>
                <a:ext uri="{FF2B5EF4-FFF2-40B4-BE49-F238E27FC236}">
                  <a16:creationId xmlns:a16="http://schemas.microsoft.com/office/drawing/2014/main" id="{9A2A8DA2-F58A-A3AC-0BBA-0FADF2432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8662" y="3632200"/>
              <a:ext cx="4191000" cy="2895600"/>
              <a:chOff x="928662" y="3632200"/>
              <a:chExt cx="4191000" cy="2895600"/>
            </a:xfrm>
          </p:grpSpPr>
          <p:sp>
            <p:nvSpPr>
              <p:cNvPr id="17414" name="Line 4">
                <a:extLst>
                  <a:ext uri="{FF2B5EF4-FFF2-40B4-BE49-F238E27FC236}">
                    <a16:creationId xmlns:a16="http://schemas.microsoft.com/office/drawing/2014/main" id="{D7F00DB0-7CE6-59B5-B5C8-64F1E8BEF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28662" y="3786190"/>
                <a:ext cx="4191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15" name="Line 5">
                <a:extLst>
                  <a:ext uri="{FF2B5EF4-FFF2-40B4-BE49-F238E27FC236}">
                    <a16:creationId xmlns:a16="http://schemas.microsoft.com/office/drawing/2014/main" id="{588B4E09-83E2-22CA-6010-E281B506D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8100" y="3632200"/>
                <a:ext cx="0" cy="28956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265BEDD4-EDDF-423B-878E-6C93EFCFD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3058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Computing a binomial coefficient by DP</a:t>
            </a:r>
          </a:p>
        </p:txBody>
      </p:sp>
      <p:grpSp>
        <p:nvGrpSpPr>
          <p:cNvPr id="19459" name="Group 7">
            <a:extLst>
              <a:ext uri="{FF2B5EF4-FFF2-40B4-BE49-F238E27FC236}">
                <a16:creationId xmlns:a16="http://schemas.microsoft.com/office/drawing/2014/main" id="{C0F5784E-4C29-7E6B-8962-58E3A26B08BB}"/>
              </a:ext>
            </a:extLst>
          </p:cNvPr>
          <p:cNvGrpSpPr>
            <a:grpSpLocks/>
          </p:cNvGrpSpPr>
          <p:nvPr/>
        </p:nvGrpSpPr>
        <p:grpSpPr bwMode="auto">
          <a:xfrm>
            <a:off x="419100" y="1066800"/>
            <a:ext cx="7724775" cy="4832350"/>
            <a:chOff x="419100" y="1066800"/>
            <a:chExt cx="7724800" cy="4832092"/>
          </a:xfrm>
        </p:grpSpPr>
        <p:sp>
          <p:nvSpPr>
            <p:cNvPr id="19460" name="Text Box 3">
              <a:extLst>
                <a:ext uri="{FF2B5EF4-FFF2-40B4-BE49-F238E27FC236}">
                  <a16:creationId xmlns:a16="http://schemas.microsoft.com/office/drawing/2014/main" id="{2C8189F5-F315-71F5-4930-149BEAFDC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" y="1066800"/>
              <a:ext cx="7724800" cy="4832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1143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Value of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can be computed by filling a table: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	0   1   2    3    4   5.  .  .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  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22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0   1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1   1   1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2   1   2   1				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3   1   3   3    1  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4   1   4   6    4   1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5   1   5  10  10  5   1		[Pascal’s triangle]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 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 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.    1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1  1 		        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-1)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n-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</a:t>
              </a:r>
            </a:p>
            <a:p>
              <a:pPr lvl="1">
                <a:spcBef>
                  <a:spcPct val="0"/>
                </a:spcBef>
                <a:buFontTx/>
                <a:buNone/>
              </a:pP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	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				     C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en-US" sz="22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2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) </a:t>
              </a:r>
            </a:p>
          </p:txBody>
        </p:sp>
        <p:grpSp>
          <p:nvGrpSpPr>
            <p:cNvPr id="19461" name="Group 5">
              <a:extLst>
                <a:ext uri="{FF2B5EF4-FFF2-40B4-BE49-F238E27FC236}">
                  <a16:creationId xmlns:a16="http://schemas.microsoft.com/office/drawing/2014/main" id="{EF2D5987-3E0C-1637-5F41-78D6DCBB6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786" y="1928802"/>
              <a:ext cx="5715040" cy="3857652"/>
              <a:chOff x="928662" y="3632200"/>
              <a:chExt cx="4191000" cy="2895600"/>
            </a:xfrm>
          </p:grpSpPr>
          <p:sp>
            <p:nvSpPr>
              <p:cNvPr id="19462" name="Line 4">
                <a:extLst>
                  <a:ext uri="{FF2B5EF4-FFF2-40B4-BE49-F238E27FC236}">
                    <a16:creationId xmlns:a16="http://schemas.microsoft.com/office/drawing/2014/main" id="{FEC0DA5C-9823-F089-91CA-D9C7CC9BCB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28662" y="3786190"/>
                <a:ext cx="4191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63" name="Line 5">
                <a:extLst>
                  <a:ext uri="{FF2B5EF4-FFF2-40B4-BE49-F238E27FC236}">
                    <a16:creationId xmlns:a16="http://schemas.microsoft.com/office/drawing/2014/main" id="{E564F51F-1748-D706-B3D2-44656B5CF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8100" y="3632200"/>
                <a:ext cx="0" cy="28956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1E7AEA36-58C1-6C0F-322E-CF7251C6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Pascal’s Triangle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F95D109-91F6-4CB8-9C5D-4A3A0E03E077}"/>
              </a:ext>
            </a:extLst>
          </p:cNvPr>
          <p:cNvSpPr/>
          <p:nvPr/>
        </p:nvSpPr>
        <p:spPr>
          <a:xfrm>
            <a:off x="2000250" y="1643063"/>
            <a:ext cx="5500688" cy="335756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1</a:t>
            </a:r>
          </a:p>
          <a:p>
            <a:pPr marL="457200" indent="-457200" algn="ctr">
              <a:buFontTx/>
              <a:buAutoNum type="arabicPlain"/>
              <a:defRPr/>
            </a:pPr>
            <a:r>
              <a:rPr lang="en-US" dirty="0"/>
              <a:t>1</a:t>
            </a:r>
          </a:p>
          <a:p>
            <a:pPr marL="457200" indent="-457200" algn="ctr">
              <a:defRPr/>
            </a:pPr>
            <a:r>
              <a:rPr lang="en-US" dirty="0"/>
              <a:t>1    2   1</a:t>
            </a:r>
          </a:p>
          <a:p>
            <a:pPr marL="457200" indent="-457200" algn="ctr">
              <a:defRPr/>
            </a:pPr>
            <a:r>
              <a:rPr lang="en-US" dirty="0"/>
              <a:t>1    3     3     1</a:t>
            </a:r>
          </a:p>
          <a:p>
            <a:pPr marL="457200" indent="-457200" algn="ctr">
              <a:defRPr/>
            </a:pPr>
            <a:r>
              <a:rPr lang="en-US" dirty="0"/>
              <a:t>1     4     6     4     1</a:t>
            </a:r>
          </a:p>
          <a:p>
            <a:pPr marL="457200" indent="-457200" algn="ctr">
              <a:buFontTx/>
              <a:buAutoNum type="arabicPlain"/>
              <a:defRPr/>
            </a:pPr>
            <a:r>
              <a:rPr lang="en-US" dirty="0"/>
              <a:t>5    10    10    5   1</a:t>
            </a:r>
          </a:p>
          <a:p>
            <a:pPr marL="457200" indent="-457200" algn="ctr">
              <a:defRPr/>
            </a:pPr>
            <a:r>
              <a:rPr lang="en-US" dirty="0"/>
              <a:t>…</a:t>
            </a:r>
          </a:p>
          <a:p>
            <a:pPr marL="457200" indent="-457200" algn="ctr">
              <a:defRPr/>
            </a:pPr>
            <a:endParaRPr lang="en-US" dirty="0"/>
          </a:p>
          <a:p>
            <a:pPr marL="457200" indent="-457200" algn="ctr">
              <a:defRPr/>
            </a:pPr>
            <a:endParaRPr lang="en-US" dirty="0"/>
          </a:p>
          <a:p>
            <a:pPr marL="457200" indent="-457200" algn="ctr">
              <a:defRPr/>
            </a:pPr>
            <a:endParaRPr lang="en-US" dirty="0"/>
          </a:p>
          <a:p>
            <a:pPr marL="457200" indent="-457200"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1026">
            <a:extLst>
              <a:ext uri="{FF2B5EF4-FFF2-40B4-BE49-F238E27FC236}">
                <a16:creationId xmlns:a16="http://schemas.microsoft.com/office/drawing/2014/main" id="{7DBAFE71-B911-4174-9396-0552F041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214313"/>
            <a:ext cx="8334375" cy="92868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Computing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 err="1"/>
              <a:t>n,k</a:t>
            </a:r>
            <a:r>
              <a:rPr lang="en-US" dirty="0"/>
              <a:t>): </a:t>
            </a:r>
            <a:r>
              <a:rPr lang="en-US" dirty="0" err="1"/>
              <a:t>pseudocode</a:t>
            </a:r>
            <a:r>
              <a:rPr lang="en-US" dirty="0"/>
              <a:t> and analysis</a:t>
            </a:r>
          </a:p>
        </p:txBody>
      </p:sp>
      <p:pic>
        <p:nvPicPr>
          <p:cNvPr id="22531" name="Picture 1059" descr="8_1a">
            <a:extLst>
              <a:ext uri="{FF2B5EF4-FFF2-40B4-BE49-F238E27FC236}">
                <a16:creationId xmlns:a16="http://schemas.microsoft.com/office/drawing/2014/main" id="{EE1C2C64-8A7D-2EA0-2CD1-B299B06291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95400"/>
            <a:ext cx="8077200" cy="3956050"/>
          </a:xfrm>
          <a:solidFill>
            <a:schemeClr val="tx1"/>
          </a:solidFill>
        </p:spPr>
      </p:pic>
      <p:sp>
        <p:nvSpPr>
          <p:cNvPr id="22532" name="Text Box 1056">
            <a:extLst>
              <a:ext uri="{FF2B5EF4-FFF2-40B4-BE49-F238E27FC236}">
                <a16:creationId xmlns:a16="http://schemas.microsoft.com/office/drawing/2014/main" id="{2F512725-F2A6-7C49-1DE3-A250A00E8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33" name="Text Box 1057">
            <a:extLst>
              <a:ext uri="{FF2B5EF4-FFF2-40B4-BE49-F238E27FC236}">
                <a16:creationId xmlns:a16="http://schemas.microsoft.com/office/drawing/2014/main" id="{59A8CDC1-452D-5E91-9BD4-D2972B071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10200"/>
            <a:ext cx="81534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Time efficiency: </a:t>
            </a:r>
            <a:r>
              <a:rPr lang="el-GR" altLang="en-US" sz="2400" b="1">
                <a:latin typeface="Lucida Grande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nk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Space efficiency: </a:t>
            </a:r>
            <a:r>
              <a:rPr lang="el-GR" altLang="en-US" sz="2400" b="1">
                <a:latin typeface="Lucida Grande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nk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  <a:endParaRPr lang="el-GR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C4F587A2-9795-4197-A604-F447B76F4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5344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Warshall’s  Algorithm: Transitive Closure</a:t>
            </a:r>
          </a:p>
        </p:txBody>
      </p:sp>
      <p:sp>
        <p:nvSpPr>
          <p:cNvPr id="401411" name="Text Box 3">
            <a:extLst>
              <a:ext uri="{FF2B5EF4-FFF2-40B4-BE49-F238E27FC236}">
                <a16:creationId xmlns:a16="http://schemas.microsoft.com/office/drawing/2014/main" id="{11B13B97-8558-7E8A-580C-52A127B6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3820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Computes the transitive closure of a relation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Alternatively: existence of all nontrivial paths in a digraph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Example of transitive closure:</a:t>
            </a:r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endParaRPr lang="en-US" altLang="en-US" sz="24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80" name="Group 28">
            <a:extLst>
              <a:ext uri="{FF2B5EF4-FFF2-40B4-BE49-F238E27FC236}">
                <a16:creationId xmlns:a16="http://schemas.microsoft.com/office/drawing/2014/main" id="{3A797890-97E1-ED82-6CED-AB3673FE00CD}"/>
              </a:ext>
            </a:extLst>
          </p:cNvPr>
          <p:cNvGrpSpPr>
            <a:grpSpLocks/>
          </p:cNvGrpSpPr>
          <p:nvPr/>
        </p:nvGrpSpPr>
        <p:grpSpPr bwMode="auto">
          <a:xfrm>
            <a:off x="714375" y="2895600"/>
            <a:ext cx="7485063" cy="2943225"/>
            <a:chOff x="714348" y="2895600"/>
            <a:chExt cx="7485108" cy="2943225"/>
          </a:xfrm>
        </p:grpSpPr>
        <p:grpSp>
          <p:nvGrpSpPr>
            <p:cNvPr id="24581" name="Group 4">
              <a:extLst>
                <a:ext uri="{FF2B5EF4-FFF2-40B4-BE49-F238E27FC236}">
                  <a16:creationId xmlns:a16="http://schemas.microsoft.com/office/drawing/2014/main" id="{006FBEEF-31D6-00EF-BD0D-E6A5843E5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348" y="2928934"/>
              <a:ext cx="2209800" cy="2057400"/>
              <a:chOff x="576" y="1824"/>
              <a:chExt cx="1392" cy="1296"/>
            </a:xfrm>
          </p:grpSpPr>
          <p:sp>
            <p:nvSpPr>
              <p:cNvPr id="24598" name="Oval 5">
                <a:extLst>
                  <a:ext uri="{FF2B5EF4-FFF2-40B4-BE49-F238E27FC236}">
                    <a16:creationId xmlns:a16="http://schemas.microsoft.com/office/drawing/2014/main" id="{968C971F-A447-D8ED-BE6C-028794082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599" name="Oval 6">
                <a:extLst>
                  <a:ext uri="{FF2B5EF4-FFF2-40B4-BE49-F238E27FC236}">
                    <a16:creationId xmlns:a16="http://schemas.microsoft.com/office/drawing/2014/main" id="{E706E9A2-19E6-F9EC-B588-91DF38340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600" name="Oval 7">
                <a:extLst>
                  <a:ext uri="{FF2B5EF4-FFF2-40B4-BE49-F238E27FC236}">
                    <a16:creationId xmlns:a16="http://schemas.microsoft.com/office/drawing/2014/main" id="{73AB27C2-013D-E97D-82DF-FAE59D106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601" name="Oval 8">
                <a:extLst>
                  <a:ext uri="{FF2B5EF4-FFF2-40B4-BE49-F238E27FC236}">
                    <a16:creationId xmlns:a16="http://schemas.microsoft.com/office/drawing/2014/main" id="{ECE096CC-C223-A243-43DE-88ACFC26B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6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602" name="Line 9">
                <a:extLst>
                  <a:ext uri="{FF2B5EF4-FFF2-40B4-BE49-F238E27FC236}">
                    <a16:creationId xmlns:a16="http://schemas.microsoft.com/office/drawing/2014/main" id="{3023BF84-BE24-5A0D-6247-B42A13B2D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1968"/>
                <a:ext cx="624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4603" name="AutoShape 10">
                <a:extLst>
                  <a:ext uri="{FF2B5EF4-FFF2-40B4-BE49-F238E27FC236}">
                    <a16:creationId xmlns:a16="http://schemas.microsoft.com/office/drawing/2014/main" id="{A8AC8D1F-78E2-57D4-E10C-9D4B57039DA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12" y="2976"/>
                <a:ext cx="892" cy="2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04" name="AutoShape 11">
                <a:extLst>
                  <a:ext uri="{FF2B5EF4-FFF2-40B4-BE49-F238E27FC236}">
                    <a16:creationId xmlns:a16="http://schemas.microsoft.com/office/drawing/2014/main" id="{D0FDD761-CEC0-AFAE-F262-878F50C7C2F2}"/>
                  </a:ext>
                </a:extLst>
              </p:cNvPr>
              <p:cNvCxnSpPr>
                <a:cxnSpLocks noChangeShapeType="1"/>
                <a:stCxn id="24599" idx="1"/>
                <a:endCxn id="24600" idx="7"/>
              </p:cNvCxnSpPr>
              <p:nvPr/>
            </p:nvCxnSpPr>
            <p:spPr bwMode="auto">
              <a:xfrm rot="-5400000" flipH="1" flipV="1">
                <a:off x="1296" y="2448"/>
                <a:ext cx="96" cy="920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605" name="Line 12">
                <a:extLst>
                  <a:ext uri="{FF2B5EF4-FFF2-40B4-BE49-F238E27FC236}">
                    <a16:creationId xmlns:a16="http://schemas.microsoft.com/office/drawing/2014/main" id="{86E117CE-9DC8-6913-73A1-E96994598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256"/>
                <a:ext cx="96" cy="67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582" name="Text Box 13">
              <a:extLst>
                <a:ext uri="{FF2B5EF4-FFF2-40B4-BE49-F238E27FC236}">
                  <a16:creationId xmlns:a16="http://schemas.microsoft.com/office/drawing/2014/main" id="{6CD15096-1E35-74E8-DE97-9A723A8E4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4648200"/>
              <a:ext cx="984250" cy="119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1  0  0  1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0  1  0  0</a:t>
              </a:r>
            </a:p>
          </p:txBody>
        </p:sp>
        <p:sp>
          <p:nvSpPr>
            <p:cNvPr id="401422" name="Text Box 14">
              <a:extLst>
                <a:ext uri="{FF2B5EF4-FFF2-40B4-BE49-F238E27FC236}">
                  <a16:creationId xmlns:a16="http://schemas.microsoft.com/office/drawing/2014/main" id="{099D9B66-6098-412E-9D15-7F0DBC134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200" y="4572000"/>
              <a:ext cx="984256" cy="1190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/>
                <a:t>0  0  1  0</a:t>
              </a:r>
            </a:p>
            <a:p>
              <a:pPr>
                <a:defRPr/>
              </a:pPr>
              <a:r>
                <a:rPr lang="en-US" sz="1800" dirty="0"/>
                <a:t>1  </a:t>
              </a: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1  1</a:t>
              </a:r>
              <a:r>
                <a:rPr lang="en-US" sz="1800" dirty="0"/>
                <a:t>  1</a:t>
              </a:r>
            </a:p>
            <a:p>
              <a:pPr>
                <a:defRPr/>
              </a:pPr>
              <a:r>
                <a:rPr lang="en-US" sz="1800" dirty="0"/>
                <a:t>0  0  0  0</a:t>
              </a:r>
            </a:p>
            <a:p>
              <a:pPr>
                <a:defRPr/>
              </a:pP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sz="1800" dirty="0"/>
                <a:t>  1  </a:t>
              </a: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1  1</a:t>
              </a:r>
            </a:p>
          </p:txBody>
        </p:sp>
        <p:grpSp>
          <p:nvGrpSpPr>
            <p:cNvPr id="24584" name="Group 15">
              <a:extLst>
                <a:ext uri="{FF2B5EF4-FFF2-40B4-BE49-F238E27FC236}">
                  <a16:creationId xmlns:a16="http://schemas.microsoft.com/office/drawing/2014/main" id="{29B10278-E3DF-C465-3774-D2ADBEFEF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200" y="2895600"/>
              <a:ext cx="2209800" cy="2057400"/>
              <a:chOff x="2928" y="1824"/>
              <a:chExt cx="1392" cy="1296"/>
            </a:xfrm>
          </p:grpSpPr>
          <p:sp>
            <p:nvSpPr>
              <p:cNvPr id="24585" name="Oval 16">
                <a:extLst>
                  <a:ext uri="{FF2B5EF4-FFF2-40B4-BE49-F238E27FC236}">
                    <a16:creationId xmlns:a16="http://schemas.microsoft.com/office/drawing/2014/main" id="{4C052E72-8738-0F59-5B8D-8B0F8802E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82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586" name="Oval 17">
                <a:extLst>
                  <a:ext uri="{FF2B5EF4-FFF2-40B4-BE49-F238E27FC236}">
                    <a16:creationId xmlns:a16="http://schemas.microsoft.com/office/drawing/2014/main" id="{36BDD819-7A2D-4AEE-7B48-516F4BB76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587" name="Oval 18">
                <a:extLst>
                  <a:ext uri="{FF2B5EF4-FFF2-40B4-BE49-F238E27FC236}">
                    <a16:creationId xmlns:a16="http://schemas.microsoft.com/office/drawing/2014/main" id="{6C8E39F6-D93B-D8D5-A881-82AA2BDB1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588" name="Oval 19">
                <a:extLst>
                  <a:ext uri="{FF2B5EF4-FFF2-40B4-BE49-F238E27FC236}">
                    <a16:creationId xmlns:a16="http://schemas.microsoft.com/office/drawing/2014/main" id="{5E35F533-3B4F-6B72-6F0E-FDED18F60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06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589" name="Line 20">
                <a:extLst>
                  <a:ext uri="{FF2B5EF4-FFF2-40B4-BE49-F238E27FC236}">
                    <a16:creationId xmlns:a16="http://schemas.microsoft.com/office/drawing/2014/main" id="{1313561A-73EE-0CC9-DC5E-32218848B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1968"/>
                <a:ext cx="624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4590" name="AutoShape 21">
                <a:extLst>
                  <a:ext uri="{FF2B5EF4-FFF2-40B4-BE49-F238E27FC236}">
                    <a16:creationId xmlns:a16="http://schemas.microsoft.com/office/drawing/2014/main" id="{052E556D-4920-60A4-B5B3-FCB093A4774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264" y="2976"/>
                <a:ext cx="892" cy="2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591" name="AutoShape 22">
                <a:extLst>
                  <a:ext uri="{FF2B5EF4-FFF2-40B4-BE49-F238E27FC236}">
                    <a16:creationId xmlns:a16="http://schemas.microsoft.com/office/drawing/2014/main" id="{E29C1521-DC22-830E-113C-3592A4117C94}"/>
                  </a:ext>
                </a:extLst>
              </p:cNvPr>
              <p:cNvCxnSpPr>
                <a:cxnSpLocks noChangeShapeType="1"/>
                <a:stCxn id="24586" idx="1"/>
                <a:endCxn id="24587" idx="7"/>
              </p:cNvCxnSpPr>
              <p:nvPr/>
            </p:nvCxnSpPr>
            <p:spPr bwMode="auto">
              <a:xfrm rot="-5400000" flipH="1" flipV="1">
                <a:off x="3648" y="2448"/>
                <a:ext cx="96" cy="920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592" name="Line 23">
                <a:extLst>
                  <a:ext uri="{FF2B5EF4-FFF2-40B4-BE49-F238E27FC236}">
                    <a16:creationId xmlns:a16="http://schemas.microsoft.com/office/drawing/2014/main" id="{C478A650-EF7D-F4D7-96E6-896113DA2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24" y="2256"/>
                <a:ext cx="96" cy="67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3" name="Line 24">
                <a:extLst>
                  <a:ext uri="{FF2B5EF4-FFF2-40B4-BE49-F238E27FC236}">
                    <a16:creationId xmlns:a16="http://schemas.microsoft.com/office/drawing/2014/main" id="{7F5BD866-4B82-F840-B11D-08FD56F17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2016"/>
                <a:ext cx="624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Line 25">
                <a:extLst>
                  <a:ext uri="{FF2B5EF4-FFF2-40B4-BE49-F238E27FC236}">
                    <a16:creationId xmlns:a16="http://schemas.microsoft.com/office/drawing/2014/main" id="{861ADB66-07BE-034C-7DB3-90A9F42A7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0" y="2016"/>
                <a:ext cx="384" cy="8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4595" name="AutoShape 26">
                <a:extLst>
                  <a:ext uri="{FF2B5EF4-FFF2-40B4-BE49-F238E27FC236}">
                    <a16:creationId xmlns:a16="http://schemas.microsoft.com/office/drawing/2014/main" id="{EBAB4DEA-06C9-6486-9515-991067C12278}"/>
                  </a:ext>
                </a:extLst>
              </p:cNvPr>
              <p:cNvCxnSpPr>
                <a:cxnSpLocks noChangeShapeType="1"/>
                <a:stCxn id="24587" idx="2"/>
                <a:endCxn id="24587" idx="3"/>
              </p:cNvCxnSpPr>
              <p:nvPr/>
            </p:nvCxnSpPr>
            <p:spPr bwMode="auto">
              <a:xfrm rot="10800000" flipH="1" flipV="1">
                <a:off x="3072" y="3024"/>
                <a:ext cx="28" cy="68"/>
              </a:xfrm>
              <a:prstGeom prst="curvedConnector4">
                <a:avLst>
                  <a:gd name="adj1" fmla="val -514287"/>
                  <a:gd name="adj2" fmla="val 35294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596" name="AutoShape 27">
                <a:extLst>
                  <a:ext uri="{FF2B5EF4-FFF2-40B4-BE49-F238E27FC236}">
                    <a16:creationId xmlns:a16="http://schemas.microsoft.com/office/drawing/2014/main" id="{A22ED1F2-C86B-FAF4-41A3-6AFC64499464}"/>
                  </a:ext>
                </a:extLst>
              </p:cNvPr>
              <p:cNvCxnSpPr>
                <a:cxnSpLocks noChangeShapeType="1"/>
                <a:stCxn id="24586" idx="7"/>
                <a:endCxn id="24586" idx="6"/>
              </p:cNvCxnSpPr>
              <p:nvPr/>
            </p:nvCxnSpPr>
            <p:spPr bwMode="auto">
              <a:xfrm rot="5400000" flipV="1">
                <a:off x="4272" y="2880"/>
                <a:ext cx="68" cy="28"/>
              </a:xfrm>
              <a:prstGeom prst="curvedConnector4">
                <a:avLst>
                  <a:gd name="adj1" fmla="val -252940"/>
                  <a:gd name="adj2" fmla="val 614287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597" name="Line 28">
                <a:extLst>
                  <a:ext uri="{FF2B5EF4-FFF2-40B4-BE49-F238E27FC236}">
                    <a16:creationId xmlns:a16="http://schemas.microsoft.com/office/drawing/2014/main" id="{C4C6DE11-EBA0-6821-A081-9DEC3BB65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20" y="2208"/>
                <a:ext cx="1056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C73E6A9-CE27-11A1-30CF-6C3F1350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C8B940F-8BE0-BF89-04FC-66B17644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9A003349-AC2B-D676-C1BE-17989B60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1AE5B53-BF8D-B6C9-7831-350458A7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B167D822-8ED2-9FDC-92EF-AF89E763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>
            <a:extLst>
              <a:ext uri="{FF2B5EF4-FFF2-40B4-BE49-F238E27FC236}">
                <a16:creationId xmlns:a16="http://schemas.microsoft.com/office/drawing/2014/main" id="{AC6F4FF9-5265-DD3E-9A97-C484AB26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Warshall’s  Algorithm</a:t>
            </a:r>
          </a:p>
        </p:txBody>
      </p:sp>
      <p:sp>
        <p:nvSpPr>
          <p:cNvPr id="437251" name="Text Box 1027">
            <a:extLst>
              <a:ext uri="{FF2B5EF4-FFF2-40B4-BE49-F238E27FC236}">
                <a16:creationId xmlns:a16="http://schemas.microsoft.com/office/drawing/2014/main" id="{3A7B774D-0E18-D8F0-0F14-DA276383C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8329613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latin typeface="Times New Roman" panose="02020603050405020304" pitchFamily="18" charset="0"/>
              </a:rPr>
              <a:t>Constructs transitive closure </a:t>
            </a:r>
            <a:r>
              <a:rPr lang="en-US" altLang="en-US" sz="2300" i="1">
                <a:latin typeface="Times New Roman" panose="02020603050405020304" pitchFamily="18" charset="0"/>
              </a:rPr>
              <a:t>T</a:t>
            </a:r>
            <a:r>
              <a:rPr lang="en-US" altLang="en-US" sz="2300">
                <a:latin typeface="Times New Roman" panose="02020603050405020304" pitchFamily="18" charset="0"/>
              </a:rPr>
              <a:t> as the last matrix in the sequence of </a:t>
            </a:r>
            <a:r>
              <a:rPr lang="en-US" altLang="en-US" sz="2300" i="1">
                <a:latin typeface="Times New Roman" panose="02020603050405020304" pitchFamily="18" charset="0"/>
              </a:rPr>
              <a:t>n</a:t>
            </a:r>
            <a:r>
              <a:rPr lang="en-US" altLang="en-US" sz="2300">
                <a:latin typeface="Times New Roman" panose="02020603050405020304" pitchFamily="18" charset="0"/>
              </a:rPr>
              <a:t>-by-</a:t>
            </a:r>
            <a:r>
              <a:rPr lang="en-US" altLang="en-US" sz="2300" i="1">
                <a:latin typeface="Times New Roman" panose="02020603050405020304" pitchFamily="18" charset="0"/>
              </a:rPr>
              <a:t>n </a:t>
            </a:r>
            <a:r>
              <a:rPr lang="en-US" altLang="en-US" sz="2300">
                <a:latin typeface="Times New Roman" panose="02020603050405020304" pitchFamily="18" charset="0"/>
              </a:rPr>
              <a:t>matrices  </a:t>
            </a: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(0)</a:t>
            </a:r>
            <a:r>
              <a:rPr lang="en-US" altLang="en-US" sz="2300">
                <a:latin typeface="Times New Roman" panose="02020603050405020304" pitchFamily="18" charset="0"/>
              </a:rPr>
              <a:t>, … , </a:t>
            </a: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</a:t>
            </a:r>
            <a:r>
              <a:rPr lang="en-US" altLang="en-US" sz="2300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300" baseline="30000">
                <a:latin typeface="Times New Roman" panose="02020603050405020304" pitchFamily="18" charset="0"/>
              </a:rPr>
              <a:t>)</a:t>
            </a:r>
            <a:r>
              <a:rPr lang="en-US" altLang="en-US" sz="2300">
                <a:latin typeface="Times New Roman" panose="02020603050405020304" pitchFamily="18" charset="0"/>
              </a:rPr>
              <a:t>, … , </a:t>
            </a: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</a:t>
            </a:r>
            <a:r>
              <a:rPr lang="en-US" altLang="en-US" sz="2300" i="1" baseline="30000">
                <a:latin typeface="Times New Roman" panose="02020603050405020304" pitchFamily="18" charset="0"/>
              </a:rPr>
              <a:t>n</a:t>
            </a:r>
            <a:r>
              <a:rPr lang="en-US" altLang="en-US" sz="2300" baseline="30000">
                <a:latin typeface="Times New Roman" panose="02020603050405020304" pitchFamily="18" charset="0"/>
              </a:rPr>
              <a:t>)</a:t>
            </a:r>
            <a:r>
              <a:rPr lang="en-US" altLang="en-US" sz="2300">
                <a:latin typeface="Times New Roman" panose="02020603050405020304" pitchFamily="18" charset="0"/>
              </a:rPr>
              <a:t>  where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</a:t>
            </a:r>
            <a:r>
              <a:rPr lang="en-US" altLang="en-US" sz="2300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300" baseline="30000">
                <a:latin typeface="Times New Roman" panose="02020603050405020304" pitchFamily="18" charset="0"/>
              </a:rPr>
              <a:t>)</a:t>
            </a:r>
            <a:r>
              <a:rPr lang="en-US" altLang="en-US" sz="2300">
                <a:latin typeface="Times New Roman" panose="02020603050405020304" pitchFamily="18" charset="0"/>
              </a:rPr>
              <a:t>[</a:t>
            </a:r>
            <a:r>
              <a:rPr lang="en-US" altLang="en-US" sz="2300" i="1">
                <a:latin typeface="Times New Roman" panose="02020603050405020304" pitchFamily="18" charset="0"/>
              </a:rPr>
              <a:t>i</a:t>
            </a:r>
            <a:r>
              <a:rPr lang="en-US" altLang="en-US" sz="2300">
                <a:latin typeface="Times New Roman" panose="02020603050405020304" pitchFamily="18" charset="0"/>
              </a:rPr>
              <a:t>,</a:t>
            </a:r>
            <a:r>
              <a:rPr lang="en-US" altLang="en-US" sz="2300" i="1">
                <a:latin typeface="Times New Roman" panose="02020603050405020304" pitchFamily="18" charset="0"/>
              </a:rPr>
              <a:t>j</a:t>
            </a:r>
            <a:r>
              <a:rPr lang="en-US" altLang="en-US" sz="2300">
                <a:latin typeface="Times New Roman" panose="02020603050405020304" pitchFamily="18" charset="0"/>
              </a:rPr>
              <a:t>] = 1 iff there is nontrivial path from </a:t>
            </a:r>
            <a:r>
              <a:rPr lang="en-US" altLang="en-US" sz="2300" i="1">
                <a:latin typeface="Times New Roman" panose="02020603050405020304" pitchFamily="18" charset="0"/>
              </a:rPr>
              <a:t>i</a:t>
            </a:r>
            <a:r>
              <a:rPr lang="en-US" altLang="en-US" sz="2300">
                <a:latin typeface="Times New Roman" panose="02020603050405020304" pitchFamily="18" charset="0"/>
              </a:rPr>
              <a:t> to </a:t>
            </a:r>
            <a:r>
              <a:rPr lang="en-US" altLang="en-US" sz="2300" i="1">
                <a:latin typeface="Times New Roman" panose="02020603050405020304" pitchFamily="18" charset="0"/>
              </a:rPr>
              <a:t>j</a:t>
            </a:r>
            <a:r>
              <a:rPr lang="en-US" altLang="en-US" sz="2300">
                <a:latin typeface="Times New Roman" panose="02020603050405020304" pitchFamily="18" charset="0"/>
              </a:rPr>
              <a:t>  with only first </a:t>
            </a:r>
            <a:r>
              <a:rPr lang="en-US" altLang="en-US" sz="2300" i="1">
                <a:latin typeface="Times New Roman" panose="02020603050405020304" pitchFamily="18" charset="0"/>
              </a:rPr>
              <a:t>k </a:t>
            </a:r>
            <a:r>
              <a:rPr lang="en-US" altLang="en-US" sz="2300">
                <a:latin typeface="Times New Roman" panose="02020603050405020304" pitchFamily="18" charset="0"/>
              </a:rPr>
              <a:t>vertices allowed as intermediate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latin typeface="Times New Roman" panose="02020603050405020304" pitchFamily="18" charset="0"/>
              </a:rPr>
              <a:t>Note that </a:t>
            </a: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(0) </a:t>
            </a:r>
            <a:r>
              <a:rPr lang="en-US" altLang="en-US" sz="2300">
                <a:latin typeface="Times New Roman" panose="02020603050405020304" pitchFamily="18" charset="0"/>
              </a:rPr>
              <a:t>= </a:t>
            </a:r>
            <a:r>
              <a:rPr lang="en-US" altLang="en-US" sz="2300" i="1">
                <a:latin typeface="Times New Roman" panose="02020603050405020304" pitchFamily="18" charset="0"/>
              </a:rPr>
              <a:t>A </a:t>
            </a:r>
            <a:r>
              <a:rPr lang="en-US" altLang="en-US" sz="2300">
                <a:latin typeface="Times New Roman" panose="02020603050405020304" pitchFamily="18" charset="0"/>
              </a:rPr>
              <a:t>(adjacency matrix), </a:t>
            </a:r>
            <a:r>
              <a:rPr lang="en-US" altLang="en-US" sz="2300" i="1">
                <a:latin typeface="Times New Roman" panose="02020603050405020304" pitchFamily="18" charset="0"/>
              </a:rPr>
              <a:t>R</a:t>
            </a:r>
            <a:r>
              <a:rPr lang="en-US" altLang="en-US" sz="2300" baseline="30000">
                <a:latin typeface="Times New Roman" panose="02020603050405020304" pitchFamily="18" charset="0"/>
              </a:rPr>
              <a:t>(</a:t>
            </a:r>
            <a:r>
              <a:rPr lang="en-US" altLang="en-US" sz="2300" i="1" baseline="30000">
                <a:latin typeface="Times New Roman" panose="02020603050405020304" pitchFamily="18" charset="0"/>
              </a:rPr>
              <a:t>n</a:t>
            </a:r>
            <a:r>
              <a:rPr lang="en-US" altLang="en-US" sz="2300" baseline="30000">
                <a:latin typeface="Times New Roman" panose="02020603050405020304" pitchFamily="18" charset="0"/>
              </a:rPr>
              <a:t>)</a:t>
            </a:r>
            <a:r>
              <a:rPr lang="en-US" altLang="en-US" sz="2300" i="1" baseline="-25000">
                <a:latin typeface="Times New Roman" panose="02020603050405020304" pitchFamily="18" charset="0"/>
              </a:rPr>
              <a:t> </a:t>
            </a:r>
            <a:r>
              <a:rPr lang="en-US" altLang="en-US" sz="2300" i="1">
                <a:latin typeface="Times New Roman" panose="02020603050405020304" pitchFamily="18" charset="0"/>
              </a:rPr>
              <a:t>= T  </a:t>
            </a:r>
            <a:r>
              <a:rPr lang="en-US" altLang="en-US" sz="2300">
                <a:latin typeface="Times New Roman" panose="02020603050405020304" pitchFamily="18" charset="0"/>
              </a:rPr>
              <a:t>(transitive closure) </a:t>
            </a:r>
          </a:p>
        </p:txBody>
      </p:sp>
      <p:grpSp>
        <p:nvGrpSpPr>
          <p:cNvPr id="32772" name="Group 68">
            <a:extLst>
              <a:ext uri="{FF2B5EF4-FFF2-40B4-BE49-F238E27FC236}">
                <a16:creationId xmlns:a16="http://schemas.microsoft.com/office/drawing/2014/main" id="{70DC038D-EEA3-20BF-50E7-160DD64451D8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3124200"/>
            <a:ext cx="8001000" cy="3065463"/>
            <a:chOff x="381000" y="3124200"/>
            <a:chExt cx="8489950" cy="3065463"/>
          </a:xfrm>
        </p:grpSpPr>
        <p:grpSp>
          <p:nvGrpSpPr>
            <p:cNvPr id="32773" name="Group 1028">
              <a:extLst>
                <a:ext uri="{FF2B5EF4-FFF2-40B4-BE49-F238E27FC236}">
                  <a16:creationId xmlns:a16="http://schemas.microsoft.com/office/drawing/2014/main" id="{8636DB09-B8A3-317B-D58B-BE1A8C2CA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3200400"/>
              <a:ext cx="1447800" cy="1295400"/>
              <a:chOff x="576" y="1824"/>
              <a:chExt cx="1392" cy="1296"/>
            </a:xfrm>
          </p:grpSpPr>
          <p:sp>
            <p:nvSpPr>
              <p:cNvPr id="32830" name="Oval 1029">
                <a:extLst>
                  <a:ext uri="{FF2B5EF4-FFF2-40B4-BE49-F238E27FC236}">
                    <a16:creationId xmlns:a16="http://schemas.microsoft.com/office/drawing/2014/main" id="{FB06ECBC-1F3F-CAC5-17F9-3CDACCD0E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82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31" name="Oval 1030">
                <a:extLst>
                  <a:ext uri="{FF2B5EF4-FFF2-40B4-BE49-F238E27FC236}">
                    <a16:creationId xmlns:a16="http://schemas.microsoft.com/office/drawing/2014/main" id="{F8D86BFB-3960-95C9-2C01-5C252F2F6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832" name="Oval 1031">
                <a:extLst>
                  <a:ext uri="{FF2B5EF4-FFF2-40B4-BE49-F238E27FC236}">
                    <a16:creationId xmlns:a16="http://schemas.microsoft.com/office/drawing/2014/main" id="{F6ADEC8E-C108-F67D-A028-7CF786D7D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33" name="Oval 1032">
                <a:extLst>
                  <a:ext uri="{FF2B5EF4-FFF2-40B4-BE49-F238E27FC236}">
                    <a16:creationId xmlns:a16="http://schemas.microsoft.com/office/drawing/2014/main" id="{4FC248D8-E296-2CD3-22FC-B53D7BBA2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6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34" name="Line 1033">
                <a:extLst>
                  <a:ext uri="{FF2B5EF4-FFF2-40B4-BE49-F238E27FC236}">
                    <a16:creationId xmlns:a16="http://schemas.microsoft.com/office/drawing/2014/main" id="{ADEB508C-73D7-CE31-9406-FDA49CE97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1968"/>
                <a:ext cx="624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35" name="AutoShape 1034">
                <a:extLst>
                  <a:ext uri="{FF2B5EF4-FFF2-40B4-BE49-F238E27FC236}">
                    <a16:creationId xmlns:a16="http://schemas.microsoft.com/office/drawing/2014/main" id="{DC5FFC1F-49AC-B01D-A9A1-71BAF0E341A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12" y="2976"/>
                <a:ext cx="892" cy="2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36" name="AutoShape 1035">
                <a:extLst>
                  <a:ext uri="{FF2B5EF4-FFF2-40B4-BE49-F238E27FC236}">
                    <a16:creationId xmlns:a16="http://schemas.microsoft.com/office/drawing/2014/main" id="{8FEAF8BB-B690-A1D5-65E6-BE53A8445429}"/>
                  </a:ext>
                </a:extLst>
              </p:cNvPr>
              <p:cNvCxnSpPr>
                <a:cxnSpLocks noChangeShapeType="1"/>
                <a:stCxn id="32831" idx="1"/>
                <a:endCxn id="32832" idx="7"/>
              </p:cNvCxnSpPr>
              <p:nvPr/>
            </p:nvCxnSpPr>
            <p:spPr bwMode="auto">
              <a:xfrm rot="-5400000" flipH="1" flipV="1">
                <a:off x="1296" y="2448"/>
                <a:ext cx="96" cy="920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37" name="Line 1036">
                <a:extLst>
                  <a:ext uri="{FF2B5EF4-FFF2-40B4-BE49-F238E27FC236}">
                    <a16:creationId xmlns:a16="http://schemas.microsoft.com/office/drawing/2014/main" id="{66391043-5BA5-527F-A609-DE4D989CC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256"/>
                <a:ext cx="96" cy="67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4" name="Group 1037">
              <a:extLst>
                <a:ext uri="{FF2B5EF4-FFF2-40B4-BE49-F238E27FC236}">
                  <a16:creationId xmlns:a16="http://schemas.microsoft.com/office/drawing/2014/main" id="{71750D71-4FC2-27F9-E839-386661465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3200400"/>
              <a:ext cx="1524000" cy="1295400"/>
              <a:chOff x="2928" y="1824"/>
              <a:chExt cx="1392" cy="1296"/>
            </a:xfrm>
          </p:grpSpPr>
          <p:sp>
            <p:nvSpPr>
              <p:cNvPr id="32821" name="Oval 1038">
                <a:extLst>
                  <a:ext uri="{FF2B5EF4-FFF2-40B4-BE49-F238E27FC236}">
                    <a16:creationId xmlns:a16="http://schemas.microsoft.com/office/drawing/2014/main" id="{1ED51466-A72D-DEBE-31D7-60F1622DB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82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22" name="Oval 1039">
                <a:extLst>
                  <a:ext uri="{FF2B5EF4-FFF2-40B4-BE49-F238E27FC236}">
                    <a16:creationId xmlns:a16="http://schemas.microsoft.com/office/drawing/2014/main" id="{EE1E4FD1-741B-A5FD-0A29-7ED825E4D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8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823" name="Oval 1040">
                <a:extLst>
                  <a:ext uri="{FF2B5EF4-FFF2-40B4-BE49-F238E27FC236}">
                    <a16:creationId xmlns:a16="http://schemas.microsoft.com/office/drawing/2014/main" id="{15424D84-C434-FDB6-799E-D5004606A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24" name="Oval 1041">
                <a:extLst>
                  <a:ext uri="{FF2B5EF4-FFF2-40B4-BE49-F238E27FC236}">
                    <a16:creationId xmlns:a16="http://schemas.microsoft.com/office/drawing/2014/main" id="{6F55ADEF-DA3F-F77A-08C2-2C369D939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06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25" name="Line 1042">
                <a:extLst>
                  <a:ext uri="{FF2B5EF4-FFF2-40B4-BE49-F238E27FC236}">
                    <a16:creationId xmlns:a16="http://schemas.microsoft.com/office/drawing/2014/main" id="{9EEBDE6E-4EC3-FEAB-1E49-69281BC5B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1968"/>
                <a:ext cx="624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26" name="AutoShape 1043">
                <a:extLst>
                  <a:ext uri="{FF2B5EF4-FFF2-40B4-BE49-F238E27FC236}">
                    <a16:creationId xmlns:a16="http://schemas.microsoft.com/office/drawing/2014/main" id="{AC9DD658-849F-21D8-BAB8-81E64FF782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264" y="2976"/>
                <a:ext cx="892" cy="2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7" name="AutoShape 1044">
                <a:extLst>
                  <a:ext uri="{FF2B5EF4-FFF2-40B4-BE49-F238E27FC236}">
                    <a16:creationId xmlns:a16="http://schemas.microsoft.com/office/drawing/2014/main" id="{2F67CCEF-429A-5B94-3742-FFDA22331D64}"/>
                  </a:ext>
                </a:extLst>
              </p:cNvPr>
              <p:cNvCxnSpPr>
                <a:cxnSpLocks noChangeShapeType="1"/>
                <a:stCxn id="32822" idx="1"/>
                <a:endCxn id="32823" idx="7"/>
              </p:cNvCxnSpPr>
              <p:nvPr/>
            </p:nvCxnSpPr>
            <p:spPr bwMode="auto">
              <a:xfrm rot="-5400000" flipH="1" flipV="1">
                <a:off x="3648" y="2448"/>
                <a:ext cx="96" cy="920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28" name="Line 1045">
                <a:extLst>
                  <a:ext uri="{FF2B5EF4-FFF2-40B4-BE49-F238E27FC236}">
                    <a16:creationId xmlns:a16="http://schemas.microsoft.com/office/drawing/2014/main" id="{331FDDCD-56ED-BECE-3FF3-224820CA3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24" y="2256"/>
                <a:ext cx="96" cy="67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29" name="Line 1046">
                <a:extLst>
                  <a:ext uri="{FF2B5EF4-FFF2-40B4-BE49-F238E27FC236}">
                    <a16:creationId xmlns:a16="http://schemas.microsoft.com/office/drawing/2014/main" id="{A4C28CB2-76B9-B1A7-12DC-72529C3CD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2016"/>
                <a:ext cx="624" cy="912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5" name="Group 1047">
              <a:extLst>
                <a:ext uri="{FF2B5EF4-FFF2-40B4-BE49-F238E27FC236}">
                  <a16:creationId xmlns:a16="http://schemas.microsoft.com/office/drawing/2014/main" id="{CC36F122-3AD6-F8C6-8111-15699F57C1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3800" y="3200400"/>
              <a:ext cx="1327150" cy="1263650"/>
              <a:chOff x="4752" y="1776"/>
              <a:chExt cx="836" cy="796"/>
            </a:xfrm>
          </p:grpSpPr>
          <p:sp>
            <p:nvSpPr>
              <p:cNvPr id="32808" name="Oval 1048">
                <a:extLst>
                  <a:ext uri="{FF2B5EF4-FFF2-40B4-BE49-F238E27FC236}">
                    <a16:creationId xmlns:a16="http://schemas.microsoft.com/office/drawing/2014/main" id="{13458D29-BBAA-95E4-0A6D-C8B1B2C94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2" y="1776"/>
                <a:ext cx="115" cy="118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809" name="Oval 1049">
                <a:extLst>
                  <a:ext uri="{FF2B5EF4-FFF2-40B4-BE49-F238E27FC236}">
                    <a16:creationId xmlns:a16="http://schemas.microsoft.com/office/drawing/2014/main" id="{C2575283-674E-515F-9769-B0EF3D454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3" y="2395"/>
                <a:ext cx="115" cy="118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810" name="Oval 1050">
                <a:extLst>
                  <a:ext uri="{FF2B5EF4-FFF2-40B4-BE49-F238E27FC236}">
                    <a16:creationId xmlns:a16="http://schemas.microsoft.com/office/drawing/2014/main" id="{95A5EF74-2907-C377-96AE-4D3CBF92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8" y="2454"/>
                <a:ext cx="116" cy="118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11" name="Oval 1051">
                <a:extLst>
                  <a:ext uri="{FF2B5EF4-FFF2-40B4-BE49-F238E27FC236}">
                    <a16:creationId xmlns:a16="http://schemas.microsoft.com/office/drawing/2014/main" id="{26AF8DB0-CBB0-B532-FF9D-F4F592A47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923"/>
                <a:ext cx="115" cy="118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12" name="Line 1052">
                <a:extLst>
                  <a:ext uri="{FF2B5EF4-FFF2-40B4-BE49-F238E27FC236}">
                    <a16:creationId xmlns:a16="http://schemas.microsoft.com/office/drawing/2014/main" id="{6944FE3B-4E6E-13C7-A02F-15DC40B1C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67" y="1864"/>
                <a:ext cx="375" cy="89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13" name="AutoShape 1053">
                <a:extLst>
                  <a:ext uri="{FF2B5EF4-FFF2-40B4-BE49-F238E27FC236}">
                    <a16:creationId xmlns:a16="http://schemas.microsoft.com/office/drawing/2014/main" id="{BD6D1966-F65F-5D23-5957-B287DAC8CBB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954" y="2484"/>
                <a:ext cx="536" cy="17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4" name="AutoShape 1054">
                <a:extLst>
                  <a:ext uri="{FF2B5EF4-FFF2-40B4-BE49-F238E27FC236}">
                    <a16:creationId xmlns:a16="http://schemas.microsoft.com/office/drawing/2014/main" id="{266E54E3-2393-7114-F567-99337357D712}"/>
                  </a:ext>
                </a:extLst>
              </p:cNvPr>
              <p:cNvCxnSpPr>
                <a:cxnSpLocks noChangeShapeType="1"/>
                <a:stCxn id="32809" idx="1"/>
                <a:endCxn id="32810" idx="7"/>
              </p:cNvCxnSpPr>
              <p:nvPr/>
            </p:nvCxnSpPr>
            <p:spPr bwMode="auto">
              <a:xfrm rot="-5400000" flipH="1" flipV="1">
                <a:off x="5184" y="2165"/>
                <a:ext cx="59" cy="553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15" name="Line 1055">
                <a:extLst>
                  <a:ext uri="{FF2B5EF4-FFF2-40B4-BE49-F238E27FC236}">
                    <a16:creationId xmlns:a16="http://schemas.microsoft.com/office/drawing/2014/main" id="{8B7489AA-6630-03E8-92A4-A707107D0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10" y="2041"/>
                <a:ext cx="57" cy="41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6" name="Line 1056">
                <a:extLst>
                  <a:ext uri="{FF2B5EF4-FFF2-40B4-BE49-F238E27FC236}">
                    <a16:creationId xmlns:a16="http://schemas.microsoft.com/office/drawing/2014/main" id="{14652772-98DB-2FD6-1FFE-7956A8A77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96" y="1894"/>
                <a:ext cx="375" cy="56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7" name="Line 1057">
                <a:extLst>
                  <a:ext uri="{FF2B5EF4-FFF2-40B4-BE49-F238E27FC236}">
                    <a16:creationId xmlns:a16="http://schemas.microsoft.com/office/drawing/2014/main" id="{43921F73-094A-3FB6-2E07-7D0501A92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0" y="1894"/>
                <a:ext cx="230" cy="501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18" name="AutoShape 1058">
                <a:extLst>
                  <a:ext uri="{FF2B5EF4-FFF2-40B4-BE49-F238E27FC236}">
                    <a16:creationId xmlns:a16="http://schemas.microsoft.com/office/drawing/2014/main" id="{64819968-9EC5-8A2E-BEEA-F3E270944A8B}"/>
                  </a:ext>
                </a:extLst>
              </p:cNvPr>
              <p:cNvCxnSpPr>
                <a:cxnSpLocks noChangeShapeType="1"/>
                <a:stCxn id="32810" idx="2"/>
                <a:endCxn id="32810" idx="3"/>
              </p:cNvCxnSpPr>
              <p:nvPr/>
            </p:nvCxnSpPr>
            <p:spPr bwMode="auto">
              <a:xfrm rot="10800000" flipH="1" flipV="1">
                <a:off x="4838" y="2513"/>
                <a:ext cx="17" cy="42"/>
              </a:xfrm>
              <a:prstGeom prst="curvedConnector4">
                <a:avLst>
                  <a:gd name="adj1" fmla="val -514287"/>
                  <a:gd name="adj2" fmla="val 352940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9" name="AutoShape 1059">
                <a:extLst>
                  <a:ext uri="{FF2B5EF4-FFF2-40B4-BE49-F238E27FC236}">
                    <a16:creationId xmlns:a16="http://schemas.microsoft.com/office/drawing/2014/main" id="{5CD1A338-C46F-60C2-4611-FBBDF96F2BA9}"/>
                  </a:ext>
                </a:extLst>
              </p:cNvPr>
              <p:cNvCxnSpPr>
                <a:cxnSpLocks noChangeShapeType="1"/>
                <a:stCxn id="32809" idx="7"/>
                <a:endCxn id="32809" idx="6"/>
              </p:cNvCxnSpPr>
              <p:nvPr/>
            </p:nvCxnSpPr>
            <p:spPr bwMode="auto">
              <a:xfrm rot="5400000" flipV="1">
                <a:off x="5559" y="2424"/>
                <a:ext cx="42" cy="17"/>
              </a:xfrm>
              <a:prstGeom prst="curvedConnector4">
                <a:avLst>
                  <a:gd name="adj1" fmla="val -252940"/>
                  <a:gd name="adj2" fmla="val 6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20" name="Line 1060">
                <a:extLst>
                  <a:ext uri="{FF2B5EF4-FFF2-40B4-BE49-F238E27FC236}">
                    <a16:creationId xmlns:a16="http://schemas.microsoft.com/office/drawing/2014/main" id="{AC7C2B3C-9743-8EF0-091E-65EE62E7F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67" y="2012"/>
                <a:ext cx="635" cy="38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6" name="Group 1061">
              <a:extLst>
                <a:ext uri="{FF2B5EF4-FFF2-40B4-BE49-F238E27FC236}">
                  <a16:creationId xmlns:a16="http://schemas.microsoft.com/office/drawing/2014/main" id="{52CB6086-0512-4F01-0F9C-A0985CE522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3124200"/>
              <a:ext cx="1524000" cy="1295400"/>
              <a:chOff x="3600" y="1824"/>
              <a:chExt cx="960" cy="816"/>
            </a:xfrm>
          </p:grpSpPr>
          <p:sp>
            <p:nvSpPr>
              <p:cNvPr id="32796" name="Oval 1062">
                <a:extLst>
                  <a:ext uri="{FF2B5EF4-FFF2-40B4-BE49-F238E27FC236}">
                    <a16:creationId xmlns:a16="http://schemas.microsoft.com/office/drawing/2014/main" id="{6CD499A8-2A98-17A1-D923-5FF3DBC22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3" y="1824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797" name="Oval 1063">
                <a:extLst>
                  <a:ext uri="{FF2B5EF4-FFF2-40B4-BE49-F238E27FC236}">
                    <a16:creationId xmlns:a16="http://schemas.microsoft.com/office/drawing/2014/main" id="{FF3A3DEC-BE8F-2072-F6E5-199A16D08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459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798" name="Oval 1064">
                <a:extLst>
                  <a:ext uri="{FF2B5EF4-FFF2-40B4-BE49-F238E27FC236}">
                    <a16:creationId xmlns:a16="http://schemas.microsoft.com/office/drawing/2014/main" id="{C60A6417-68F5-5F2F-F840-791D7FFE3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9" y="2519"/>
                <a:ext cx="133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799" name="Oval 1065">
                <a:extLst>
                  <a:ext uri="{FF2B5EF4-FFF2-40B4-BE49-F238E27FC236}">
                    <a16:creationId xmlns:a16="http://schemas.microsoft.com/office/drawing/2014/main" id="{0E66CC4C-7FFB-55BB-9CD5-8014048E9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975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00" name="Line 1066">
                <a:extLst>
                  <a:ext uri="{FF2B5EF4-FFF2-40B4-BE49-F238E27FC236}">
                    <a16:creationId xmlns:a16="http://schemas.microsoft.com/office/drawing/2014/main" id="{481C2527-83C9-1859-EE52-D5E1FE9FC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32" y="1915"/>
                <a:ext cx="431" cy="9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01" name="AutoShape 1067">
                <a:extLst>
                  <a:ext uri="{FF2B5EF4-FFF2-40B4-BE49-F238E27FC236}">
                    <a16:creationId xmlns:a16="http://schemas.microsoft.com/office/drawing/2014/main" id="{A6A91764-4042-D162-E184-93513B37C4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832" y="2549"/>
                <a:ext cx="615" cy="1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2" name="AutoShape 1068">
                <a:extLst>
                  <a:ext uri="{FF2B5EF4-FFF2-40B4-BE49-F238E27FC236}">
                    <a16:creationId xmlns:a16="http://schemas.microsoft.com/office/drawing/2014/main" id="{10CCB8F8-A70D-A520-C168-9A9219DC6966}"/>
                  </a:ext>
                </a:extLst>
              </p:cNvPr>
              <p:cNvCxnSpPr>
                <a:cxnSpLocks noChangeShapeType="1"/>
                <a:stCxn id="32797" idx="1"/>
                <a:endCxn id="32798" idx="7"/>
              </p:cNvCxnSpPr>
              <p:nvPr/>
            </p:nvCxnSpPr>
            <p:spPr bwMode="auto">
              <a:xfrm rot="-5400000" flipH="1" flipV="1">
                <a:off x="4099" y="2189"/>
                <a:ext cx="61" cy="635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03" name="Line 1069">
                <a:extLst>
                  <a:ext uri="{FF2B5EF4-FFF2-40B4-BE49-F238E27FC236}">
                    <a16:creationId xmlns:a16="http://schemas.microsoft.com/office/drawing/2014/main" id="{32E121ED-919B-C6F1-2D06-994831004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6" y="2096"/>
                <a:ext cx="66" cy="42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4" name="Line 1070">
                <a:extLst>
                  <a:ext uri="{FF2B5EF4-FFF2-40B4-BE49-F238E27FC236}">
                    <a16:creationId xmlns:a16="http://schemas.microsoft.com/office/drawing/2014/main" id="{D0225447-A387-E54B-A01B-6D142D782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6" y="1945"/>
                <a:ext cx="430" cy="5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805" name="AutoShape 1071">
                <a:extLst>
                  <a:ext uri="{FF2B5EF4-FFF2-40B4-BE49-F238E27FC236}">
                    <a16:creationId xmlns:a16="http://schemas.microsoft.com/office/drawing/2014/main" id="{788F7AD8-15B1-ABA9-1D14-490EEFC6F4C7}"/>
                  </a:ext>
                </a:extLst>
              </p:cNvPr>
              <p:cNvCxnSpPr>
                <a:cxnSpLocks noChangeShapeType="1"/>
                <a:stCxn id="32797" idx="7"/>
                <a:endCxn id="32797" idx="6"/>
              </p:cNvCxnSpPr>
              <p:nvPr/>
            </p:nvCxnSpPr>
            <p:spPr bwMode="auto">
              <a:xfrm rot="5400000" flipV="1">
                <a:off x="4529" y="2488"/>
                <a:ext cx="43" cy="19"/>
              </a:xfrm>
              <a:prstGeom prst="curvedConnector4">
                <a:avLst>
                  <a:gd name="adj1" fmla="val -252940"/>
                  <a:gd name="adj2" fmla="val 6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806" name="Line 1072">
                <a:extLst>
                  <a:ext uri="{FF2B5EF4-FFF2-40B4-BE49-F238E27FC236}">
                    <a16:creationId xmlns:a16="http://schemas.microsoft.com/office/drawing/2014/main" id="{639BFCD7-65E0-F6F7-79B1-80D46240F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2" y="2066"/>
                <a:ext cx="729" cy="39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7" name="Line 1073">
                <a:extLst>
                  <a:ext uri="{FF2B5EF4-FFF2-40B4-BE49-F238E27FC236}">
                    <a16:creationId xmlns:a16="http://schemas.microsoft.com/office/drawing/2014/main" id="{C4E2299B-80EA-827E-E90C-B7F692BE6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24" y="1920"/>
                <a:ext cx="24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777" name="Text Box 1074">
              <a:extLst>
                <a:ext uri="{FF2B5EF4-FFF2-40B4-BE49-F238E27FC236}">
                  <a16:creationId xmlns:a16="http://schemas.microsoft.com/office/drawing/2014/main" id="{4785C749-7298-B1F8-72BE-2F2AFBB21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724400"/>
              <a:ext cx="984250" cy="146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     </a:t>
              </a:r>
              <a:r>
                <a:rPr lang="en-US" altLang="en-US" sz="1800" i="1">
                  <a:latin typeface="Times New Roman" panose="02020603050405020304" pitchFamily="18" charset="0"/>
                </a:rPr>
                <a:t>R</a:t>
              </a:r>
              <a:r>
                <a:rPr lang="en-US" altLang="en-US" sz="1800" baseline="30000">
                  <a:latin typeface="Times New Roman" panose="02020603050405020304" pitchFamily="18" charset="0"/>
                </a:rPr>
                <a:t>(0)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1  0  0  1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0  1  0  0</a:t>
              </a:r>
            </a:p>
          </p:txBody>
        </p:sp>
        <p:sp>
          <p:nvSpPr>
            <p:cNvPr id="437299" name="Text Box 1075">
              <a:extLst>
                <a:ext uri="{FF2B5EF4-FFF2-40B4-BE49-F238E27FC236}">
                  <a16:creationId xmlns:a16="http://schemas.microsoft.com/office/drawing/2014/main" id="{09309461-A254-4FCA-BDFE-D18A70A95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894" y="4724400"/>
              <a:ext cx="985440" cy="1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/>
                <a:t>     </a:t>
              </a:r>
              <a:r>
                <a:rPr lang="en-US" sz="1800" i="1" dirty="0"/>
                <a:t>R</a:t>
              </a:r>
              <a:r>
                <a:rPr lang="en-US" sz="1800" baseline="30000" dirty="0"/>
                <a:t>(1)</a:t>
              </a:r>
            </a:p>
            <a:p>
              <a:pPr>
                <a:defRPr/>
              </a:pPr>
              <a:r>
                <a:rPr lang="en-US" sz="1800" dirty="0"/>
                <a:t>0  0  1  0</a:t>
              </a:r>
            </a:p>
            <a:p>
              <a:pPr>
                <a:defRPr/>
              </a:pPr>
              <a:r>
                <a:rPr lang="en-US" sz="1800" dirty="0"/>
                <a:t>1  0</a:t>
              </a:r>
              <a:r>
                <a:rPr lang="en-US" sz="18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sz="1800" dirty="0"/>
                <a:t>  1</a:t>
              </a:r>
            </a:p>
            <a:p>
              <a:pPr>
                <a:defRPr/>
              </a:pPr>
              <a:r>
                <a:rPr lang="en-US" sz="1800" dirty="0"/>
                <a:t>0  0  0  0</a:t>
              </a:r>
            </a:p>
            <a:p>
              <a:pPr>
                <a:defRPr/>
              </a:pPr>
              <a:r>
                <a:rPr lang="en-US" sz="1800" dirty="0"/>
                <a:t>0  1  0  0</a:t>
              </a:r>
              <a:endParaRPr lang="en-US" sz="1800" b="1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37300" name="Text Box 1076">
              <a:extLst>
                <a:ext uri="{FF2B5EF4-FFF2-40B4-BE49-F238E27FC236}">
                  <a16:creationId xmlns:a16="http://schemas.microsoft.com/office/drawing/2014/main" id="{62A9D2F1-0286-4895-9383-97C65E180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473" y="4724400"/>
              <a:ext cx="983756" cy="1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/>
                <a:t>     </a:t>
              </a:r>
              <a:r>
                <a:rPr lang="en-US" sz="1800" i="1" dirty="0"/>
                <a:t>R</a:t>
              </a:r>
              <a:r>
                <a:rPr lang="en-US" sz="1800" baseline="30000" dirty="0"/>
                <a:t>(2)</a:t>
              </a:r>
            </a:p>
            <a:p>
              <a:pPr>
                <a:defRPr/>
              </a:pPr>
              <a:r>
                <a:rPr lang="en-US" sz="1800" dirty="0"/>
                <a:t>0  0  1  0</a:t>
              </a:r>
            </a:p>
            <a:p>
              <a:pPr>
                <a:defRPr/>
              </a:pPr>
              <a:r>
                <a:rPr lang="en-US" sz="1800" dirty="0"/>
                <a:t>1  0  1  1</a:t>
              </a:r>
            </a:p>
            <a:p>
              <a:pPr>
                <a:defRPr/>
              </a:pPr>
              <a:r>
                <a:rPr lang="en-US" sz="1800" dirty="0"/>
                <a:t>0  0  0  0</a:t>
              </a:r>
            </a:p>
            <a:p>
              <a:pPr>
                <a:defRPr/>
              </a:pP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</a:t>
              </a:r>
              <a:r>
                <a:rPr lang="en-US" sz="1800" dirty="0"/>
                <a:t> 1  </a:t>
              </a: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1  1</a:t>
              </a:r>
            </a:p>
          </p:txBody>
        </p:sp>
        <p:sp>
          <p:nvSpPr>
            <p:cNvPr id="437301" name="Text Box 1077">
              <a:extLst>
                <a:ext uri="{FF2B5EF4-FFF2-40B4-BE49-F238E27FC236}">
                  <a16:creationId xmlns:a16="http://schemas.microsoft.com/office/drawing/2014/main" id="{B7AE24EF-9E11-41C8-80DA-3C02C2F29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265" y="4724400"/>
              <a:ext cx="983756" cy="1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/>
                <a:t>     </a:t>
              </a:r>
              <a:r>
                <a:rPr lang="en-US" sz="1800" i="1"/>
                <a:t>R</a:t>
              </a:r>
              <a:r>
                <a:rPr lang="en-US" sz="1800" baseline="30000"/>
                <a:t>(3)</a:t>
              </a:r>
            </a:p>
            <a:p>
              <a:pPr>
                <a:defRPr/>
              </a:pPr>
              <a:r>
                <a:rPr lang="en-US" sz="1800"/>
                <a:t>0  0  1  0</a:t>
              </a:r>
            </a:p>
            <a:p>
              <a:pPr>
                <a:defRPr/>
              </a:pPr>
              <a:r>
                <a:rPr lang="en-US" sz="1800"/>
                <a:t>1  0  1  1</a:t>
              </a:r>
            </a:p>
            <a:p>
              <a:pPr>
                <a:defRPr/>
              </a:pPr>
              <a:r>
                <a:rPr lang="en-US" sz="1800"/>
                <a:t>0  0  0  0</a:t>
              </a:r>
            </a:p>
            <a:p>
              <a:pPr>
                <a:defRPr/>
              </a:pPr>
              <a:r>
                <a:rPr lang="en-US" sz="1800"/>
                <a:t>1  1  1  1</a:t>
              </a:r>
              <a:endParaRPr lang="en-US" sz="1800" b="1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37302" name="Text Box 1078">
              <a:extLst>
                <a:ext uri="{FF2B5EF4-FFF2-40B4-BE49-F238E27FC236}">
                  <a16:creationId xmlns:a16="http://schemas.microsoft.com/office/drawing/2014/main" id="{7D0FD29E-E9F7-441D-9F36-8D0EABD96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647" y="4724400"/>
              <a:ext cx="983756" cy="1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/>
                <a:t>     </a:t>
              </a:r>
              <a:r>
                <a:rPr lang="en-US" sz="1800" i="1" dirty="0"/>
                <a:t>R</a:t>
              </a:r>
              <a:r>
                <a:rPr lang="en-US" sz="1800" baseline="30000" dirty="0"/>
                <a:t>(4)</a:t>
              </a:r>
            </a:p>
            <a:p>
              <a:pPr>
                <a:defRPr/>
              </a:pPr>
              <a:r>
                <a:rPr lang="en-US" sz="1800" dirty="0"/>
                <a:t>0  0  1  0</a:t>
              </a:r>
            </a:p>
            <a:p>
              <a:pPr>
                <a:defRPr/>
              </a:pPr>
              <a:r>
                <a:rPr lang="en-US" sz="1800" dirty="0"/>
                <a:t>1  </a:t>
              </a:r>
              <a:r>
                <a:rPr lang="en-US" sz="1800" b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lang="en-US" sz="1800" dirty="0"/>
                <a:t>  1  1</a:t>
              </a:r>
            </a:p>
            <a:p>
              <a:pPr>
                <a:defRPr/>
              </a:pPr>
              <a:r>
                <a:rPr lang="en-US" sz="1800" dirty="0"/>
                <a:t>0  0  0  0</a:t>
              </a:r>
            </a:p>
            <a:p>
              <a:pPr>
                <a:defRPr/>
              </a:pPr>
              <a:r>
                <a:rPr lang="en-US" sz="1800" dirty="0"/>
                <a:t>1  1  1  1</a:t>
              </a:r>
              <a:endParaRPr lang="en-US" sz="1800" b="1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2782" name="Line 1079">
              <a:extLst>
                <a:ext uri="{FF2B5EF4-FFF2-40B4-BE49-F238E27FC236}">
                  <a16:creationId xmlns:a16="http://schemas.microsoft.com/office/drawing/2014/main" id="{4391C14D-175E-DAF0-4F4D-CD9139AA2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9800" y="3352800"/>
              <a:ext cx="685800" cy="914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783" name="Group 1080">
              <a:extLst>
                <a:ext uri="{FF2B5EF4-FFF2-40B4-BE49-F238E27FC236}">
                  <a16:creationId xmlns:a16="http://schemas.microsoft.com/office/drawing/2014/main" id="{6B8F6E8A-24E0-E95C-2FBC-12E622307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3200400"/>
              <a:ext cx="1524000" cy="1295400"/>
              <a:chOff x="2352" y="1872"/>
              <a:chExt cx="960" cy="816"/>
            </a:xfrm>
          </p:grpSpPr>
          <p:sp>
            <p:nvSpPr>
              <p:cNvPr id="32784" name="Oval 1081">
                <a:extLst>
                  <a:ext uri="{FF2B5EF4-FFF2-40B4-BE49-F238E27FC236}">
                    <a16:creationId xmlns:a16="http://schemas.microsoft.com/office/drawing/2014/main" id="{686C0C75-58A8-C244-B332-56A155588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5" y="1872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2785" name="Oval 1082">
                <a:extLst>
                  <a:ext uri="{FF2B5EF4-FFF2-40B4-BE49-F238E27FC236}">
                    <a16:creationId xmlns:a16="http://schemas.microsoft.com/office/drawing/2014/main" id="{93B7E5CD-4CF8-4CC6-CE4B-2CD8B6FFA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2507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2786" name="Oval 1083">
                <a:extLst>
                  <a:ext uri="{FF2B5EF4-FFF2-40B4-BE49-F238E27FC236}">
                    <a16:creationId xmlns:a16="http://schemas.microsoft.com/office/drawing/2014/main" id="{DEED94BC-B93F-83F1-4280-C241E8568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1" y="2567"/>
                <a:ext cx="133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787" name="Oval 1084">
                <a:extLst>
                  <a:ext uri="{FF2B5EF4-FFF2-40B4-BE49-F238E27FC236}">
                    <a16:creationId xmlns:a16="http://schemas.microsoft.com/office/drawing/2014/main" id="{32EE04AE-AA14-E466-9826-8B34F9AFE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023"/>
                <a:ext cx="132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788" name="Line 1085">
                <a:extLst>
                  <a:ext uri="{FF2B5EF4-FFF2-40B4-BE49-F238E27FC236}">
                    <a16:creationId xmlns:a16="http://schemas.microsoft.com/office/drawing/2014/main" id="{13C660BC-9AA5-FE36-CA45-9E1042FD0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4" y="1963"/>
                <a:ext cx="431" cy="9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789" name="AutoShape 1086">
                <a:extLst>
                  <a:ext uri="{FF2B5EF4-FFF2-40B4-BE49-F238E27FC236}">
                    <a16:creationId xmlns:a16="http://schemas.microsoft.com/office/drawing/2014/main" id="{D80B70A4-66BC-D943-C799-A4D5ED8ABF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84" y="2597"/>
                <a:ext cx="615" cy="1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90" name="AutoShape 1087">
                <a:extLst>
                  <a:ext uri="{FF2B5EF4-FFF2-40B4-BE49-F238E27FC236}">
                    <a16:creationId xmlns:a16="http://schemas.microsoft.com/office/drawing/2014/main" id="{9D3D285E-CAC9-1DFC-6DA7-7064882596EF}"/>
                  </a:ext>
                </a:extLst>
              </p:cNvPr>
              <p:cNvCxnSpPr>
                <a:cxnSpLocks noChangeShapeType="1"/>
                <a:stCxn id="32785" idx="1"/>
                <a:endCxn id="32786" idx="7"/>
              </p:cNvCxnSpPr>
              <p:nvPr/>
            </p:nvCxnSpPr>
            <p:spPr bwMode="auto">
              <a:xfrm rot="-5400000" flipH="1" flipV="1">
                <a:off x="2851" y="2237"/>
                <a:ext cx="61" cy="635"/>
              </a:xfrm>
              <a:prstGeom prst="curvedConnector3">
                <a:avLst>
                  <a:gd name="adj1" fmla="val -179167"/>
                </a:avLst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791" name="Line 1088">
                <a:extLst>
                  <a:ext uri="{FF2B5EF4-FFF2-40B4-BE49-F238E27FC236}">
                    <a16:creationId xmlns:a16="http://schemas.microsoft.com/office/drawing/2014/main" id="{99935B0D-6806-964A-610F-F93345402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18" y="2144"/>
                <a:ext cx="66" cy="42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2" name="Line 1089">
                <a:extLst>
                  <a:ext uri="{FF2B5EF4-FFF2-40B4-BE49-F238E27FC236}">
                    <a16:creationId xmlns:a16="http://schemas.microsoft.com/office/drawing/2014/main" id="{1A26C3B5-AC33-C437-6A45-FDB04C7B5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18" y="1993"/>
                <a:ext cx="430" cy="5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2793" name="AutoShape 1090">
                <a:extLst>
                  <a:ext uri="{FF2B5EF4-FFF2-40B4-BE49-F238E27FC236}">
                    <a16:creationId xmlns:a16="http://schemas.microsoft.com/office/drawing/2014/main" id="{18393D7F-1200-167C-FC1D-A4811FDF3BD1}"/>
                  </a:ext>
                </a:extLst>
              </p:cNvPr>
              <p:cNvCxnSpPr>
                <a:cxnSpLocks noChangeShapeType="1"/>
                <a:stCxn id="32785" idx="7"/>
                <a:endCxn id="32785" idx="6"/>
              </p:cNvCxnSpPr>
              <p:nvPr/>
            </p:nvCxnSpPr>
            <p:spPr bwMode="auto">
              <a:xfrm rot="5400000" flipV="1">
                <a:off x="3281" y="2536"/>
                <a:ext cx="43" cy="19"/>
              </a:xfrm>
              <a:prstGeom prst="curvedConnector4">
                <a:avLst>
                  <a:gd name="adj1" fmla="val -252940"/>
                  <a:gd name="adj2" fmla="val 614287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794" name="Line 1091">
                <a:extLst>
                  <a:ext uri="{FF2B5EF4-FFF2-40B4-BE49-F238E27FC236}">
                    <a16:creationId xmlns:a16="http://schemas.microsoft.com/office/drawing/2014/main" id="{E7A722C7-C299-BB1F-63C0-94C2E3720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84" y="2114"/>
                <a:ext cx="729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Line 1092">
                <a:extLst>
                  <a:ext uri="{FF2B5EF4-FFF2-40B4-BE49-F238E27FC236}">
                    <a16:creationId xmlns:a16="http://schemas.microsoft.com/office/drawing/2014/main" id="{1A36A720-7702-71C4-51B0-288D914B4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24" y="2016"/>
                <a:ext cx="24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DDA6C9B-4604-9D50-E948-8DCCA29C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610600" cy="762000"/>
          </a:xfrm>
        </p:spPr>
        <p:txBody>
          <a:bodyPr/>
          <a:lstStyle/>
          <a:p>
            <a:pPr eaLnBrk="1" hangingPunct="1"/>
            <a:r>
              <a:rPr lang="en-US" altLang="en-US"/>
              <a:t>Warshall’s  Algorithm (recurrence)</a:t>
            </a:r>
            <a:endParaRPr lang="en-US" altLang="en-US" sz="2800"/>
          </a:p>
        </p:txBody>
      </p:sp>
      <p:grpSp>
        <p:nvGrpSpPr>
          <p:cNvPr id="34819" name="Group 10">
            <a:extLst>
              <a:ext uri="{FF2B5EF4-FFF2-40B4-BE49-F238E27FC236}">
                <a16:creationId xmlns:a16="http://schemas.microsoft.com/office/drawing/2014/main" id="{542818F0-6396-693B-2944-FF1335E1B82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66800"/>
            <a:ext cx="7967663" cy="5029200"/>
            <a:chOff x="533400" y="1066800"/>
            <a:chExt cx="7967690" cy="5029200"/>
          </a:xfrm>
        </p:grpSpPr>
        <p:sp>
          <p:nvSpPr>
            <p:cNvPr id="34820" name="Text Box 3">
              <a:extLst>
                <a:ext uri="{FF2B5EF4-FFF2-40B4-BE49-F238E27FC236}">
                  <a16:creationId xmlns:a16="http://schemas.microsoft.com/office/drawing/2014/main" id="{381DD7CB-A594-FEEC-2913-FFE9254F3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066800"/>
              <a:ext cx="7967690" cy="4154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On the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k-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th iteration, the algorithm determines for every pair of vertices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 j</a:t>
              </a:r>
              <a:r>
                <a:rPr lang="en-US" altLang="en-US" sz="2400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if a path exists from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and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j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with just vertices 1,…,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allowed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as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intermediate</a:t>
              </a:r>
            </a:p>
            <a:p>
              <a:pPr>
                <a:spcBef>
                  <a:spcPct val="0"/>
                </a:spcBef>
                <a:buFontTx/>
                <a:buChar char="•"/>
              </a:pPr>
              <a:endPara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4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                    (path using just 1 ,…,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k-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 =            or </a:t>
              </a:r>
            </a:p>
            <a:p>
              <a:pPr lvl="3"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R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i,k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  and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k,j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  (path from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to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lvl="3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                                           and from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to 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 lvl="3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                                           using just 1 ,…,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k-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1)</a:t>
              </a:r>
            </a:p>
            <a:p>
              <a:pPr>
                <a:spcBef>
                  <a:spcPct val="0"/>
                </a:spcBef>
                <a:buFontTx/>
                <a:buChar char="•"/>
              </a:pPr>
              <a:endPara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Char char="•"/>
              </a:pP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34821" name="Oval 4">
              <a:extLst>
                <a:ext uri="{FF2B5EF4-FFF2-40B4-BE49-F238E27FC236}">
                  <a16:creationId xmlns:a16="http://schemas.microsoft.com/office/drawing/2014/main" id="{70C20BA8-402A-5101-9103-DE55E2716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343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4822" name="Oval 5">
              <a:extLst>
                <a:ext uri="{FF2B5EF4-FFF2-40B4-BE49-F238E27FC236}">
                  <a16:creationId xmlns:a16="http://schemas.microsoft.com/office/drawing/2014/main" id="{8991321B-44A6-60F1-6EE4-6E634BF7F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715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j</a:t>
              </a:r>
              <a:endParaRPr lang="en-US" altLang="en-US" sz="24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23" name="Oval 6">
              <a:extLst>
                <a:ext uri="{FF2B5EF4-FFF2-40B4-BE49-F238E27FC236}">
                  <a16:creationId xmlns:a16="http://schemas.microsoft.com/office/drawing/2014/main" id="{953FF03C-645E-281A-7128-796BF8BB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886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cxnSp>
          <p:nvCxnSpPr>
            <p:cNvPr id="34824" name="AutoShape 7">
              <a:extLst>
                <a:ext uri="{FF2B5EF4-FFF2-40B4-BE49-F238E27FC236}">
                  <a16:creationId xmlns:a16="http://schemas.microsoft.com/office/drawing/2014/main" id="{32141F95-FDC1-047D-3061-98F7826F1918}"/>
                </a:ext>
              </a:extLst>
            </p:cNvPr>
            <p:cNvCxnSpPr>
              <a:cxnSpLocks noChangeShapeType="1"/>
              <a:stCxn id="34821" idx="5"/>
              <a:endCxn id="34822" idx="1"/>
            </p:cNvCxnSpPr>
            <p:nvPr/>
          </p:nvCxnSpPr>
          <p:spPr bwMode="auto">
            <a:xfrm rot="16200000" flipH="1">
              <a:off x="1316038" y="4440238"/>
              <a:ext cx="1101725" cy="155892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25" name="AutoShape 8">
              <a:extLst>
                <a:ext uri="{FF2B5EF4-FFF2-40B4-BE49-F238E27FC236}">
                  <a16:creationId xmlns:a16="http://schemas.microsoft.com/office/drawing/2014/main" id="{9A31F740-A14E-317F-FC36-98F6BB121204}"/>
                </a:ext>
              </a:extLst>
            </p:cNvPr>
            <p:cNvCxnSpPr>
              <a:cxnSpLocks noChangeShapeType="1"/>
              <a:stCxn id="34821" idx="7"/>
              <a:endCxn id="34823" idx="2"/>
            </p:cNvCxnSpPr>
            <p:nvPr/>
          </p:nvCxnSpPr>
          <p:spPr bwMode="auto">
            <a:xfrm rot="-5400000">
              <a:off x="1944687" y="3219451"/>
              <a:ext cx="322263" cy="203676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26" name="AutoShape 9">
              <a:extLst>
                <a:ext uri="{FF2B5EF4-FFF2-40B4-BE49-F238E27FC236}">
                  <a16:creationId xmlns:a16="http://schemas.microsoft.com/office/drawing/2014/main" id="{F2A5522F-40BA-CC6C-0578-E4F2B65D89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362200" y="4724400"/>
              <a:ext cx="1447800" cy="533400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27" name="Text Box 11">
              <a:extLst>
                <a:ext uri="{FF2B5EF4-FFF2-40B4-BE49-F238E27FC236}">
                  <a16:creationId xmlns:a16="http://schemas.microsoft.com/office/drawing/2014/main" id="{D9709A6B-DE85-D713-D5D0-0D04FC76B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057400"/>
              <a:ext cx="830263" cy="170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600">
                  <a:latin typeface="Times New Roman" panose="02020603050405020304" pitchFamily="18" charset="0"/>
                </a:rPr>
                <a:t>{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966A50D0-943A-12BD-25DB-772BBC47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14313"/>
            <a:ext cx="8143875" cy="762000"/>
          </a:xfrm>
        </p:spPr>
        <p:txBody>
          <a:bodyPr/>
          <a:lstStyle/>
          <a:p>
            <a:pPr eaLnBrk="1" hangingPunct="1"/>
            <a:r>
              <a:rPr lang="en-US" altLang="en-US" sz="3600"/>
              <a:t>Warshall’s  Algorithm (matrix generation)</a:t>
            </a:r>
          </a:p>
        </p:txBody>
      </p:sp>
      <p:sp>
        <p:nvSpPr>
          <p:cNvPr id="424963" name="Text Box 1027">
            <a:extLst>
              <a:ext uri="{FF2B5EF4-FFF2-40B4-BE49-F238E27FC236}">
                <a16:creationId xmlns:a16="http://schemas.microsoft.com/office/drawing/2014/main" id="{24648BB2-9308-E50A-2B52-EACD860E6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68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Recurrence relating elements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to elements of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is: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</a:p>
          <a:p>
            <a:pPr lvl="3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 =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 or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 and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k,j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])</a:t>
            </a:r>
            <a:endParaRPr lang="en-US" altLang="en-US" sz="2400" i="1">
              <a:latin typeface="Times New Roman" panose="02020603050405020304" pitchFamily="18" charset="0"/>
            </a:endParaRPr>
          </a:p>
        </p:txBody>
      </p:sp>
      <p:sp>
        <p:nvSpPr>
          <p:cNvPr id="36868" name="Text Box 1036">
            <a:extLst>
              <a:ext uri="{FF2B5EF4-FFF2-40B4-BE49-F238E27FC236}">
                <a16:creationId xmlns:a16="http://schemas.microsoft.com/office/drawing/2014/main" id="{009FA648-B374-B87D-55F4-0A9554D82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43200"/>
            <a:ext cx="8610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It implies the following rules for generating </a:t>
            </a:r>
            <a:r>
              <a:rPr lang="en-US" altLang="en-US" sz="2400" b="1" i="1"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)</a:t>
            </a:r>
            <a:r>
              <a:rPr lang="en-US" altLang="en-US" sz="2400" b="1">
                <a:latin typeface="Times New Roman" panose="02020603050405020304" pitchFamily="18" charset="0"/>
              </a:rPr>
              <a:t> from </a:t>
            </a:r>
            <a:r>
              <a:rPr lang="en-US" altLang="en-US" sz="2400" b="1" i="1">
                <a:latin typeface="Times New Roman" panose="02020603050405020304" pitchFamily="18" charset="0"/>
              </a:rPr>
              <a:t>R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latin typeface="Times New Roman" panose="02020603050405020304" pitchFamily="18" charset="0"/>
              </a:rPr>
              <a:t>: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endParaRPr lang="en-US" altLang="en-US" sz="2400" b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Rule 1</a:t>
            </a:r>
            <a:r>
              <a:rPr kumimoji="1" lang="en-US" altLang="ko-KR" sz="2400">
                <a:latin typeface="Times New Roman" panose="02020603050405020304" pitchFamily="18" charset="0"/>
                <a:ea typeface="Gulim" panose="020B0600000101010101" pitchFamily="34" charset="-127"/>
              </a:rPr>
              <a:t>  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If an element in row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i 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and column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j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is 1 in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R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(</a:t>
            </a:r>
            <a:r>
              <a:rPr kumimoji="1" lang="en-US" altLang="ko-KR" sz="2400" b="1" i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k-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1)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, </a:t>
            </a:r>
            <a:b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</a:b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            it remains 1 in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R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(</a:t>
            </a:r>
            <a:r>
              <a:rPr kumimoji="1" lang="en-US" altLang="ko-KR" sz="2400" b="1" i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k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kumimoji="1" lang="en-US" altLang="ko-KR" sz="2400" b="1">
              <a:latin typeface="Times New Roman" panose="02020603050405020304" pitchFamily="18" charset="0"/>
              <a:ea typeface="Gulim" panose="020B0600000101010101" pitchFamily="34" charset="-127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Rule 2  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If an element in row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i 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and column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j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is 0 in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R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(</a:t>
            </a:r>
            <a:r>
              <a:rPr kumimoji="1" lang="en-US" altLang="ko-KR" sz="2400" b="1" i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k-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1)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,</a:t>
            </a:r>
            <a:r>
              <a:rPr kumimoji="1" lang="en-US" altLang="ko-KR" sz="2400">
                <a:latin typeface="Times New Roman" panose="02020603050405020304" pitchFamily="18" charset="0"/>
                <a:ea typeface="Gulim" panose="020B0600000101010101" pitchFamily="34" charset="-127"/>
              </a:rPr>
              <a:t> </a:t>
            </a:r>
            <a:br>
              <a:rPr kumimoji="1" lang="en-US" altLang="ko-KR" sz="2400">
                <a:latin typeface="Times New Roman" panose="02020603050405020304" pitchFamily="18" charset="0"/>
                <a:ea typeface="Gulim" panose="020B0600000101010101" pitchFamily="34" charset="-127"/>
              </a:rPr>
            </a:br>
            <a:r>
              <a:rPr kumimoji="1" lang="en-US" altLang="ko-KR" sz="2400">
                <a:latin typeface="Times New Roman" panose="02020603050405020304" pitchFamily="18" charset="0"/>
                <a:ea typeface="Gulim" panose="020B0600000101010101" pitchFamily="34" charset="-127"/>
              </a:rPr>
              <a:t>             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it has to be changed to 1 in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R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(</a:t>
            </a:r>
            <a:r>
              <a:rPr kumimoji="1" lang="en-US" altLang="ko-KR" sz="2400" b="1" i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k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)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if and only if </a:t>
            </a:r>
            <a:b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</a:b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            the element in its row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i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and column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k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and the element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            in its column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j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and row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k</a:t>
            </a:r>
            <a:r>
              <a:rPr kumimoji="1" lang="en-US" altLang="ko-KR" sz="2400" b="1">
                <a:latin typeface="Times New Roman" panose="02020603050405020304" pitchFamily="18" charset="0"/>
                <a:ea typeface="Gulim" panose="020B0600000101010101" pitchFamily="34" charset="-127"/>
              </a:rPr>
              <a:t> are both 1’s in </a:t>
            </a:r>
            <a:r>
              <a:rPr kumimoji="1" lang="en-US" altLang="ko-KR" sz="2400" b="1" i="1">
                <a:latin typeface="Times New Roman" panose="02020603050405020304" pitchFamily="18" charset="0"/>
                <a:ea typeface="Gulim" panose="020B0600000101010101" pitchFamily="34" charset="-127"/>
              </a:rPr>
              <a:t>R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(</a:t>
            </a:r>
            <a:r>
              <a:rPr kumimoji="1" lang="en-US" altLang="ko-KR" sz="2400" b="1" i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k-</a:t>
            </a:r>
            <a:r>
              <a:rPr kumimoji="1" lang="en-US" altLang="ko-KR" sz="2400" b="1" baseline="30000">
                <a:latin typeface="Times New Roman" panose="02020603050405020304" pitchFamily="18" charset="0"/>
                <a:ea typeface="Gulim" panose="020B0600000101010101" pitchFamily="34" charset="-127"/>
              </a:rPr>
              <a:t>1)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530A0B7E-3C73-F2C0-187C-2F948EE6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5E8646ED-4863-47FA-84DE-5506FE3830C8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21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15" name="Picture 2" descr="fig08_03">
            <a:extLst>
              <a:ext uri="{FF2B5EF4-FFF2-40B4-BE49-F238E27FC236}">
                <a16:creationId xmlns:a16="http://schemas.microsoft.com/office/drawing/2014/main" id="{A25570DD-22FE-ABBA-0763-FE16FD163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101850"/>
            <a:ext cx="8280400" cy="285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627E144-66B5-051A-6CE2-0E6B9368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8458200" cy="838200"/>
          </a:xfrm>
        </p:spPr>
        <p:txBody>
          <a:bodyPr/>
          <a:lstStyle/>
          <a:p>
            <a:pPr eaLnBrk="1" hangingPunct="1"/>
            <a:r>
              <a:rPr lang="en-US" altLang="en-US"/>
              <a:t>Warshall’s Algorithm (example)</a:t>
            </a:r>
          </a:p>
        </p:txBody>
      </p:sp>
      <p:grpSp>
        <p:nvGrpSpPr>
          <p:cNvPr id="39939" name="Group 29">
            <a:extLst>
              <a:ext uri="{FF2B5EF4-FFF2-40B4-BE49-F238E27FC236}">
                <a16:creationId xmlns:a16="http://schemas.microsoft.com/office/drawing/2014/main" id="{81A6E47C-1F47-AC32-9E34-436EECF2FF7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47800"/>
            <a:ext cx="7467600" cy="3908426"/>
            <a:chOff x="685800" y="1447800"/>
            <a:chExt cx="7467616" cy="3908059"/>
          </a:xfrm>
        </p:grpSpPr>
        <p:grpSp>
          <p:nvGrpSpPr>
            <p:cNvPr id="39940" name="Group 63">
              <a:extLst>
                <a:ext uri="{FF2B5EF4-FFF2-40B4-BE49-F238E27FC236}">
                  <a16:creationId xmlns:a16="http://schemas.microsoft.com/office/drawing/2014/main" id="{7A4B53A2-5413-3775-4671-2384A1A007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1447800"/>
              <a:ext cx="1447800" cy="1295400"/>
              <a:chOff x="432" y="912"/>
              <a:chExt cx="912" cy="816"/>
            </a:xfrm>
          </p:grpSpPr>
          <p:sp>
            <p:nvSpPr>
              <p:cNvPr id="39959" name="Oval 23">
                <a:extLst>
                  <a:ext uri="{FF2B5EF4-FFF2-40B4-BE49-F238E27FC236}">
                    <a16:creationId xmlns:a16="http://schemas.microsoft.com/office/drawing/2014/main" id="{F7ECBD3E-C2AB-94E0-D5B0-F1787455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7" y="912"/>
                <a:ext cx="125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9960" name="Oval 24">
                <a:extLst>
                  <a:ext uri="{FF2B5EF4-FFF2-40B4-BE49-F238E27FC236}">
                    <a16:creationId xmlns:a16="http://schemas.microsoft.com/office/drawing/2014/main" id="{436D1DCA-1B98-F47E-9506-A13952A7D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8" y="1547"/>
                <a:ext cx="126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39961" name="Oval 25">
                <a:extLst>
                  <a:ext uri="{FF2B5EF4-FFF2-40B4-BE49-F238E27FC236}">
                    <a16:creationId xmlns:a16="http://schemas.microsoft.com/office/drawing/2014/main" id="{2C1D9503-DD5F-A157-68E2-2C1879A70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" y="1607"/>
                <a:ext cx="126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9962" name="Oval 26">
                <a:extLst>
                  <a:ext uri="{FF2B5EF4-FFF2-40B4-BE49-F238E27FC236}">
                    <a16:creationId xmlns:a16="http://schemas.microsoft.com/office/drawing/2014/main" id="{B2CE710D-FA27-9087-2D42-1B20D59A3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063"/>
                <a:ext cx="126" cy="121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963" name="Line 27">
                <a:extLst>
                  <a:ext uri="{FF2B5EF4-FFF2-40B4-BE49-F238E27FC236}">
                    <a16:creationId xmlns:a16="http://schemas.microsoft.com/office/drawing/2014/main" id="{818CA98F-7D75-6831-C8C8-FF2FDF56F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58" y="1003"/>
                <a:ext cx="409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39964" name="AutoShape 28">
                <a:extLst>
                  <a:ext uri="{FF2B5EF4-FFF2-40B4-BE49-F238E27FC236}">
                    <a16:creationId xmlns:a16="http://schemas.microsoft.com/office/drawing/2014/main" id="{D3765BAA-CAD4-BC91-53E8-EEF3ED27E4A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52" y="1637"/>
                <a:ext cx="585" cy="18"/>
              </a:xfrm>
              <a:prstGeom prst="curvedConnector4">
                <a:avLst>
                  <a:gd name="adj1" fmla="val -338"/>
                  <a:gd name="adj2" fmla="val -51428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965" name="AutoShape 29">
                <a:extLst>
                  <a:ext uri="{FF2B5EF4-FFF2-40B4-BE49-F238E27FC236}">
                    <a16:creationId xmlns:a16="http://schemas.microsoft.com/office/drawing/2014/main" id="{79FACE1D-6D17-294B-94CB-9C782EE5411A}"/>
                  </a:ext>
                </a:extLst>
              </p:cNvPr>
              <p:cNvCxnSpPr>
                <a:cxnSpLocks noChangeShapeType="1"/>
                <a:stCxn id="39960" idx="1"/>
                <a:endCxn id="39961" idx="7"/>
              </p:cNvCxnSpPr>
              <p:nvPr/>
            </p:nvCxnSpPr>
            <p:spPr bwMode="auto">
              <a:xfrm rot="-5400000" flipH="1" flipV="1">
                <a:off x="905" y="1293"/>
                <a:ext cx="61" cy="603"/>
              </a:xfrm>
              <a:prstGeom prst="curvedConnector3">
                <a:avLst>
                  <a:gd name="adj1" fmla="val -1791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966" name="Line 30">
                <a:extLst>
                  <a:ext uri="{FF2B5EF4-FFF2-40B4-BE49-F238E27FC236}">
                    <a16:creationId xmlns:a16="http://schemas.microsoft.com/office/drawing/2014/main" id="{106DB002-2AC7-DDD7-95F6-B4EB64647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5" y="1184"/>
                <a:ext cx="63" cy="4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1" name="Text Box 40">
              <a:extLst>
                <a:ext uri="{FF2B5EF4-FFF2-40B4-BE49-F238E27FC236}">
                  <a16:creationId xmlns:a16="http://schemas.microsoft.com/office/drawing/2014/main" id="{B0E71C40-EA1A-C34D-E474-5441C49C9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1447800"/>
              <a:ext cx="12954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1  0  0  1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0  1  0  0</a:t>
              </a:r>
            </a:p>
          </p:txBody>
        </p:sp>
        <p:sp>
          <p:nvSpPr>
            <p:cNvPr id="39942" name="Text Box 41">
              <a:extLst>
                <a:ext uri="{FF2B5EF4-FFF2-40B4-BE49-F238E27FC236}">
                  <a16:creationId xmlns:a16="http://schemas.microsoft.com/office/drawing/2014/main" id="{8D4C9F9F-8ED3-4152-440F-D0AFA3C7C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2057400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(0)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3" name="Rectangle 42">
              <a:extLst>
                <a:ext uri="{FF2B5EF4-FFF2-40B4-BE49-F238E27FC236}">
                  <a16:creationId xmlns:a16="http://schemas.microsoft.com/office/drawing/2014/main" id="{41123B30-DD95-76D0-12C9-9E0A1F19A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12954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4" name="Rectangle 43">
              <a:extLst>
                <a:ext uri="{FF2B5EF4-FFF2-40B4-BE49-F238E27FC236}">
                  <a16:creationId xmlns:a16="http://schemas.microsoft.com/office/drawing/2014/main" id="{6819CACF-F8A5-0540-3E59-B7B2438FF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3048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5" name="Text Box 44">
              <a:extLst>
                <a:ext uri="{FF2B5EF4-FFF2-40B4-BE49-F238E27FC236}">
                  <a16:creationId xmlns:a16="http://schemas.microsoft.com/office/drawing/2014/main" id="{B3420A11-F436-72A3-DA7C-C772350CC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1447800"/>
              <a:ext cx="12954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1  0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r>
                <a:rPr lang="en-US" altLang="en-US" sz="2400">
                  <a:latin typeface="Times New Roman" panose="02020603050405020304" pitchFamily="18" charset="0"/>
                </a:rPr>
                <a:t>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0  1  0  0</a:t>
              </a:r>
            </a:p>
          </p:txBody>
        </p:sp>
        <p:sp>
          <p:nvSpPr>
            <p:cNvPr id="39946" name="Text Box 45">
              <a:extLst>
                <a:ext uri="{FF2B5EF4-FFF2-40B4-BE49-F238E27FC236}">
                  <a16:creationId xmlns:a16="http://schemas.microsoft.com/office/drawing/2014/main" id="{14C4C0E8-032E-C448-C838-B6C91DD64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057400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(1)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7" name="Rectangle 46">
              <a:extLst>
                <a:ext uri="{FF2B5EF4-FFF2-40B4-BE49-F238E27FC236}">
                  <a16:creationId xmlns:a16="http://schemas.microsoft.com/office/drawing/2014/main" id="{56056EF5-3AD5-8794-51C1-C64812448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828800"/>
              <a:ext cx="12954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8" name="Rectangle 47">
              <a:extLst>
                <a:ext uri="{FF2B5EF4-FFF2-40B4-BE49-F238E27FC236}">
                  <a16:creationId xmlns:a16="http://schemas.microsoft.com/office/drawing/2014/main" id="{6DD22D48-0635-051B-D5A6-A50E40211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1447800"/>
              <a:ext cx="3048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49" name="Text Box 48">
              <a:extLst>
                <a:ext uri="{FF2B5EF4-FFF2-40B4-BE49-F238E27FC236}">
                  <a16:creationId xmlns:a16="http://schemas.microsoft.com/office/drawing/2014/main" id="{3F195153-E049-8CB4-A12E-0275085C1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733800"/>
              <a:ext cx="12954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1  0  1  1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r>
                <a:rPr lang="en-US" altLang="en-US" sz="2400">
                  <a:latin typeface="Times New Roman" panose="02020603050405020304" pitchFamily="18" charset="0"/>
                </a:rPr>
                <a:t>  1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r>
                <a:rPr lang="en-US" altLang="en-US" sz="2400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50" name="Text Box 49">
              <a:extLst>
                <a:ext uri="{FF2B5EF4-FFF2-40B4-BE49-F238E27FC236}">
                  <a16:creationId xmlns:a16="http://schemas.microsoft.com/office/drawing/2014/main" id="{EBE2B348-1088-30FF-A65E-DFEE08FC4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4343400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(2)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1" name="Rectangle 50">
              <a:extLst>
                <a:ext uri="{FF2B5EF4-FFF2-40B4-BE49-F238E27FC236}">
                  <a16:creationId xmlns:a16="http://schemas.microsoft.com/office/drawing/2014/main" id="{FEA002AF-163D-5477-BD26-09CCE514E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95800"/>
              <a:ext cx="12954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2" name="Rectangle 51">
              <a:extLst>
                <a:ext uri="{FF2B5EF4-FFF2-40B4-BE49-F238E27FC236}">
                  <a16:creationId xmlns:a16="http://schemas.microsoft.com/office/drawing/2014/main" id="{745AAF5A-5A9D-5769-FF5E-863C8B5BD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733800"/>
              <a:ext cx="3048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3" name="Text Box 55">
              <a:extLst>
                <a:ext uri="{FF2B5EF4-FFF2-40B4-BE49-F238E27FC236}">
                  <a16:creationId xmlns:a16="http://schemas.microsoft.com/office/drawing/2014/main" id="{F52C841E-80D9-56EC-5EE3-4A0F82197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48" y="3786199"/>
              <a:ext cx="12954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1  0  1  1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1  1  1  1</a:t>
              </a:r>
            </a:p>
          </p:txBody>
        </p:sp>
        <p:sp>
          <p:nvSpPr>
            <p:cNvPr id="39954" name="Text Box 56">
              <a:extLst>
                <a:ext uri="{FF2B5EF4-FFF2-40B4-BE49-F238E27FC236}">
                  <a16:creationId xmlns:a16="http://schemas.microsoft.com/office/drawing/2014/main" id="{D99E0C0B-952D-2C81-9056-9EFEEF559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848" y="4395798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(3)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5" name="Rectangle 57">
              <a:extLst>
                <a:ext uri="{FF2B5EF4-FFF2-40B4-BE49-F238E27FC236}">
                  <a16:creationId xmlns:a16="http://schemas.microsoft.com/office/drawing/2014/main" id="{0DA49570-6A42-FDAC-72A3-003505798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48" y="4929198"/>
              <a:ext cx="12954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6" name="Rectangle 58">
              <a:extLst>
                <a:ext uri="{FF2B5EF4-FFF2-40B4-BE49-F238E27FC236}">
                  <a16:creationId xmlns:a16="http://schemas.microsoft.com/office/drawing/2014/main" id="{4D3E2123-C526-F398-0443-ADDC72DE4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961" y="3859154"/>
              <a:ext cx="299343" cy="137134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7" name="Text Box 59">
              <a:extLst>
                <a:ext uri="{FF2B5EF4-FFF2-40B4-BE49-F238E27FC236}">
                  <a16:creationId xmlns:a16="http://schemas.microsoft.com/office/drawing/2014/main" id="{17BB17EA-FDDE-CE83-4115-F4FA4C54B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16" y="3714752"/>
              <a:ext cx="12954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0  0  1  0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r>
                <a:rPr lang="en-US" altLang="en-US" sz="2400">
                  <a:latin typeface="Times New Roman" panose="02020603050405020304" pitchFamily="18" charset="0"/>
                </a:rPr>
                <a:t>  1  1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0  0  0  0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1  1  1  1</a:t>
              </a:r>
            </a:p>
          </p:txBody>
        </p:sp>
        <p:sp>
          <p:nvSpPr>
            <p:cNvPr id="39958" name="Text Box 60">
              <a:extLst>
                <a:ext uri="{FF2B5EF4-FFF2-40B4-BE49-F238E27FC236}">
                  <a16:creationId xmlns:a16="http://schemas.microsoft.com/office/drawing/2014/main" id="{64EB011A-07FC-4561-8C24-AC790CE8A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16" y="4324352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R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(4)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EC15A8-91EE-B064-AD7C-EA44381C6EC7}"/>
                  </a:ext>
                </a:extLst>
              </p14:cNvPr>
              <p14:cNvContentPartPr/>
              <p14:nvPr/>
            </p14:nvContentPartPr>
            <p14:xfrm>
              <a:off x="3391200" y="1774440"/>
              <a:ext cx="3253680" cy="106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EC15A8-91EE-B064-AD7C-EA44381C6E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840" y="1765080"/>
                <a:ext cx="3272400" cy="108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312B5F2A-7BBC-AB22-6E34-2599C9F4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F3D6EE41-E29E-457F-949D-889CBEBFE1A6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23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1987" name="Picture 2" descr="fig08_02">
            <a:extLst>
              <a:ext uri="{FF2B5EF4-FFF2-40B4-BE49-F238E27FC236}">
                <a16:creationId xmlns:a16="http://schemas.microsoft.com/office/drawing/2014/main" id="{AAEB93DD-C274-3FBE-F5DE-970C846C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2387600"/>
            <a:ext cx="8137525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F71523B0-EAA3-ACA5-036E-05C31221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2ACA457C-8BD3-40E2-9776-2BA25578B11F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24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3011" name="Picture 2" descr="fig08_04">
            <a:extLst>
              <a:ext uri="{FF2B5EF4-FFF2-40B4-BE49-F238E27FC236}">
                <a16:creationId xmlns:a16="http://schemas.microsoft.com/office/drawing/2014/main" id="{6F3D7746-2CC4-B418-AECB-0A6240CA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26" b="7140"/>
          <a:stretch>
            <a:fillRect/>
          </a:stretch>
        </p:blipFill>
        <p:spPr bwMode="auto">
          <a:xfrm>
            <a:off x="1066800" y="349250"/>
            <a:ext cx="6577013" cy="580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A40A53E-A1DF-2A4E-8C1B-A93E2470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9154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Warshall’s Algorithm (pseudocode and analysis)</a:t>
            </a:r>
          </a:p>
        </p:txBody>
      </p:sp>
      <p:pic>
        <p:nvPicPr>
          <p:cNvPr id="44035" name="Picture 3" descr="8_2a">
            <a:extLst>
              <a:ext uri="{FF2B5EF4-FFF2-40B4-BE49-F238E27FC236}">
                <a16:creationId xmlns:a16="http://schemas.microsoft.com/office/drawing/2014/main" id="{24D1E99F-E3E8-9D99-7520-A5F105002E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81113"/>
            <a:ext cx="8686800" cy="3595687"/>
          </a:xfrm>
          <a:solidFill>
            <a:schemeClr val="tx1"/>
          </a:solidFill>
        </p:spPr>
      </p:pic>
      <p:sp>
        <p:nvSpPr>
          <p:cNvPr id="44036" name="Text Box 4">
            <a:extLst>
              <a:ext uri="{FF2B5EF4-FFF2-40B4-BE49-F238E27FC236}">
                <a16:creationId xmlns:a16="http://schemas.microsoft.com/office/drawing/2014/main" id="{3B23842A-2F66-6A64-7268-47AF69990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6E10D105-2A28-97F8-CF23-3C66D2A47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86868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Time efficiency: </a:t>
            </a:r>
            <a:r>
              <a:rPr lang="el-GR" altLang="en-US" sz="2400" b="1">
                <a:latin typeface="Lucida Grande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3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Space efficiency: Matrices can be written over their predecessors</a:t>
            </a:r>
            <a:endParaRPr lang="el-GR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180B5CA4-938A-4C33-8CD6-A504B071B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763000" cy="762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Floyd’s Algorithm: All pairs shortest paths</a:t>
            </a:r>
          </a:p>
        </p:txBody>
      </p:sp>
      <p:sp>
        <p:nvSpPr>
          <p:cNvPr id="415747" name="Text Box 3">
            <a:extLst>
              <a:ext uri="{FF2B5EF4-FFF2-40B4-BE49-F238E27FC236}">
                <a16:creationId xmlns:a16="http://schemas.microsoft.com/office/drawing/2014/main" id="{C7580AED-D716-6673-BFDE-233949FB0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6868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Problem:    In a weighted (di)graph, find shortest paths between</a:t>
            </a:r>
            <a:b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   every pair of vertices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Same idea: construct solution through series of matrices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(0)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, …,</a:t>
            </a:r>
            <a:b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 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using increasing subsets of the vertices allowed</a:t>
            </a:r>
            <a:b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   as intermediate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Example:</a:t>
            </a:r>
            <a:endParaRPr lang="en-US" altLang="en-US" sz="24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6084" name="Group 4">
            <a:extLst>
              <a:ext uri="{FF2B5EF4-FFF2-40B4-BE49-F238E27FC236}">
                <a16:creationId xmlns:a16="http://schemas.microsoft.com/office/drawing/2014/main" id="{CE162FDB-5916-5F57-24AB-D6E3E2A169F6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709988"/>
            <a:ext cx="2286000" cy="2211387"/>
            <a:chOff x="4032" y="1785"/>
            <a:chExt cx="1440" cy="1393"/>
          </a:xfrm>
        </p:grpSpPr>
        <p:sp>
          <p:nvSpPr>
            <p:cNvPr id="46085" name="Oval 5">
              <a:extLst>
                <a:ext uri="{FF2B5EF4-FFF2-40B4-BE49-F238E27FC236}">
                  <a16:creationId xmlns:a16="http://schemas.microsoft.com/office/drawing/2014/main" id="{A1469B1E-F289-4AC6-DE7B-9FD66B75B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82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6086" name="Oval 6">
              <a:extLst>
                <a:ext uri="{FF2B5EF4-FFF2-40B4-BE49-F238E27FC236}">
                  <a16:creationId xmlns:a16="http://schemas.microsoft.com/office/drawing/2014/main" id="{25CDC8D9-6387-752E-A371-EEF17D3B4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6087" name="Oval 7">
              <a:extLst>
                <a:ext uri="{FF2B5EF4-FFF2-40B4-BE49-F238E27FC236}">
                  <a16:creationId xmlns:a16="http://schemas.microsoft.com/office/drawing/2014/main" id="{E53F9DA7-80B6-A6F4-0D4C-B974A42E0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2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088" name="Oval 8">
              <a:extLst>
                <a:ext uri="{FF2B5EF4-FFF2-40B4-BE49-F238E27FC236}">
                  <a16:creationId xmlns:a16="http://schemas.microsoft.com/office/drawing/2014/main" id="{E7630992-7E2D-071D-3280-00DCF2261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089" name="Line 9">
              <a:extLst>
                <a:ext uri="{FF2B5EF4-FFF2-40B4-BE49-F238E27FC236}">
                  <a16:creationId xmlns:a16="http://schemas.microsoft.com/office/drawing/2014/main" id="{B004BADE-641B-463E-AA05-5701F17C8F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968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6090" name="AutoShape 10">
              <a:extLst>
                <a:ext uri="{FF2B5EF4-FFF2-40B4-BE49-F238E27FC236}">
                  <a16:creationId xmlns:a16="http://schemas.microsoft.com/office/drawing/2014/main" id="{B6A1A200-2DEB-78DE-B1A0-95A082DA24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16" y="2976"/>
              <a:ext cx="892" cy="28"/>
            </a:xfrm>
            <a:prstGeom prst="curvedConnector4">
              <a:avLst>
                <a:gd name="adj1" fmla="val -338"/>
                <a:gd name="adj2" fmla="val -51428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1" name="AutoShape 11">
              <a:extLst>
                <a:ext uri="{FF2B5EF4-FFF2-40B4-BE49-F238E27FC236}">
                  <a16:creationId xmlns:a16="http://schemas.microsoft.com/office/drawing/2014/main" id="{15A69A77-CEF0-1C40-A6DA-57CBCFB8B53C}"/>
                </a:ext>
              </a:extLst>
            </p:cNvPr>
            <p:cNvCxnSpPr>
              <a:cxnSpLocks noChangeShapeType="1"/>
              <a:stCxn id="46086" idx="1"/>
              <a:endCxn id="46087" idx="7"/>
            </p:cNvCxnSpPr>
            <p:nvPr/>
          </p:nvCxnSpPr>
          <p:spPr bwMode="auto">
            <a:xfrm rot="-5400000" flipH="1" flipV="1">
              <a:off x="4800" y="2448"/>
              <a:ext cx="96" cy="920"/>
            </a:xfrm>
            <a:prstGeom prst="curvedConnector3">
              <a:avLst>
                <a:gd name="adj1" fmla="val -1791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092" name="Line 12">
              <a:extLst>
                <a:ext uri="{FF2B5EF4-FFF2-40B4-BE49-F238E27FC236}">
                  <a16:creationId xmlns:a16="http://schemas.microsoft.com/office/drawing/2014/main" id="{B25B7D78-2D75-44B3-53C4-C7A9D7D81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6" y="2256"/>
              <a:ext cx="9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3" name="Line 13">
              <a:extLst>
                <a:ext uri="{FF2B5EF4-FFF2-40B4-BE49-F238E27FC236}">
                  <a16:creationId xmlns:a16="http://schemas.microsoft.com/office/drawing/2014/main" id="{83158467-8F71-E6DE-0153-80BA86A48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016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Line 14">
              <a:extLst>
                <a:ext uri="{FF2B5EF4-FFF2-40B4-BE49-F238E27FC236}">
                  <a16:creationId xmlns:a16="http://schemas.microsoft.com/office/drawing/2014/main" id="{EF7D44B5-A645-9426-41B8-1A0E94E2D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92" y="2016"/>
              <a:ext cx="38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Text Box 15">
              <a:extLst>
                <a:ext uri="{FF2B5EF4-FFF2-40B4-BE49-F238E27FC236}">
                  <a16:creationId xmlns:a16="http://schemas.microsoft.com/office/drawing/2014/main" id="{35896AEB-6717-EEF7-8DEB-9F32D10FB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178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6096" name="Text Box 16">
              <a:extLst>
                <a:ext uri="{FF2B5EF4-FFF2-40B4-BE49-F238E27FC236}">
                  <a16:creationId xmlns:a16="http://schemas.microsoft.com/office/drawing/2014/main" id="{BE63CB17-46D7-89D5-B3C6-450A2B263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8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097" name="Text Box 17">
              <a:extLst>
                <a:ext uri="{FF2B5EF4-FFF2-40B4-BE49-F238E27FC236}">
                  <a16:creationId xmlns:a16="http://schemas.microsoft.com/office/drawing/2014/main" id="{2F3EE427-7076-1C2E-86B0-2FBF7461F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28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6098" name="Text Box 18">
              <a:extLst>
                <a:ext uri="{FF2B5EF4-FFF2-40B4-BE49-F238E27FC236}">
                  <a16:creationId xmlns:a16="http://schemas.microsoft.com/office/drawing/2014/main" id="{BBDF035C-7ADC-201B-26FA-E56EEED3A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19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099" name="Text Box 19">
              <a:extLst>
                <a:ext uri="{FF2B5EF4-FFF2-40B4-BE49-F238E27FC236}">
                  <a16:creationId xmlns:a16="http://schemas.microsoft.com/office/drawing/2014/main" id="{B78682EE-6B11-4DD4-2FD6-231EED101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48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6100" name="Text Box 20">
              <a:extLst>
                <a:ext uri="{FF2B5EF4-FFF2-40B4-BE49-F238E27FC236}">
                  <a16:creationId xmlns:a16="http://schemas.microsoft.com/office/drawing/2014/main" id="{99C17C97-D200-ED7E-31A0-757C181C0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928"/>
              <a:ext cx="1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AA0401C6-8602-4F2D-9E71-D6D643EDA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610600" cy="762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Floyd’s Algorithm (matrix generation)</a:t>
            </a:r>
            <a:endParaRPr lang="en-US" sz="2800"/>
          </a:p>
        </p:txBody>
      </p:sp>
      <p:sp>
        <p:nvSpPr>
          <p:cNvPr id="420867" name="Text Box 3">
            <a:extLst>
              <a:ext uri="{FF2B5EF4-FFF2-40B4-BE49-F238E27FC236}">
                <a16:creationId xmlns:a16="http://schemas.microsoft.com/office/drawing/2014/main" id="{71C219B2-5E66-4B3A-E5D4-128602874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610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On the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 k-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th iteration, the algorithm determines shortest paths between every pair of vertices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 j 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that use only vertices among 1,…,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as intermediate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 =  min {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], 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  + 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baseline="30000">
                <a:solidFill>
                  <a:schemeClr val="hlink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k,j</a:t>
            </a:r>
            <a:r>
              <a: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]}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US" sz="2400" i="1">
              <a:latin typeface="Times New Roman" panose="02020603050405020304" pitchFamily="18" charset="0"/>
            </a:endParaRPr>
          </a:p>
        </p:txBody>
      </p:sp>
      <p:grpSp>
        <p:nvGrpSpPr>
          <p:cNvPr id="48132" name="Group 12">
            <a:extLst>
              <a:ext uri="{FF2B5EF4-FFF2-40B4-BE49-F238E27FC236}">
                <a16:creationId xmlns:a16="http://schemas.microsoft.com/office/drawing/2014/main" id="{BDF43C5A-1B96-9323-3527-557C13A48F9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657600"/>
            <a:ext cx="3810000" cy="2438400"/>
            <a:chOff x="685800" y="3657600"/>
            <a:chExt cx="3810000" cy="2438400"/>
          </a:xfrm>
        </p:grpSpPr>
        <p:sp>
          <p:nvSpPr>
            <p:cNvPr id="48133" name="Oval 4">
              <a:extLst>
                <a:ext uri="{FF2B5EF4-FFF2-40B4-BE49-F238E27FC236}">
                  <a16:creationId xmlns:a16="http://schemas.microsoft.com/office/drawing/2014/main" id="{4164A4D1-43C7-3D3E-7084-375FBA78D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343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8134" name="Oval 5">
              <a:extLst>
                <a:ext uri="{FF2B5EF4-FFF2-40B4-BE49-F238E27FC236}">
                  <a16:creationId xmlns:a16="http://schemas.microsoft.com/office/drawing/2014/main" id="{C79C84BE-0986-15E1-3378-74D57DD76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715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j</a:t>
              </a:r>
              <a:endParaRPr lang="en-US" altLang="en-US" sz="24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5" name="Oval 6">
              <a:extLst>
                <a:ext uri="{FF2B5EF4-FFF2-40B4-BE49-F238E27FC236}">
                  <a16:creationId xmlns:a16="http://schemas.microsoft.com/office/drawing/2014/main" id="{9FC0FDBB-E387-C670-EEC7-525FE1113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886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  <p:cxnSp>
          <p:nvCxnSpPr>
            <p:cNvPr id="48136" name="AutoShape 7">
              <a:extLst>
                <a:ext uri="{FF2B5EF4-FFF2-40B4-BE49-F238E27FC236}">
                  <a16:creationId xmlns:a16="http://schemas.microsoft.com/office/drawing/2014/main" id="{E8BF20F1-278E-4F6D-B002-5BD7E1069C06}"/>
                </a:ext>
              </a:extLst>
            </p:cNvPr>
            <p:cNvCxnSpPr>
              <a:cxnSpLocks noChangeShapeType="1"/>
              <a:stCxn id="48133" idx="5"/>
              <a:endCxn id="48134" idx="1"/>
            </p:cNvCxnSpPr>
            <p:nvPr/>
          </p:nvCxnSpPr>
          <p:spPr bwMode="auto">
            <a:xfrm rot="16200000" flipH="1">
              <a:off x="1316038" y="4440238"/>
              <a:ext cx="1101725" cy="155892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137" name="AutoShape 8">
              <a:extLst>
                <a:ext uri="{FF2B5EF4-FFF2-40B4-BE49-F238E27FC236}">
                  <a16:creationId xmlns:a16="http://schemas.microsoft.com/office/drawing/2014/main" id="{6BD20602-84BD-123D-F36D-D5AFF4375B63}"/>
                </a:ext>
              </a:extLst>
            </p:cNvPr>
            <p:cNvCxnSpPr>
              <a:cxnSpLocks noChangeShapeType="1"/>
              <a:stCxn id="48133" idx="7"/>
              <a:endCxn id="48135" idx="2"/>
            </p:cNvCxnSpPr>
            <p:nvPr/>
          </p:nvCxnSpPr>
          <p:spPr bwMode="auto">
            <a:xfrm rot="-5400000">
              <a:off x="1944687" y="3219451"/>
              <a:ext cx="322263" cy="203676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138" name="AutoShape 9">
              <a:extLst>
                <a:ext uri="{FF2B5EF4-FFF2-40B4-BE49-F238E27FC236}">
                  <a16:creationId xmlns:a16="http://schemas.microsoft.com/office/drawing/2014/main" id="{8EEDA2D9-78E2-3D1D-1C17-2F53F2330D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362200" y="4724400"/>
              <a:ext cx="1447800" cy="533400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139" name="Text Box 12">
              <a:extLst>
                <a:ext uri="{FF2B5EF4-FFF2-40B4-BE49-F238E27FC236}">
                  <a16:creationId xmlns:a16="http://schemas.microsoft.com/office/drawing/2014/main" id="{720D9CE8-9358-C193-BA6C-9440E13F8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5181600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48140" name="Text Box 13">
              <a:extLst>
                <a:ext uri="{FF2B5EF4-FFF2-40B4-BE49-F238E27FC236}">
                  <a16:creationId xmlns:a16="http://schemas.microsoft.com/office/drawing/2014/main" id="{52D57402-1672-E8D5-284C-3169E8B7B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657600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i,k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48141" name="Text Box 14">
              <a:extLst>
                <a:ext uri="{FF2B5EF4-FFF2-40B4-BE49-F238E27FC236}">
                  <a16:creationId xmlns:a16="http://schemas.microsoft.com/office/drawing/2014/main" id="{2571A335-BDC5-7E10-0384-62C931F29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4800600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en-US" sz="2400" b="1" baseline="30000">
                  <a:solidFill>
                    <a:schemeClr val="hlink"/>
                  </a:solidFill>
                  <a:latin typeface="Times New Roman" panose="02020603050405020304" pitchFamily="18" charset="0"/>
                </a:rPr>
                <a:t>-1)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k,j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]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ABC339A-75C3-E288-D59D-4F4A7CF5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E3956E3-C730-9887-300F-B37C0DDE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8458200" cy="838200"/>
          </a:xfrm>
        </p:spPr>
        <p:txBody>
          <a:bodyPr/>
          <a:lstStyle/>
          <a:p>
            <a:pPr eaLnBrk="1" hangingPunct="1"/>
            <a:r>
              <a:rPr lang="en-US" altLang="en-US"/>
              <a:t>Floyd’s Algorithm (example)</a:t>
            </a:r>
          </a:p>
        </p:txBody>
      </p:sp>
      <p:grpSp>
        <p:nvGrpSpPr>
          <p:cNvPr id="56323" name="Group 35">
            <a:extLst>
              <a:ext uri="{FF2B5EF4-FFF2-40B4-BE49-F238E27FC236}">
                <a16:creationId xmlns:a16="http://schemas.microsoft.com/office/drawing/2014/main" id="{883B44AF-118F-78EA-429C-320E74B733B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19200"/>
            <a:ext cx="7843838" cy="4137025"/>
            <a:chOff x="609600" y="1219200"/>
            <a:chExt cx="7843854" cy="4136650"/>
          </a:xfrm>
        </p:grpSpPr>
        <p:sp>
          <p:nvSpPr>
            <p:cNvPr id="56324" name="Text Box 12">
              <a:extLst>
                <a:ext uri="{FF2B5EF4-FFF2-40B4-BE49-F238E27FC236}">
                  <a16:creationId xmlns:a16="http://schemas.microsoft.com/office/drawing/2014/main" id="{00106DE7-D8A4-5FE8-B173-04C81DAD3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144780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</a:t>
              </a:r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en-US" sz="2400">
                  <a:latin typeface="Times New Roman" panose="02020603050405020304" pitchFamily="18" charset="0"/>
                </a:rPr>
                <a:t>  3   ∞ 2   0   ∞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∞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∞  0</a:t>
              </a:r>
            </a:p>
          </p:txBody>
        </p:sp>
        <p:sp>
          <p:nvSpPr>
            <p:cNvPr id="56325" name="Text Box 13">
              <a:extLst>
                <a:ext uri="{FF2B5EF4-FFF2-40B4-BE49-F238E27FC236}">
                  <a16:creationId xmlns:a16="http://schemas.microsoft.com/office/drawing/2014/main" id="{EB990FE0-80F7-778D-0E07-CB3483B34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2057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(0)  = 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26" name="Rectangle 14">
              <a:extLst>
                <a:ext uri="{FF2B5EF4-FFF2-40B4-BE49-F238E27FC236}">
                  <a16:creationId xmlns:a16="http://schemas.microsoft.com/office/drawing/2014/main" id="{33781169-BDC0-8501-5CDA-4EF16C154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27" name="Rectangle 15">
              <a:extLst>
                <a:ext uri="{FF2B5EF4-FFF2-40B4-BE49-F238E27FC236}">
                  <a16:creationId xmlns:a16="http://schemas.microsoft.com/office/drawing/2014/main" id="{F8B07210-E0E8-62AF-FAE7-13B01F548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28" name="Text Box 16">
              <a:extLst>
                <a:ext uri="{FF2B5EF4-FFF2-40B4-BE49-F238E27FC236}">
                  <a16:creationId xmlns:a16="http://schemas.microsoft.com/office/drawing/2014/main" id="{654F894E-A711-0EBC-349C-B89A320F4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144780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∞  3   ∞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5</a:t>
              </a:r>
              <a:r>
                <a:rPr lang="en-US" altLang="en-US" sz="2400">
                  <a:latin typeface="Times New Roman" panose="02020603050405020304" pitchFamily="18" charset="0"/>
                </a:rPr>
                <a:t>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∞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9</a:t>
              </a:r>
              <a:r>
                <a:rPr lang="en-US" altLang="en-US" sz="2400">
                  <a:latin typeface="Times New Roman" panose="02020603050405020304" pitchFamily="18" charset="0"/>
                </a:rPr>
                <a:t>   0</a:t>
              </a:r>
            </a:p>
          </p:txBody>
        </p:sp>
        <p:sp>
          <p:nvSpPr>
            <p:cNvPr id="56329" name="Text Box 17">
              <a:extLst>
                <a:ext uri="{FF2B5EF4-FFF2-40B4-BE49-F238E27FC236}">
                  <a16:creationId xmlns:a16="http://schemas.microsoft.com/office/drawing/2014/main" id="{8974CCB1-FBCE-2070-712B-E60ADFDBE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057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(1)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0" name="Rectangle 18">
              <a:extLst>
                <a:ext uri="{FF2B5EF4-FFF2-40B4-BE49-F238E27FC236}">
                  <a16:creationId xmlns:a16="http://schemas.microsoft.com/office/drawing/2014/main" id="{ABCDA70D-5AEC-5051-76AE-1AEE492B3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828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1" name="Rectangle 19">
              <a:extLst>
                <a:ext uri="{FF2B5EF4-FFF2-40B4-BE49-F238E27FC236}">
                  <a16:creationId xmlns:a16="http://schemas.microsoft.com/office/drawing/2014/main" id="{67D49073-D8DB-E0B0-FFC4-B42B050C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1447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2" name="Text Box 20">
              <a:extLst>
                <a:ext uri="{FF2B5EF4-FFF2-40B4-BE49-F238E27FC236}">
                  <a16:creationId xmlns:a16="http://schemas.microsoft.com/office/drawing/2014/main" id="{25B1DC22-1B24-0801-1937-1A3C0D9DF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733800"/>
              <a:ext cx="17526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∞  3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5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9</a:t>
              </a:r>
              <a:r>
                <a:rPr lang="en-US" altLang="en-US" sz="2400">
                  <a:latin typeface="Times New Roman" panose="02020603050405020304" pitchFamily="18" charset="0"/>
                </a:rPr>
                <a:t> 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9   0</a:t>
              </a:r>
            </a:p>
          </p:txBody>
        </p:sp>
        <p:sp>
          <p:nvSpPr>
            <p:cNvPr id="56333" name="Text Box 21">
              <a:extLst>
                <a:ext uri="{FF2B5EF4-FFF2-40B4-BE49-F238E27FC236}">
                  <a16:creationId xmlns:a16="http://schemas.microsoft.com/office/drawing/2014/main" id="{8D473E6E-E3BC-762A-93AD-546B5D28A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3434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(2)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4" name="Rectangle 22">
              <a:extLst>
                <a:ext uri="{FF2B5EF4-FFF2-40B4-BE49-F238E27FC236}">
                  <a16:creationId xmlns:a16="http://schemas.microsoft.com/office/drawing/2014/main" id="{CACB41F4-26FC-04FE-7FCA-DE59B9776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95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5" name="Rectangle 23">
              <a:extLst>
                <a:ext uri="{FF2B5EF4-FFF2-40B4-BE49-F238E27FC236}">
                  <a16:creationId xmlns:a16="http://schemas.microsoft.com/office/drawing/2014/main" id="{4B42E44F-DE3D-5654-C9D7-54FF4A27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733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6" name="Text Box 24">
              <a:extLst>
                <a:ext uri="{FF2B5EF4-FFF2-40B4-BE49-F238E27FC236}">
                  <a16:creationId xmlns:a16="http://schemas.microsoft.com/office/drawing/2014/main" id="{75495054-2AAF-D678-894F-F7361CFA4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4" y="371476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10</a:t>
              </a:r>
              <a:r>
                <a:rPr lang="en-US" altLang="en-US" sz="2400">
                  <a:latin typeface="Times New Roman" panose="02020603050405020304" pitchFamily="18" charset="0"/>
                </a:rPr>
                <a:t>  3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4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2   0   5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6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9   7   0  1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16</a:t>
              </a:r>
              <a:r>
                <a:rPr lang="en-US" altLang="en-US" sz="2400">
                  <a:latin typeface="Times New Roman" panose="02020603050405020304" pitchFamily="18" charset="0"/>
                </a:rPr>
                <a:t>  9  0</a:t>
              </a:r>
            </a:p>
          </p:txBody>
        </p:sp>
        <p:sp>
          <p:nvSpPr>
            <p:cNvPr id="56337" name="Text Box 25">
              <a:extLst>
                <a:ext uri="{FF2B5EF4-FFF2-40B4-BE49-F238E27FC236}">
                  <a16:creationId xmlns:a16="http://schemas.microsoft.com/office/drawing/2014/main" id="{092E46D4-EC22-4810-5306-779665AFE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524" y="432436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 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(3)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8" name="Rectangle 26">
              <a:extLst>
                <a:ext uri="{FF2B5EF4-FFF2-40B4-BE49-F238E27FC236}">
                  <a16:creationId xmlns:a16="http://schemas.microsoft.com/office/drawing/2014/main" id="{D327C5F1-9B43-B376-F3EB-79E8258B5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124" y="4857760"/>
              <a:ext cx="14478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6339" name="Rectangle 27">
              <a:extLst>
                <a:ext uri="{FF2B5EF4-FFF2-40B4-BE49-F238E27FC236}">
                  <a16:creationId xmlns:a16="http://schemas.microsoft.com/office/drawing/2014/main" id="{6808183A-48A9-B297-8561-63B0C9A93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924" y="371476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21916" name="Text Box 28">
              <a:extLst>
                <a:ext uri="{FF2B5EF4-FFF2-40B4-BE49-F238E27FC236}">
                  <a16:creationId xmlns:a16="http://schemas.microsoft.com/office/drawing/2014/main" id="{8A32915C-72E1-4537-BA81-6E210081B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1" y="3785955"/>
              <a:ext cx="1524003" cy="15698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0  10  3  4</a:t>
              </a:r>
            </a:p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2   0   5  6</a:t>
              </a:r>
            </a:p>
            <a:p>
              <a:pPr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7   0  1</a:t>
              </a:r>
            </a:p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6  16  9  0</a:t>
              </a:r>
            </a:p>
          </p:txBody>
        </p:sp>
        <p:sp>
          <p:nvSpPr>
            <p:cNvPr id="421917" name="Text Box 29">
              <a:extLst>
                <a:ext uri="{FF2B5EF4-FFF2-40B4-BE49-F238E27FC236}">
                  <a16:creationId xmlns:a16="http://schemas.microsoft.com/office/drawing/2014/main" id="{8FD5B65D-BFAB-43E2-98CB-5D1CA9853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249" y="4395500"/>
              <a:ext cx="914402" cy="45715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  <a:r>
                <a:rPr lang="en-US" baseline="30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(4)  =</a:t>
              </a: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342" name="Line 11">
              <a:extLst>
                <a:ext uri="{FF2B5EF4-FFF2-40B4-BE49-F238E27FC236}">
                  <a16:creationId xmlns:a16="http://schemas.microsoft.com/office/drawing/2014/main" id="{404A6A6E-96C4-CBAC-3D2E-81A0B9C66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4400" y="1752600"/>
              <a:ext cx="0" cy="838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6343" name="Group 42">
              <a:extLst>
                <a:ext uri="{FF2B5EF4-FFF2-40B4-BE49-F238E27FC236}">
                  <a16:creationId xmlns:a16="http://schemas.microsoft.com/office/drawing/2014/main" id="{8434C949-0385-A9A7-0194-28122D2A7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219200"/>
              <a:ext cx="1676400" cy="1905000"/>
              <a:chOff x="384" y="768"/>
              <a:chExt cx="1056" cy="1200"/>
            </a:xfrm>
          </p:grpSpPr>
          <p:sp>
            <p:nvSpPr>
              <p:cNvPr id="56344" name="Oval 6">
                <a:extLst>
                  <a:ext uri="{FF2B5EF4-FFF2-40B4-BE49-F238E27FC236}">
                    <a16:creationId xmlns:a16="http://schemas.microsoft.com/office/drawing/2014/main" id="{1C7ED49E-006E-734F-2DC4-A5E05E6E8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6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6345" name="Line 8">
                <a:extLst>
                  <a:ext uri="{FF2B5EF4-FFF2-40B4-BE49-F238E27FC236}">
                    <a16:creationId xmlns:a16="http://schemas.microsoft.com/office/drawing/2014/main" id="{5CF5ED56-D912-163F-91CF-3F903F4A9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00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6" name="Line 30">
                <a:extLst>
                  <a:ext uri="{FF2B5EF4-FFF2-40B4-BE49-F238E27FC236}">
                    <a16:creationId xmlns:a16="http://schemas.microsoft.com/office/drawing/2014/main" id="{10DE8D3C-3544-2218-F066-0953FB7DC8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72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7" name="Line 31">
                <a:extLst>
                  <a:ext uri="{FF2B5EF4-FFF2-40B4-BE49-F238E27FC236}">
                    <a16:creationId xmlns:a16="http://schemas.microsoft.com/office/drawing/2014/main" id="{DC3663B1-6A29-598C-900E-E3DA375DC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4" y="1056"/>
                <a:ext cx="624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8" name="Line 32">
                <a:extLst>
                  <a:ext uri="{FF2B5EF4-FFF2-40B4-BE49-F238E27FC236}">
                    <a16:creationId xmlns:a16="http://schemas.microsoft.com/office/drawing/2014/main" id="{DFCCE082-4467-1544-1E79-16097D156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" y="1056"/>
                <a:ext cx="672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9" name="Text Box 33">
                <a:extLst>
                  <a:ext uri="{FF2B5EF4-FFF2-40B4-BE49-F238E27FC236}">
                    <a16:creationId xmlns:a16="http://schemas.microsoft.com/office/drawing/2014/main" id="{3AE5340E-4A4F-BD40-E7FD-AD54EDB29C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6350" name="Text Box 34">
                <a:extLst>
                  <a:ext uri="{FF2B5EF4-FFF2-40B4-BE49-F238E27FC236}">
                    <a16:creationId xmlns:a16="http://schemas.microsoft.com/office/drawing/2014/main" id="{5130CDC4-C1BC-6C7E-F305-130EB94AB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2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6351" name="Text Box 35">
                <a:extLst>
                  <a:ext uri="{FF2B5EF4-FFF2-40B4-BE49-F238E27FC236}">
                    <a16:creationId xmlns:a16="http://schemas.microsoft.com/office/drawing/2014/main" id="{B7A7A612-D462-CC74-84FB-86D876BEB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76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6352" name="Text Box 36">
                <a:extLst>
                  <a:ext uri="{FF2B5EF4-FFF2-40B4-BE49-F238E27FC236}">
                    <a16:creationId xmlns:a16="http://schemas.microsoft.com/office/drawing/2014/main" id="{A167AF6C-9686-BBB7-AA20-D88961036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6353" name="Text Box 37">
                <a:extLst>
                  <a:ext uri="{FF2B5EF4-FFF2-40B4-BE49-F238E27FC236}">
                    <a16:creationId xmlns:a16="http://schemas.microsoft.com/office/drawing/2014/main" id="{70C44671-E59C-6CDD-9A8A-4AD9C4911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56354" name="Oval 38">
                <a:extLst>
                  <a:ext uri="{FF2B5EF4-FFF2-40B4-BE49-F238E27FC236}">
                    <a16:creationId xmlns:a16="http://schemas.microsoft.com/office/drawing/2014/main" id="{D33A063D-92A7-8C91-D9A5-D361AB12B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6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6355" name="Oval 39">
                <a:extLst>
                  <a:ext uri="{FF2B5EF4-FFF2-40B4-BE49-F238E27FC236}">
                    <a16:creationId xmlns:a16="http://schemas.microsoft.com/office/drawing/2014/main" id="{6331D28F-282B-EE4E-4EEE-48B43AE31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9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6356" name="Oval 40">
                <a:extLst>
                  <a:ext uri="{FF2B5EF4-FFF2-40B4-BE49-F238E27FC236}">
                    <a16:creationId xmlns:a16="http://schemas.microsoft.com/office/drawing/2014/main" id="{E7D913A4-F10D-C04A-8F3B-9C48CB95A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FBA5598-B0A3-883F-15D1-2A5EF2A8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8458200" cy="838200"/>
          </a:xfrm>
        </p:spPr>
        <p:txBody>
          <a:bodyPr/>
          <a:lstStyle/>
          <a:p>
            <a:pPr eaLnBrk="1" hangingPunct="1"/>
            <a:r>
              <a:rPr lang="en-US" altLang="en-US"/>
              <a:t>Floyd’s Algorithm (example)</a:t>
            </a:r>
          </a:p>
        </p:txBody>
      </p:sp>
      <p:grpSp>
        <p:nvGrpSpPr>
          <p:cNvPr id="58371" name="Group 35">
            <a:extLst>
              <a:ext uri="{FF2B5EF4-FFF2-40B4-BE49-F238E27FC236}">
                <a16:creationId xmlns:a16="http://schemas.microsoft.com/office/drawing/2014/main" id="{2B4B3AC9-6FF1-C2B0-7B6A-935726C4199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19200"/>
            <a:ext cx="7843838" cy="4137025"/>
            <a:chOff x="609600" y="1219200"/>
            <a:chExt cx="7843854" cy="4136650"/>
          </a:xfrm>
        </p:grpSpPr>
        <p:sp>
          <p:nvSpPr>
            <p:cNvPr id="58372" name="Text Box 12">
              <a:extLst>
                <a:ext uri="{FF2B5EF4-FFF2-40B4-BE49-F238E27FC236}">
                  <a16:creationId xmlns:a16="http://schemas.microsoft.com/office/drawing/2014/main" id="{A1031A71-4A4B-A594-10ED-182CDBCA8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144780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</a:t>
              </a:r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r>
                <a:rPr lang="en-US" altLang="en-US" sz="2400">
                  <a:latin typeface="Times New Roman" panose="02020603050405020304" pitchFamily="18" charset="0"/>
                </a:rPr>
                <a:t>  3   ∞ 2   0   ∞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∞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∞  0</a:t>
              </a:r>
            </a:p>
          </p:txBody>
        </p:sp>
        <p:sp>
          <p:nvSpPr>
            <p:cNvPr id="58373" name="Text Box 13">
              <a:extLst>
                <a:ext uri="{FF2B5EF4-FFF2-40B4-BE49-F238E27FC236}">
                  <a16:creationId xmlns:a16="http://schemas.microsoft.com/office/drawing/2014/main" id="{BA11B3EF-DA78-0949-C4B7-884DF3447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2057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(0)  = 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4" name="Rectangle 14">
              <a:extLst>
                <a:ext uri="{FF2B5EF4-FFF2-40B4-BE49-F238E27FC236}">
                  <a16:creationId xmlns:a16="http://schemas.microsoft.com/office/drawing/2014/main" id="{450FC347-F6C3-A793-58D9-FC3A0846A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5" name="Rectangle 15">
              <a:extLst>
                <a:ext uri="{FF2B5EF4-FFF2-40B4-BE49-F238E27FC236}">
                  <a16:creationId xmlns:a16="http://schemas.microsoft.com/office/drawing/2014/main" id="{80E72693-8EA4-2DD7-C1C3-999F7B1B5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447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6" name="Text Box 16">
              <a:extLst>
                <a:ext uri="{FF2B5EF4-FFF2-40B4-BE49-F238E27FC236}">
                  <a16:creationId xmlns:a16="http://schemas.microsoft.com/office/drawing/2014/main" id="{51D5A721-A43B-3DD0-DA92-D1D9802B4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144780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∞  3   ∞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5</a:t>
              </a:r>
              <a:r>
                <a:rPr lang="en-US" altLang="en-US" sz="2400">
                  <a:latin typeface="Times New Roman" panose="02020603050405020304" pitchFamily="18" charset="0"/>
                </a:rPr>
                <a:t>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∞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9</a:t>
              </a:r>
              <a:r>
                <a:rPr lang="en-US" altLang="en-US" sz="2400">
                  <a:latin typeface="Times New Roman" panose="02020603050405020304" pitchFamily="18" charset="0"/>
                </a:rPr>
                <a:t>   0</a:t>
              </a:r>
            </a:p>
          </p:txBody>
        </p:sp>
        <p:sp>
          <p:nvSpPr>
            <p:cNvPr id="58377" name="Text Box 17">
              <a:extLst>
                <a:ext uri="{FF2B5EF4-FFF2-40B4-BE49-F238E27FC236}">
                  <a16:creationId xmlns:a16="http://schemas.microsoft.com/office/drawing/2014/main" id="{20938181-79C6-7F42-877A-544988CE3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057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(1)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8" name="Rectangle 18">
              <a:extLst>
                <a:ext uri="{FF2B5EF4-FFF2-40B4-BE49-F238E27FC236}">
                  <a16:creationId xmlns:a16="http://schemas.microsoft.com/office/drawing/2014/main" id="{1313BD20-ED24-FF96-71A4-5A18E810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828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79" name="Rectangle 19">
              <a:extLst>
                <a:ext uri="{FF2B5EF4-FFF2-40B4-BE49-F238E27FC236}">
                  <a16:creationId xmlns:a16="http://schemas.microsoft.com/office/drawing/2014/main" id="{715DBFC7-5293-0903-91C2-2DE5D4DA5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1447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0" name="Text Box 20">
              <a:extLst>
                <a:ext uri="{FF2B5EF4-FFF2-40B4-BE49-F238E27FC236}">
                  <a16:creationId xmlns:a16="http://schemas.microsoft.com/office/drawing/2014/main" id="{9B199DB1-80A4-109A-65E7-F9923D30F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3733800"/>
              <a:ext cx="17526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 ∞  3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5   ∞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9</a:t>
              </a:r>
              <a:r>
                <a:rPr lang="en-US" altLang="en-US" sz="2400">
                  <a:latin typeface="Times New Roman" panose="02020603050405020304" pitchFamily="18" charset="0"/>
                </a:rPr>
                <a:t>   7   0   1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 ∞  9   0</a:t>
              </a:r>
            </a:p>
          </p:txBody>
        </p:sp>
        <p:sp>
          <p:nvSpPr>
            <p:cNvPr id="58381" name="Text Box 21">
              <a:extLst>
                <a:ext uri="{FF2B5EF4-FFF2-40B4-BE49-F238E27FC236}">
                  <a16:creationId xmlns:a16="http://schemas.microsoft.com/office/drawing/2014/main" id="{517DF87B-C78D-5AED-5DE6-651A480C2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43434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(2)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2" name="Rectangle 22">
              <a:extLst>
                <a:ext uri="{FF2B5EF4-FFF2-40B4-BE49-F238E27FC236}">
                  <a16:creationId xmlns:a16="http://schemas.microsoft.com/office/drawing/2014/main" id="{4896024E-6EBA-F6E9-E1A1-F93EFA050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495800"/>
              <a:ext cx="15240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3" name="Rectangle 23">
              <a:extLst>
                <a:ext uri="{FF2B5EF4-FFF2-40B4-BE49-F238E27FC236}">
                  <a16:creationId xmlns:a16="http://schemas.microsoft.com/office/drawing/2014/main" id="{0B065151-85FD-3E7F-9717-042F459EF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73380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4" name="Text Box 24">
              <a:extLst>
                <a:ext uri="{FF2B5EF4-FFF2-40B4-BE49-F238E27FC236}">
                  <a16:creationId xmlns:a16="http://schemas.microsoft.com/office/drawing/2014/main" id="{77D8E125-4AF8-9283-619F-095A62310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4" y="3714760"/>
              <a:ext cx="160020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0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10</a:t>
              </a:r>
              <a:r>
                <a:rPr lang="en-US" altLang="en-US" sz="2400">
                  <a:latin typeface="Times New Roman" panose="02020603050405020304" pitchFamily="18" charset="0"/>
                </a:rPr>
                <a:t>  3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4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2   0   5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6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9   7   0  1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6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16</a:t>
              </a:r>
              <a:r>
                <a:rPr lang="en-US" altLang="en-US" sz="2400">
                  <a:latin typeface="Times New Roman" panose="02020603050405020304" pitchFamily="18" charset="0"/>
                </a:rPr>
                <a:t>  9  0</a:t>
              </a:r>
            </a:p>
          </p:txBody>
        </p:sp>
        <p:sp>
          <p:nvSpPr>
            <p:cNvPr id="58385" name="Text Box 25">
              <a:extLst>
                <a:ext uri="{FF2B5EF4-FFF2-40B4-BE49-F238E27FC236}">
                  <a16:creationId xmlns:a16="http://schemas.microsoft.com/office/drawing/2014/main" id="{653A38A2-C473-7D17-FEDD-C7A5C3D83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524" y="432436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 D</a:t>
              </a:r>
              <a:r>
                <a:rPr lang="en-US" altLang="en-US" sz="2400" baseline="30000">
                  <a:latin typeface="Times New Roman" panose="02020603050405020304" pitchFamily="18" charset="0"/>
                </a:rPr>
                <a:t>(3)  =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6" name="Rectangle 26">
              <a:extLst>
                <a:ext uri="{FF2B5EF4-FFF2-40B4-BE49-F238E27FC236}">
                  <a16:creationId xmlns:a16="http://schemas.microsoft.com/office/drawing/2014/main" id="{58700817-59CB-E172-9EC6-ED5DDC84B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124" y="4857760"/>
              <a:ext cx="1447800" cy="381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8387" name="Rectangle 27">
              <a:extLst>
                <a:ext uri="{FF2B5EF4-FFF2-40B4-BE49-F238E27FC236}">
                  <a16:creationId xmlns:a16="http://schemas.microsoft.com/office/drawing/2014/main" id="{C65308B4-030E-01E7-5731-3051B8AAD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924" y="3714760"/>
              <a:ext cx="381000" cy="15240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21916" name="Text Box 28">
              <a:extLst>
                <a:ext uri="{FF2B5EF4-FFF2-40B4-BE49-F238E27FC236}">
                  <a16:creationId xmlns:a16="http://schemas.microsoft.com/office/drawing/2014/main" id="{8A32915C-72E1-4537-BA81-6E210081B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1" y="3785955"/>
              <a:ext cx="1524003" cy="15698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0  10  3  4</a:t>
              </a:r>
            </a:p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2   0   5  6</a:t>
              </a:r>
            </a:p>
            <a:p>
              <a:pPr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7   0  1</a:t>
              </a:r>
            </a:p>
            <a:p>
              <a:pPr>
                <a:defRPr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6  16  9  0</a:t>
              </a:r>
            </a:p>
          </p:txBody>
        </p:sp>
        <p:sp>
          <p:nvSpPr>
            <p:cNvPr id="421917" name="Text Box 29">
              <a:extLst>
                <a:ext uri="{FF2B5EF4-FFF2-40B4-BE49-F238E27FC236}">
                  <a16:creationId xmlns:a16="http://schemas.microsoft.com/office/drawing/2014/main" id="{8FD5B65D-BFAB-43E2-98CB-5D1CA9853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249" y="4395500"/>
              <a:ext cx="914402" cy="45715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  <a:r>
                <a:rPr lang="en-US" baseline="30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(4)  =</a:t>
              </a: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390" name="Line 11">
              <a:extLst>
                <a:ext uri="{FF2B5EF4-FFF2-40B4-BE49-F238E27FC236}">
                  <a16:creationId xmlns:a16="http://schemas.microsoft.com/office/drawing/2014/main" id="{0D3D3C7A-496C-B4D0-58F4-59539A872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4400" y="1752600"/>
              <a:ext cx="0" cy="838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8391" name="Group 42">
              <a:extLst>
                <a:ext uri="{FF2B5EF4-FFF2-40B4-BE49-F238E27FC236}">
                  <a16:creationId xmlns:a16="http://schemas.microsoft.com/office/drawing/2014/main" id="{9FF018B4-B9B6-D34C-D340-CAE8583ED7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219200"/>
              <a:ext cx="1676400" cy="1905000"/>
              <a:chOff x="384" y="768"/>
              <a:chExt cx="1056" cy="1200"/>
            </a:xfrm>
          </p:grpSpPr>
          <p:sp>
            <p:nvSpPr>
              <p:cNvPr id="58392" name="Oval 6">
                <a:extLst>
                  <a:ext uri="{FF2B5EF4-FFF2-40B4-BE49-F238E27FC236}">
                    <a16:creationId xmlns:a16="http://schemas.microsoft.com/office/drawing/2014/main" id="{83BFE64C-F0AF-3D9C-6784-E0A8F2D44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6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8393" name="Line 8">
                <a:extLst>
                  <a:ext uri="{FF2B5EF4-FFF2-40B4-BE49-F238E27FC236}">
                    <a16:creationId xmlns:a16="http://schemas.microsoft.com/office/drawing/2014/main" id="{0A2ABB3F-D7E3-3775-6BD2-5B4F30FC4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00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4" name="Line 30">
                <a:extLst>
                  <a:ext uri="{FF2B5EF4-FFF2-40B4-BE49-F238E27FC236}">
                    <a16:creationId xmlns:a16="http://schemas.microsoft.com/office/drawing/2014/main" id="{7FA38BFD-9924-208D-08B0-626BCBC0A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728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5" name="Line 31">
                <a:extLst>
                  <a:ext uri="{FF2B5EF4-FFF2-40B4-BE49-F238E27FC236}">
                    <a16:creationId xmlns:a16="http://schemas.microsoft.com/office/drawing/2014/main" id="{64DFA516-CB78-483A-D521-FB3B56D0A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4" y="1056"/>
                <a:ext cx="624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6" name="Line 32">
                <a:extLst>
                  <a:ext uri="{FF2B5EF4-FFF2-40B4-BE49-F238E27FC236}">
                    <a16:creationId xmlns:a16="http://schemas.microsoft.com/office/drawing/2014/main" id="{D641D2E2-59A1-7F2E-0E5B-2BAB22866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" y="1056"/>
                <a:ext cx="672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97" name="Text Box 33">
                <a:extLst>
                  <a:ext uri="{FF2B5EF4-FFF2-40B4-BE49-F238E27FC236}">
                    <a16:creationId xmlns:a16="http://schemas.microsoft.com/office/drawing/2014/main" id="{2CE9D69E-8F43-7B38-41C4-9886874B8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8398" name="Text Box 34">
                <a:extLst>
                  <a:ext uri="{FF2B5EF4-FFF2-40B4-BE49-F238E27FC236}">
                    <a16:creationId xmlns:a16="http://schemas.microsoft.com/office/drawing/2014/main" id="{CC4E1BFD-97FA-D761-9E01-5933AC00D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2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58399" name="Text Box 35">
                <a:extLst>
                  <a:ext uri="{FF2B5EF4-FFF2-40B4-BE49-F238E27FC236}">
                    <a16:creationId xmlns:a16="http://schemas.microsoft.com/office/drawing/2014/main" id="{50324740-9B4C-3267-4E96-8810FCE214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76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8400" name="Text Box 36">
                <a:extLst>
                  <a:ext uri="{FF2B5EF4-FFF2-40B4-BE49-F238E27FC236}">
                    <a16:creationId xmlns:a16="http://schemas.microsoft.com/office/drawing/2014/main" id="{6B865932-715A-30F0-645D-03443F367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58401" name="Text Box 37">
                <a:extLst>
                  <a:ext uri="{FF2B5EF4-FFF2-40B4-BE49-F238E27FC236}">
                    <a16:creationId xmlns:a16="http://schemas.microsoft.com/office/drawing/2014/main" id="{79A2A527-5716-A7DB-3B98-5F8E11ED2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2400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58402" name="Oval 38">
                <a:extLst>
                  <a:ext uri="{FF2B5EF4-FFF2-40B4-BE49-F238E27FC236}">
                    <a16:creationId xmlns:a16="http://schemas.microsoft.com/office/drawing/2014/main" id="{46896847-C4FF-F4C5-67D9-6CA793958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63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58403" name="Oval 39">
                <a:extLst>
                  <a:ext uri="{FF2B5EF4-FFF2-40B4-BE49-F238E27FC236}">
                    <a16:creationId xmlns:a16="http://schemas.microsoft.com/office/drawing/2014/main" id="{2B426BA3-7340-B3E4-C170-79020BAFC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9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8404" name="Oval 40">
                <a:extLst>
                  <a:ext uri="{FF2B5EF4-FFF2-40B4-BE49-F238E27FC236}">
                    <a16:creationId xmlns:a16="http://schemas.microsoft.com/office/drawing/2014/main" id="{0A97BFEF-CAF8-3138-D928-D21DDF10C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1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</p:grp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1213DE-35EF-8CAC-152C-87B1F7A4AEC4}"/>
                  </a:ext>
                </a:extLst>
              </p14:cNvPr>
              <p14:cNvContentPartPr/>
              <p14:nvPr/>
            </p14:nvContentPartPr>
            <p14:xfrm>
              <a:off x="2618975" y="1181499"/>
              <a:ext cx="4817520" cy="374268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1213DE-35EF-8CAC-152C-87B1F7A4AE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9614" y="1172139"/>
                <a:ext cx="4836241" cy="37614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242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0CB402-290B-9678-7FF4-4761EE075674}"/>
                  </a:ext>
                </a:extLst>
              </p14:cNvPr>
              <p14:cNvContentPartPr/>
              <p14:nvPr/>
            </p14:nvContentPartPr>
            <p14:xfrm>
              <a:off x="395350" y="275577"/>
              <a:ext cx="2628693" cy="2042207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0CB402-290B-9678-7FF4-4761EE0756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990" y="266217"/>
                <a:ext cx="2647413" cy="20609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402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EEAD16-C5EB-0126-DC98-50399D4876F8}"/>
                  </a:ext>
                </a:extLst>
              </p14:cNvPr>
              <p14:cNvContentPartPr/>
              <p14:nvPr/>
            </p14:nvContentPartPr>
            <p14:xfrm>
              <a:off x="420964" y="160316"/>
              <a:ext cx="2628693" cy="2042207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EEAD16-C5EB-0126-DC98-50399D487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604" y="150956"/>
                <a:ext cx="2647413" cy="20609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663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15F9F5C-8262-AB81-27AF-E304FFBB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6106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Floyd’s Algorithm (pseudocode and analysis)</a:t>
            </a:r>
          </a:p>
        </p:txBody>
      </p:sp>
      <p:pic>
        <p:nvPicPr>
          <p:cNvPr id="60419" name="Picture 7" descr="8_2b">
            <a:extLst>
              <a:ext uri="{FF2B5EF4-FFF2-40B4-BE49-F238E27FC236}">
                <a16:creationId xmlns:a16="http://schemas.microsoft.com/office/drawing/2014/main" id="{CFF90F7F-5B37-876E-2C44-A06FE9A6A3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8534400" cy="3425825"/>
          </a:xfrm>
          <a:solidFill>
            <a:schemeClr val="tx1"/>
          </a:solidFill>
        </p:spPr>
      </p:pic>
      <p:sp>
        <p:nvSpPr>
          <p:cNvPr id="60420" name="Text Box 4">
            <a:extLst>
              <a:ext uri="{FF2B5EF4-FFF2-40B4-BE49-F238E27FC236}">
                <a16:creationId xmlns:a16="http://schemas.microsoft.com/office/drawing/2014/main" id="{6DD957BB-926E-81A2-2295-43A76EBC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1EEA4C2D-0E73-DEE6-4D03-82D84E900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00600"/>
            <a:ext cx="8686800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Time efficiency: </a:t>
            </a:r>
            <a:r>
              <a:rPr lang="el-GR" altLang="en-US" sz="2400" b="1">
                <a:latin typeface="Lucida Grande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3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Space efficiency: Matrices can be written over their predecessors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Note: Shortest paths themselves can be found, too</a:t>
            </a:r>
          </a:p>
          <a:p>
            <a:pPr>
              <a:spcBef>
                <a:spcPct val="50000"/>
              </a:spcBef>
              <a:buFontTx/>
              <a:buNone/>
            </a:pPr>
            <a:endParaRPr lang="el-GR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>
            <a:extLst>
              <a:ext uri="{FF2B5EF4-FFF2-40B4-BE49-F238E27FC236}">
                <a16:creationId xmlns:a16="http://schemas.microsoft.com/office/drawing/2014/main" id="{EE92FB84-B364-379C-59E3-F10E9B87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Knapsack Problem by DP</a:t>
            </a:r>
          </a:p>
        </p:txBody>
      </p:sp>
      <p:sp>
        <p:nvSpPr>
          <p:cNvPr id="418819" name="Rectangle 1027">
            <a:extLst>
              <a:ext uri="{FF2B5EF4-FFF2-40B4-BE49-F238E27FC236}">
                <a16:creationId xmlns:a16="http://schemas.microsoft.com/office/drawing/2014/main" id="{E3F99EB0-A9DD-49CC-AA16-0B5172C27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066800"/>
            <a:ext cx="8110538" cy="5005388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Given </a:t>
            </a:r>
            <a:r>
              <a:rPr lang="en-US" sz="2400" i="1" dirty="0"/>
              <a:t>n</a:t>
            </a:r>
            <a:r>
              <a:rPr lang="en-US" sz="2400" dirty="0"/>
              <a:t> items  of 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/>
              <a:t>       integer weights:    </a:t>
            </a:r>
            <a:r>
              <a:rPr lang="en-US" sz="2400" i="1" dirty="0"/>
              <a:t>w</a:t>
            </a:r>
            <a:r>
              <a:rPr lang="en-US" sz="2400" baseline="-25000" dirty="0"/>
              <a:t>1   </a:t>
            </a:r>
            <a:r>
              <a:rPr lang="en-US" sz="2400" dirty="0"/>
              <a:t> </a:t>
            </a:r>
            <a:r>
              <a:rPr lang="en-US" sz="2400" i="1" dirty="0"/>
              <a:t>w</a:t>
            </a:r>
            <a:r>
              <a:rPr lang="en-US" sz="2400" baseline="-25000" dirty="0"/>
              <a:t>2</a:t>
            </a:r>
            <a:r>
              <a:rPr lang="en-US" sz="2400" i="1" dirty="0"/>
              <a:t>  … 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n</a:t>
            </a:r>
            <a:endParaRPr lang="en-US" sz="2400" i="1" baseline="-25000" dirty="0"/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/>
              <a:t>       values:                    </a:t>
            </a:r>
            <a:r>
              <a:rPr lang="en-US" sz="2400" i="1" dirty="0"/>
              <a:t>v</a:t>
            </a:r>
            <a:r>
              <a:rPr lang="en-US" sz="2400" baseline="-25000" dirty="0"/>
              <a:t>1   </a:t>
            </a:r>
            <a:r>
              <a:rPr lang="en-US" sz="2400" dirty="0"/>
              <a:t>  </a:t>
            </a:r>
            <a:r>
              <a:rPr lang="en-US" sz="2400" i="1" dirty="0"/>
              <a:t>v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i="1" dirty="0"/>
              <a:t> …  </a:t>
            </a:r>
            <a:r>
              <a:rPr lang="en-US" sz="2400" i="1" dirty="0" err="1"/>
              <a:t>v</a:t>
            </a:r>
            <a:r>
              <a:rPr lang="en-US" sz="2400" i="1" baseline="-25000" dirty="0" err="1"/>
              <a:t>n</a:t>
            </a: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             a knapsack of integer capacity </a:t>
            </a:r>
            <a:r>
              <a:rPr lang="en-US" sz="2400" i="1" dirty="0"/>
              <a:t>W </a:t>
            </a:r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find most valuable subset of the items that fit into the knapsack</a:t>
            </a:r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2400" dirty="0"/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Consider instance defined by first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items and capacity </a:t>
            </a:r>
            <a:r>
              <a:rPr lang="en-US" sz="2400" i="1" dirty="0"/>
              <a:t>j </a:t>
            </a:r>
            <a:r>
              <a:rPr lang="en-US" sz="2400" dirty="0"/>
              <a:t>(</a:t>
            </a:r>
            <a:r>
              <a:rPr lang="en-US" sz="2400" i="1" dirty="0"/>
              <a:t>j </a:t>
            </a:r>
            <a:r>
              <a:rPr lang="en-US" sz="2400" dirty="0">
                <a:sym typeface="Symbol" pitchFamily="84" charset="2"/>
              </a:rPr>
              <a:t> </a:t>
            </a:r>
            <a:r>
              <a:rPr lang="en-US" sz="2400" i="1" dirty="0">
                <a:sym typeface="Symbol" pitchFamily="84" charset="2"/>
              </a:rPr>
              <a:t>W</a:t>
            </a:r>
            <a:r>
              <a:rPr lang="en-US" sz="2400" dirty="0">
                <a:sym typeface="Symbol" pitchFamily="84" charset="2"/>
              </a:rPr>
              <a:t>)</a:t>
            </a:r>
            <a:r>
              <a:rPr lang="en-US" sz="2400" i="1" dirty="0">
                <a:sym typeface="Symbol" pitchFamily="84" charset="2"/>
              </a:rPr>
              <a:t>.</a:t>
            </a:r>
          </a:p>
          <a:p>
            <a:pPr marL="0" indent="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>
                <a:sym typeface="Symbol" pitchFamily="84" charset="2"/>
              </a:rPr>
              <a:t>Let 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 err="1">
                <a:sym typeface="Symbol" pitchFamily="84" charset="2"/>
              </a:rPr>
              <a:t>i</a:t>
            </a:r>
            <a:r>
              <a:rPr lang="en-US" sz="2400" dirty="0" err="1">
                <a:sym typeface="Symbol" pitchFamily="84" charset="2"/>
              </a:rPr>
              <a:t>,</a:t>
            </a:r>
            <a:r>
              <a:rPr lang="en-US" sz="2400" i="1" dirty="0" err="1">
                <a:sym typeface="Symbol" pitchFamily="84" charset="2"/>
              </a:rPr>
              <a:t>j</a:t>
            </a:r>
            <a:r>
              <a:rPr lang="en-US" sz="2400" dirty="0">
                <a:sym typeface="Symbol" pitchFamily="84" charset="2"/>
              </a:rPr>
              <a:t>] be optimal value of such instance.  Then</a:t>
            </a:r>
          </a:p>
          <a:p>
            <a:pPr marL="0" indent="0" eaLnBrk="1" fontAlgn="auto" hangingPunct="1">
              <a:lnSpc>
                <a:spcPct val="7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>
                <a:sym typeface="Symbol" pitchFamily="84" charset="2"/>
              </a:rPr>
              <a:t>	  max {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>
                <a:sym typeface="Symbol" pitchFamily="84" charset="2"/>
              </a:rPr>
              <a:t>i</a:t>
            </a:r>
            <a:r>
              <a:rPr lang="en-US" sz="2400" dirty="0">
                <a:sym typeface="Symbol" pitchFamily="84" charset="2"/>
              </a:rPr>
              <a:t>-1,</a:t>
            </a:r>
            <a:r>
              <a:rPr lang="en-US" sz="2400" i="1" dirty="0">
                <a:sym typeface="Symbol" pitchFamily="84" charset="2"/>
              </a:rPr>
              <a:t>j</a:t>
            </a:r>
            <a:r>
              <a:rPr lang="en-US" sz="2400" dirty="0">
                <a:sym typeface="Symbol" pitchFamily="84" charset="2"/>
              </a:rPr>
              <a:t>], </a:t>
            </a:r>
            <a:r>
              <a:rPr lang="en-US" sz="2400" i="1" dirty="0"/>
              <a:t>v</a:t>
            </a:r>
            <a:r>
              <a:rPr lang="en-US" sz="2400" i="1" baseline="-25000" dirty="0"/>
              <a:t>i</a:t>
            </a:r>
            <a:r>
              <a:rPr lang="en-US" sz="2400" dirty="0">
                <a:sym typeface="Symbol" pitchFamily="84" charset="2"/>
              </a:rPr>
              <a:t> + 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>
                <a:sym typeface="Symbol" pitchFamily="84" charset="2"/>
              </a:rPr>
              <a:t>i</a:t>
            </a:r>
            <a:r>
              <a:rPr lang="en-US" sz="2400" dirty="0">
                <a:sym typeface="Symbol" pitchFamily="84" charset="2"/>
              </a:rPr>
              <a:t>-1,</a:t>
            </a:r>
            <a:r>
              <a:rPr lang="en-US" sz="2400" i="1" dirty="0">
                <a:sym typeface="Symbol" pitchFamily="84" charset="2"/>
              </a:rPr>
              <a:t>j-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dirty="0">
                <a:sym typeface="Symbol" pitchFamily="84" charset="2"/>
              </a:rPr>
              <a:t>]}   if </a:t>
            </a:r>
            <a:r>
              <a:rPr lang="en-US" sz="2400" i="1" dirty="0">
                <a:sym typeface="Symbol" pitchFamily="84" charset="2"/>
              </a:rPr>
              <a:t>j-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</a:t>
            </a:r>
            <a:r>
              <a:rPr lang="en-US" sz="2400" dirty="0">
                <a:sym typeface="Symbol" pitchFamily="84" charset="2"/>
              </a:rPr>
              <a:t> 0</a:t>
            </a:r>
            <a:endParaRPr lang="en-US" sz="2400" i="1" baseline="-25000" dirty="0">
              <a:sym typeface="Symbol" pitchFamily="84" charset="2"/>
            </a:endParaRPr>
          </a:p>
          <a:p>
            <a:pPr marL="0" indent="0" eaLnBrk="1" fontAlgn="auto" hangingPunct="1">
              <a:lnSpc>
                <a:spcPct val="7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 err="1">
                <a:sym typeface="Symbol" pitchFamily="84" charset="2"/>
              </a:rPr>
              <a:t>i</a:t>
            </a:r>
            <a:r>
              <a:rPr lang="en-US" sz="2400" dirty="0" err="1">
                <a:sym typeface="Symbol" pitchFamily="84" charset="2"/>
              </a:rPr>
              <a:t>,</a:t>
            </a:r>
            <a:r>
              <a:rPr lang="en-US" sz="2400" i="1" dirty="0" err="1">
                <a:sym typeface="Symbol" pitchFamily="84" charset="2"/>
              </a:rPr>
              <a:t>j</a:t>
            </a:r>
            <a:r>
              <a:rPr lang="en-US" sz="2400" dirty="0">
                <a:sym typeface="Symbol" pitchFamily="84" charset="2"/>
              </a:rPr>
              <a:t>] =</a:t>
            </a:r>
          </a:p>
          <a:p>
            <a:pPr marL="0" indent="0" eaLnBrk="1" fontAlgn="auto" hangingPunct="1">
              <a:lnSpc>
                <a:spcPct val="7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>
                <a:sym typeface="Symbol" pitchFamily="84" charset="2"/>
              </a:rPr>
              <a:t> 	  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>
                <a:sym typeface="Symbol" pitchFamily="84" charset="2"/>
              </a:rPr>
              <a:t>i</a:t>
            </a:r>
            <a:r>
              <a:rPr lang="en-US" sz="2400" dirty="0">
                <a:sym typeface="Symbol" pitchFamily="84" charset="2"/>
              </a:rPr>
              <a:t>-1,</a:t>
            </a:r>
            <a:r>
              <a:rPr lang="en-US" sz="2400" i="1" dirty="0">
                <a:sym typeface="Symbol" pitchFamily="84" charset="2"/>
              </a:rPr>
              <a:t>j</a:t>
            </a:r>
            <a:r>
              <a:rPr lang="en-US" sz="2400" dirty="0">
                <a:sym typeface="Symbol" pitchFamily="84" charset="2"/>
              </a:rPr>
              <a:t>]                                          if </a:t>
            </a:r>
            <a:r>
              <a:rPr lang="en-US" sz="2400" i="1" dirty="0">
                <a:sym typeface="Symbol" pitchFamily="84" charset="2"/>
              </a:rPr>
              <a:t>j-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</a:t>
            </a:r>
            <a:r>
              <a:rPr lang="en-US" sz="2400" dirty="0">
                <a:sym typeface="Symbol" pitchFamily="84" charset="2"/>
              </a:rPr>
              <a:t>&lt; 0</a:t>
            </a:r>
            <a:endParaRPr lang="en-US" sz="2400" dirty="0"/>
          </a:p>
          <a:p>
            <a:pPr marL="0" indent="0" eaLnBrk="1" fontAlgn="auto" hangingPunct="1">
              <a:lnSpc>
                <a:spcPct val="7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2400" dirty="0"/>
          </a:p>
          <a:p>
            <a:pPr marL="0" indent="0" eaLnBrk="1" fontAlgn="auto" hangingPunct="1">
              <a:lnSpc>
                <a:spcPct val="7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400" dirty="0"/>
              <a:t>Initial conditions: 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[0,</a:t>
            </a:r>
            <a:r>
              <a:rPr lang="en-US" sz="2400" i="1" dirty="0">
                <a:sym typeface="Symbol" pitchFamily="84" charset="2"/>
              </a:rPr>
              <a:t>j</a:t>
            </a:r>
            <a:r>
              <a:rPr lang="en-US" sz="2400" dirty="0">
                <a:sym typeface="Symbol" pitchFamily="84" charset="2"/>
              </a:rPr>
              <a:t>] = 0  and </a:t>
            </a:r>
            <a:r>
              <a:rPr lang="en-US" sz="2400" i="1" dirty="0">
                <a:sym typeface="Symbol" pitchFamily="84" charset="2"/>
              </a:rPr>
              <a:t>V</a:t>
            </a:r>
            <a:r>
              <a:rPr lang="en-US" sz="2400" dirty="0">
                <a:sym typeface="Symbol" pitchFamily="84" charset="2"/>
              </a:rPr>
              <a:t>[</a:t>
            </a:r>
            <a:r>
              <a:rPr lang="en-US" sz="2400" i="1" dirty="0">
                <a:sym typeface="Symbol" pitchFamily="84" charset="2"/>
              </a:rPr>
              <a:t>i</a:t>
            </a:r>
            <a:r>
              <a:rPr lang="en-US" sz="2400" dirty="0">
                <a:sym typeface="Symbol" pitchFamily="84" charset="2"/>
              </a:rPr>
              <a:t>,0] = 0</a:t>
            </a:r>
            <a:endParaRPr lang="en-US" sz="2400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CC461952-610E-41B1-8F6F-7E835BFE01F3}"/>
              </a:ext>
            </a:extLst>
          </p:cNvPr>
          <p:cNvSpPr/>
          <p:nvPr/>
        </p:nvSpPr>
        <p:spPr>
          <a:xfrm>
            <a:off x="1428750" y="4429125"/>
            <a:ext cx="142875" cy="50006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6CC5-232C-9EB2-7E08-9AC33527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74638"/>
            <a:ext cx="2270632" cy="1143000"/>
          </a:xfrm>
        </p:spPr>
        <p:txBody>
          <a:bodyPr/>
          <a:lstStyle/>
          <a:p>
            <a:r>
              <a:rPr lang="en-US" sz="2800" dirty="0"/>
              <a:t>Knapsack capacity=6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F5091F-6A12-8479-79FC-03249212F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398737"/>
              </p:ext>
            </p:extLst>
          </p:nvPr>
        </p:nvGraphicFramePr>
        <p:xfrm>
          <a:off x="181856" y="1320158"/>
          <a:ext cx="2347024" cy="40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211">
                  <a:extLst>
                    <a:ext uri="{9D8B030D-6E8A-4147-A177-3AD203B41FA5}">
                      <a16:colId xmlns:a16="http://schemas.microsoft.com/office/drawing/2014/main" val="2154318451"/>
                    </a:ext>
                  </a:extLst>
                </a:gridCol>
                <a:gridCol w="912432">
                  <a:extLst>
                    <a:ext uri="{9D8B030D-6E8A-4147-A177-3AD203B41FA5}">
                      <a16:colId xmlns:a16="http://schemas.microsoft.com/office/drawing/2014/main" val="1489245223"/>
                    </a:ext>
                  </a:extLst>
                </a:gridCol>
                <a:gridCol w="762381">
                  <a:extLst>
                    <a:ext uri="{9D8B030D-6E8A-4147-A177-3AD203B41FA5}">
                      <a16:colId xmlns:a16="http://schemas.microsoft.com/office/drawing/2014/main" val="1043067299"/>
                    </a:ext>
                  </a:extLst>
                </a:gridCol>
              </a:tblGrid>
              <a:tr h="802768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556584"/>
                  </a:ext>
                </a:extLst>
              </a:tr>
              <a:tr h="802768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621136"/>
                  </a:ext>
                </a:extLst>
              </a:tr>
              <a:tr h="802768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706320"/>
                  </a:ext>
                </a:extLst>
              </a:tr>
              <a:tr h="802768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708456"/>
                  </a:ext>
                </a:extLst>
              </a:tr>
              <a:tr h="802768">
                <a:tc>
                  <a:txBody>
                    <a:bodyPr/>
                    <a:lstStyle/>
                    <a:p>
                      <a:r>
                        <a:rPr lang="en-US" sz="2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431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119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01BF13F6-5E47-46B2-EAD8-167EDCE4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33487CD3-E95E-6B12-0E19-5A0C48B7D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162FB501-6790-0990-DAB0-5925E1A9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1AED4B74-E045-C031-FFD5-474CD9E7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8F9A0843-611C-C9B5-1DA1-C49E9EC5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2EDFC37C-0B0B-DCB2-968C-DCFAEF3B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06659F8B-6D1F-9592-D315-E4308E00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31A50807-6F99-61F2-C621-D3165F4B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3C619396-9F54-3D80-663C-C36D59ED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196D154E-FC19-7312-E94B-1FED901B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0D37DF1D-21D1-C5CF-5B86-B50E8ED0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407B7D41-3456-A611-4853-72536F22C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3">
            <a:extLst>
              <a:ext uri="{FF2B5EF4-FFF2-40B4-BE49-F238E27FC236}">
                <a16:creationId xmlns:a16="http://schemas.microsoft.com/office/drawing/2014/main" id="{47B51E1F-9133-C151-7862-AA5286D2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6CCF13B1-423E-4DB7-B4EC-0E309FF3E327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43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683" name="Picture 2" descr="fig08_12">
            <a:extLst>
              <a:ext uri="{FF2B5EF4-FFF2-40B4-BE49-F238E27FC236}">
                <a16:creationId xmlns:a16="http://schemas.microsoft.com/office/drawing/2014/main" id="{39858F00-A225-D315-A45D-A6E671458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137525" cy="249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D836F39-CBBF-E9B8-CF3D-6720C63C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Knapsack Problem by DP (example)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7A4503EB-8946-4DD2-8CDA-A2032E7E25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8534400" cy="55626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Example:  Knapsack of capacity </a:t>
            </a:r>
            <a:r>
              <a:rPr lang="en-US" i="1" dirty="0"/>
              <a:t>W </a:t>
            </a:r>
            <a:r>
              <a:rPr lang="en-US" dirty="0"/>
              <a:t>= 5</a:t>
            </a:r>
            <a:endParaRPr lang="en-US" u="sng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u="sng" dirty="0"/>
              <a:t>item      weight      value             </a:t>
            </a:r>
            <a:endParaRPr lang="en-US" i="1" u="sng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   1             2             $12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   2             1             $10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   3             3             $20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   4             2             $15                capacity </a:t>
            </a:r>
            <a:r>
              <a:rPr lang="en-US" i="1" dirty="0"/>
              <a:t>j</a:t>
            </a:r>
            <a:endParaRPr lang="en-US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000" dirty="0"/>
              <a:t>		                                       </a:t>
            </a:r>
            <a:r>
              <a:rPr lang="en-US" dirty="0"/>
              <a:t>0     1     2     3     4</a:t>
            </a:r>
            <a:r>
              <a:rPr lang="en-US" sz="2000" dirty="0"/>
              <a:t>     </a:t>
            </a:r>
            <a:r>
              <a:rPr lang="en-US" dirty="0"/>
              <a:t>5</a:t>
            </a:r>
            <a:endParaRPr lang="en-US" sz="20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000" dirty="0"/>
              <a:t>	                                          </a:t>
            </a:r>
            <a:r>
              <a:rPr lang="en-US" dirty="0"/>
              <a:t>0</a:t>
            </a:r>
            <a:endParaRPr lang="en-US" sz="20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 dirty="0"/>
              <a:t>		w</a:t>
            </a:r>
            <a:r>
              <a:rPr lang="en-US" baseline="-25000" dirty="0"/>
              <a:t>1 </a:t>
            </a:r>
            <a:r>
              <a:rPr lang="en-US" dirty="0"/>
              <a:t>= 2, </a:t>
            </a:r>
            <a:r>
              <a:rPr lang="en-US" sz="2800" i="1" dirty="0"/>
              <a:t>v</a:t>
            </a:r>
            <a:r>
              <a:rPr lang="en-US" sz="2800" baseline="-25000" dirty="0"/>
              <a:t>1</a:t>
            </a:r>
            <a:r>
              <a:rPr lang="en-US" sz="2800" dirty="0"/>
              <a:t>=</a:t>
            </a:r>
            <a:r>
              <a:rPr lang="en-US" sz="2800" baseline="-25000" dirty="0"/>
              <a:t> </a:t>
            </a:r>
            <a:r>
              <a:rPr lang="en-US" dirty="0"/>
              <a:t>12    1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 dirty="0"/>
              <a:t>		w</a:t>
            </a:r>
            <a:r>
              <a:rPr lang="en-US" baseline="-25000" dirty="0"/>
              <a:t>2 </a:t>
            </a:r>
            <a:r>
              <a:rPr lang="en-US" dirty="0"/>
              <a:t>= 1, </a:t>
            </a:r>
            <a:r>
              <a:rPr lang="en-US" sz="2800" i="1" dirty="0"/>
              <a:t>v</a:t>
            </a:r>
            <a:r>
              <a:rPr lang="en-US" sz="2800" baseline="-25000" dirty="0"/>
              <a:t>2</a:t>
            </a:r>
            <a:r>
              <a:rPr lang="en-US" sz="2800" dirty="0"/>
              <a:t>=</a:t>
            </a:r>
            <a:r>
              <a:rPr lang="en-US" sz="2800" baseline="-25000" dirty="0"/>
              <a:t> </a:t>
            </a:r>
            <a:r>
              <a:rPr lang="en-US" dirty="0"/>
              <a:t>10    2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 dirty="0"/>
              <a:t>		w</a:t>
            </a:r>
            <a:r>
              <a:rPr lang="en-US" baseline="-25000" dirty="0"/>
              <a:t>3 </a:t>
            </a:r>
            <a:r>
              <a:rPr lang="en-US" dirty="0"/>
              <a:t>= 3, </a:t>
            </a:r>
            <a:r>
              <a:rPr lang="en-US" sz="2800" i="1" dirty="0"/>
              <a:t>v</a:t>
            </a:r>
            <a:r>
              <a:rPr lang="en-US" sz="2800" baseline="-25000" dirty="0"/>
              <a:t>3</a:t>
            </a:r>
            <a:r>
              <a:rPr lang="en-US" sz="2800" dirty="0"/>
              <a:t>=</a:t>
            </a:r>
            <a:r>
              <a:rPr lang="en-US" sz="2800" baseline="-25000" dirty="0"/>
              <a:t> </a:t>
            </a:r>
            <a:r>
              <a:rPr lang="en-US" dirty="0"/>
              <a:t>20    3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 dirty="0"/>
              <a:t>		w</a:t>
            </a:r>
            <a:r>
              <a:rPr lang="en-US" baseline="-25000" dirty="0"/>
              <a:t>4  </a:t>
            </a:r>
            <a:r>
              <a:rPr lang="en-US" dirty="0"/>
              <a:t>= 2, </a:t>
            </a:r>
            <a:r>
              <a:rPr lang="en-US" sz="2800" i="1" dirty="0"/>
              <a:t>v</a:t>
            </a:r>
            <a:r>
              <a:rPr lang="en-US" sz="2800" baseline="-25000" dirty="0"/>
              <a:t>4</a:t>
            </a:r>
            <a:r>
              <a:rPr lang="en-US" sz="2800" dirty="0"/>
              <a:t>=</a:t>
            </a:r>
            <a:r>
              <a:rPr lang="en-US" sz="2800" baseline="-25000" dirty="0"/>
              <a:t> </a:t>
            </a:r>
            <a:r>
              <a:rPr lang="en-US" dirty="0"/>
              <a:t>15   4			       </a:t>
            </a:r>
            <a:r>
              <a:rPr lang="en-US" sz="2800" dirty="0"/>
              <a:t>?</a:t>
            </a:r>
            <a:r>
              <a:rPr lang="en-US" dirty="0"/>
              <a:t>	</a:t>
            </a:r>
          </a:p>
        </p:txBody>
      </p:sp>
      <p:grpSp>
        <p:nvGrpSpPr>
          <p:cNvPr id="72708" name="Group 7">
            <a:extLst>
              <a:ext uri="{FF2B5EF4-FFF2-40B4-BE49-F238E27FC236}">
                <a16:creationId xmlns:a16="http://schemas.microsoft.com/office/drawing/2014/main" id="{0098635F-5BE0-8F9A-BD27-A90022D0E12E}"/>
              </a:ext>
            </a:extLst>
          </p:cNvPr>
          <p:cNvGrpSpPr>
            <a:grpSpLocks/>
          </p:cNvGrpSpPr>
          <p:nvPr/>
        </p:nvGrpSpPr>
        <p:grpSpPr bwMode="auto">
          <a:xfrm>
            <a:off x="4286250" y="4214813"/>
            <a:ext cx="3048000" cy="2438400"/>
            <a:chOff x="3962400" y="3962400"/>
            <a:chExt cx="3048000" cy="2438400"/>
          </a:xfrm>
        </p:grpSpPr>
        <p:sp>
          <p:nvSpPr>
            <p:cNvPr id="72709" name="Line 4">
              <a:extLst>
                <a:ext uri="{FF2B5EF4-FFF2-40B4-BE49-F238E27FC236}">
                  <a16:creationId xmlns:a16="http://schemas.microsoft.com/office/drawing/2014/main" id="{7105CBF5-F8DC-9A1C-596F-3E3A70F25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3962400"/>
              <a:ext cx="0" cy="2438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0" name="Line 5">
              <a:extLst>
                <a:ext uri="{FF2B5EF4-FFF2-40B4-BE49-F238E27FC236}">
                  <a16:creationId xmlns:a16="http://schemas.microsoft.com/office/drawing/2014/main" id="{8DF9205C-371C-2C77-1BB4-E49624497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2400" y="3962400"/>
              <a:ext cx="30480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1" name="Line 6">
              <a:extLst>
                <a:ext uri="{FF2B5EF4-FFF2-40B4-BE49-F238E27FC236}">
                  <a16:creationId xmlns:a16="http://schemas.microsoft.com/office/drawing/2014/main" id="{0146F8C3-C0D3-4397-7F0B-27D7D3EC6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6400800"/>
              <a:ext cx="30480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2" name="Line 7">
              <a:extLst>
                <a:ext uri="{FF2B5EF4-FFF2-40B4-BE49-F238E27FC236}">
                  <a16:creationId xmlns:a16="http://schemas.microsoft.com/office/drawing/2014/main" id="{BB390DA4-4FED-A87D-1FFD-08C9AD283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0400" y="3962400"/>
              <a:ext cx="0" cy="2438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id="{D87A4D55-7A75-3621-0218-0F8EB11F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7408C460-06F1-4B29-8A29-65F7BE0AFF12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45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4755" name="Picture 2" descr="fig08_13">
            <a:extLst>
              <a:ext uri="{FF2B5EF4-FFF2-40B4-BE49-F238E27FC236}">
                <a16:creationId xmlns:a16="http://schemas.microsoft.com/office/drawing/2014/main" id="{99AC8596-66E6-DAAA-B487-073992D5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643313"/>
            <a:ext cx="82804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1027">
            <a:extLst>
              <a:ext uri="{FF2B5EF4-FFF2-40B4-BE49-F238E27FC236}">
                <a16:creationId xmlns:a16="http://schemas.microsoft.com/office/drawing/2014/main" id="{ACBD56EC-E824-59FA-0E12-F30720BE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110538" cy="2719388"/>
          </a:xfrm>
        </p:spPr>
        <p:txBody>
          <a:bodyPr/>
          <a:lstStyle/>
          <a:p>
            <a:pPr marL="0" indent="0" eaLnBrk="1" hangingPunct="1">
              <a:buFont typeface="Monotype Sorts" pitchFamily="2" charset="2"/>
              <a:buNone/>
            </a:pPr>
            <a:r>
              <a:rPr lang="en-US" altLang="en-US" sz="2400"/>
              <a:t>Consider instance defined by first </a:t>
            </a:r>
            <a:r>
              <a:rPr lang="en-US" altLang="en-US" sz="2400" i="1"/>
              <a:t>i </a:t>
            </a:r>
            <a:r>
              <a:rPr lang="en-US" altLang="en-US" sz="2400"/>
              <a:t>items and capacity </a:t>
            </a:r>
            <a:r>
              <a:rPr lang="en-US" altLang="en-US" sz="2400" i="1"/>
              <a:t>j </a:t>
            </a:r>
            <a:r>
              <a:rPr lang="en-US" altLang="en-US" sz="2400"/>
              <a:t>(</a:t>
            </a:r>
            <a:r>
              <a:rPr lang="en-US" altLang="en-US" sz="2400" i="1"/>
              <a:t>j </a:t>
            </a:r>
            <a:r>
              <a:rPr lang="en-US" altLang="en-US" sz="2400">
                <a:sym typeface="Symbol" panose="05050102010706020507" pitchFamily="18" charset="2"/>
              </a:rPr>
              <a:t> </a:t>
            </a:r>
            <a:r>
              <a:rPr lang="en-US" altLang="en-US" sz="2400" i="1">
                <a:sym typeface="Symbol" panose="05050102010706020507" pitchFamily="18" charset="2"/>
              </a:rPr>
              <a:t>W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  <a:r>
              <a:rPr lang="en-US" altLang="en-US" sz="2400" i="1"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buFont typeface="Monotype Sorts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Let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 i="1">
                <a:sym typeface="Symbol" panose="05050102010706020507" pitchFamily="18" charset="2"/>
              </a:rPr>
              <a:t>j</a:t>
            </a:r>
            <a:r>
              <a:rPr lang="en-US" altLang="en-US" sz="2400">
                <a:sym typeface="Symbol" panose="05050102010706020507" pitchFamily="18" charset="2"/>
              </a:rPr>
              <a:t>] be optimal value of such instance.  Then</a:t>
            </a:r>
          </a:p>
          <a:p>
            <a:pPr marL="0" indent="0" eaLnBrk="1" hangingPunct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	  max {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-1,</a:t>
            </a:r>
            <a:r>
              <a:rPr lang="en-US" altLang="en-US" sz="2400" i="1">
                <a:sym typeface="Symbol" panose="05050102010706020507" pitchFamily="18" charset="2"/>
              </a:rPr>
              <a:t>j</a:t>
            </a:r>
            <a:r>
              <a:rPr lang="en-US" altLang="en-US" sz="2400">
                <a:sym typeface="Symbol" panose="05050102010706020507" pitchFamily="18" charset="2"/>
              </a:rPr>
              <a:t>], </a:t>
            </a:r>
            <a:r>
              <a:rPr lang="en-US" altLang="en-US" sz="2400" i="1"/>
              <a:t>v</a:t>
            </a:r>
            <a:r>
              <a:rPr lang="en-US" altLang="en-US" sz="2400" i="1" baseline="-25000"/>
              <a:t>i</a:t>
            </a:r>
            <a:r>
              <a:rPr lang="en-US" altLang="en-US" sz="2400">
                <a:sym typeface="Symbol" panose="05050102010706020507" pitchFamily="18" charset="2"/>
              </a:rPr>
              <a:t> +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-1,</a:t>
            </a:r>
            <a:r>
              <a:rPr lang="en-US" altLang="en-US" sz="2400" i="1">
                <a:sym typeface="Symbol" panose="05050102010706020507" pitchFamily="18" charset="2"/>
              </a:rPr>
              <a:t>j- </a:t>
            </a:r>
            <a:r>
              <a:rPr lang="en-US" altLang="en-US" sz="2400" i="1"/>
              <a:t>w</a:t>
            </a:r>
            <a:r>
              <a:rPr lang="en-US" altLang="en-US" sz="2400" i="1" baseline="-25000"/>
              <a:t>i</a:t>
            </a:r>
            <a:r>
              <a:rPr lang="en-US" altLang="en-US" sz="2400">
                <a:sym typeface="Symbol" panose="05050102010706020507" pitchFamily="18" charset="2"/>
              </a:rPr>
              <a:t>]}   if </a:t>
            </a:r>
            <a:r>
              <a:rPr lang="en-US" altLang="en-US" sz="2400" i="1">
                <a:sym typeface="Symbol" panose="05050102010706020507" pitchFamily="18" charset="2"/>
              </a:rPr>
              <a:t>j- </a:t>
            </a:r>
            <a:r>
              <a:rPr lang="en-US" altLang="en-US" sz="2400" i="1"/>
              <a:t>w</a:t>
            </a:r>
            <a:r>
              <a:rPr lang="en-US" altLang="en-US" sz="2400" i="1" baseline="-25000"/>
              <a:t>i </a:t>
            </a:r>
            <a:r>
              <a:rPr lang="en-US" altLang="en-US" sz="2400">
                <a:sym typeface="Symbol" panose="05050102010706020507" pitchFamily="18" charset="2"/>
              </a:rPr>
              <a:t> 0</a:t>
            </a:r>
            <a:endParaRPr lang="en-US" altLang="en-US" sz="2400" i="1" baseline="-2500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 i="1">
                <a:sym typeface="Symbol" panose="05050102010706020507" pitchFamily="18" charset="2"/>
              </a:rPr>
              <a:t>j</a:t>
            </a:r>
            <a:r>
              <a:rPr lang="en-US" altLang="en-US" sz="2400">
                <a:sym typeface="Symbol" panose="05050102010706020507" pitchFamily="18" charset="2"/>
              </a:rPr>
              <a:t>] =</a:t>
            </a:r>
          </a:p>
          <a:p>
            <a:pPr marL="0" indent="0" eaLnBrk="1" hangingPunct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	 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-1,</a:t>
            </a:r>
            <a:r>
              <a:rPr lang="en-US" altLang="en-US" sz="2400" i="1">
                <a:sym typeface="Symbol" panose="05050102010706020507" pitchFamily="18" charset="2"/>
              </a:rPr>
              <a:t>j</a:t>
            </a:r>
            <a:r>
              <a:rPr lang="en-US" altLang="en-US" sz="2400">
                <a:sym typeface="Symbol" panose="05050102010706020507" pitchFamily="18" charset="2"/>
              </a:rPr>
              <a:t>]                                          if </a:t>
            </a:r>
            <a:r>
              <a:rPr lang="en-US" altLang="en-US" sz="2400" i="1">
                <a:sym typeface="Symbol" panose="05050102010706020507" pitchFamily="18" charset="2"/>
              </a:rPr>
              <a:t>j- </a:t>
            </a:r>
            <a:r>
              <a:rPr lang="en-US" altLang="en-US" sz="2400" i="1"/>
              <a:t>w</a:t>
            </a:r>
            <a:r>
              <a:rPr lang="en-US" altLang="en-US" sz="2400" i="1" baseline="-25000"/>
              <a:t>i </a:t>
            </a:r>
            <a:r>
              <a:rPr lang="en-US" altLang="en-US" sz="2400">
                <a:sym typeface="Symbol" panose="05050102010706020507" pitchFamily="18" charset="2"/>
              </a:rPr>
              <a:t>&lt; 0</a:t>
            </a:r>
            <a:endParaRPr lang="en-US" altLang="en-US" sz="2400"/>
          </a:p>
          <a:p>
            <a:pPr marL="0" indent="0" eaLnBrk="1" hangingPunct="1">
              <a:lnSpc>
                <a:spcPct val="70000"/>
              </a:lnSpc>
              <a:buFont typeface="Monotype Sorts" pitchFamily="2" charset="2"/>
              <a:buNone/>
            </a:pPr>
            <a:endParaRPr lang="en-US" altLang="en-US" sz="2400"/>
          </a:p>
          <a:p>
            <a:pPr marL="0" indent="0" eaLnBrk="1" hangingPunct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sz="2400"/>
              <a:t>Initial conditions: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[0,</a:t>
            </a:r>
            <a:r>
              <a:rPr lang="en-US" altLang="en-US" sz="2400" i="1">
                <a:sym typeface="Symbol" panose="05050102010706020507" pitchFamily="18" charset="2"/>
              </a:rPr>
              <a:t>j</a:t>
            </a:r>
            <a:r>
              <a:rPr lang="en-US" altLang="en-US" sz="2400">
                <a:sym typeface="Symbol" panose="05050102010706020507" pitchFamily="18" charset="2"/>
              </a:rPr>
              <a:t>] = 0  and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[</a:t>
            </a:r>
            <a:r>
              <a:rPr lang="en-US" altLang="en-US" sz="2400" i="1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,0] = 0</a:t>
            </a:r>
            <a:endParaRPr lang="en-US" altLang="en-US" sz="240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DD6662B0-5878-4915-94FE-4FBAB0A26A87}"/>
              </a:ext>
            </a:extLst>
          </p:cNvPr>
          <p:cNvSpPr/>
          <p:nvPr/>
        </p:nvSpPr>
        <p:spPr>
          <a:xfrm>
            <a:off x="1500188" y="2000250"/>
            <a:ext cx="71437" cy="8572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4" descr="8_4a">
            <a:extLst>
              <a:ext uri="{FF2B5EF4-FFF2-40B4-BE49-F238E27FC236}">
                <a16:creationId xmlns:a16="http://schemas.microsoft.com/office/drawing/2014/main" id="{92E6BFC1-40AC-5253-2D2C-082C4F8A8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409575"/>
            <a:ext cx="8982075" cy="603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>
            <a:extLst>
              <a:ext uri="{FF2B5EF4-FFF2-40B4-BE49-F238E27FC236}">
                <a16:creationId xmlns:a16="http://schemas.microsoft.com/office/drawing/2014/main" id="{F7306C7A-0416-759F-03DA-1C77176E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A978B7BF-80A5-4B12-9DD8-8618EB1360FE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47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6803" name="Picture 2" descr="fig08_14">
            <a:extLst>
              <a:ext uri="{FF2B5EF4-FFF2-40B4-BE49-F238E27FC236}">
                <a16:creationId xmlns:a16="http://schemas.microsoft.com/office/drawing/2014/main" id="{5155BF3F-0EAA-0B85-7054-81B139FA7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3450"/>
            <a:ext cx="8289925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4D935F15-88D7-4997-8BD2-4B5935826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6106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Optimal Binary Search Trees</a:t>
            </a:r>
          </a:p>
        </p:txBody>
      </p:sp>
      <p:sp>
        <p:nvSpPr>
          <p:cNvPr id="77827" name="Text Box 3">
            <a:extLst>
              <a:ext uri="{FF2B5EF4-FFF2-40B4-BE49-F238E27FC236}">
                <a16:creationId xmlns:a16="http://schemas.microsoft.com/office/drawing/2014/main" id="{54B04FB8-6363-6994-59DE-F9E5E6137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CA074463-DFAD-83A0-16F8-DF035C350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6868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Problem: Given </a:t>
            </a:r>
            <a:r>
              <a:rPr lang="en-US" altLang="en-US" sz="2400" b="1" i="1">
                <a:latin typeface="Times New Roman" panose="02020603050405020304" pitchFamily="18" charset="0"/>
              </a:rPr>
              <a:t>n </a:t>
            </a:r>
            <a:r>
              <a:rPr lang="en-US" altLang="en-US" sz="2400" b="1">
                <a:latin typeface="Times New Roman" panose="02020603050405020304" pitchFamily="18" charset="0"/>
              </a:rPr>
              <a:t>keys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1 </a:t>
            </a:r>
            <a:r>
              <a:rPr lang="en-US" altLang="en-US" sz="2400" b="1">
                <a:latin typeface="Times New Roman" panose="02020603050405020304" pitchFamily="18" charset="0"/>
              </a:rPr>
              <a:t>&lt; …&lt;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n </a:t>
            </a:r>
            <a:r>
              <a:rPr lang="en-US" altLang="en-US" sz="2400" b="1">
                <a:latin typeface="Times New Roman" panose="02020603050405020304" pitchFamily="18" charset="0"/>
              </a:rPr>
              <a:t>and probabilities </a:t>
            </a:r>
            <a:r>
              <a:rPr lang="en-US" altLang="en-US" sz="2400" b="1" i="1">
                <a:latin typeface="Times New Roman" panose="02020603050405020304" pitchFamily="18" charset="0"/>
              </a:rPr>
              <a:t>p</a:t>
            </a:r>
            <a:r>
              <a:rPr lang="en-US" altLang="en-US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sz="2400" b="1">
                <a:latin typeface="Times New Roman" panose="02020603050405020304" pitchFamily="18" charset="0"/>
              </a:rPr>
              <a:t>… ≤ </a:t>
            </a:r>
            <a:r>
              <a:rPr lang="en-US" altLang="en-US" sz="2400" b="1" i="1">
                <a:latin typeface="Times New Roman" panose="02020603050405020304" pitchFamily="18" charset="0"/>
              </a:rPr>
              <a:t>p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n</a:t>
            </a:r>
            <a:br>
              <a:rPr lang="en-US" altLang="en-US" sz="2400" b="1" i="1" baseline="-25000">
                <a:latin typeface="Times New Roman" panose="02020603050405020304" pitchFamily="18" charset="0"/>
              </a:rPr>
            </a:br>
            <a:r>
              <a:rPr lang="en-US" altLang="en-US" sz="2400" b="1" i="1" baseline="-25000">
                <a:latin typeface="Times New Roman" panose="02020603050405020304" pitchFamily="18" charset="0"/>
              </a:rPr>
              <a:t>                        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searching for them, find a BST with a minimum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                 average number of comparisons in successful search.</a:t>
            </a:r>
            <a:endParaRPr lang="en-US" altLang="en-US" sz="2400" b="1" i="1" baseline="-250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Since total number of BSTs with </a:t>
            </a:r>
            <a:r>
              <a:rPr lang="en-US" altLang="en-US" sz="2400" b="1" i="1">
                <a:latin typeface="Times New Roman" panose="02020603050405020304" pitchFamily="18" charset="0"/>
              </a:rPr>
              <a:t>n </a:t>
            </a:r>
            <a:r>
              <a:rPr lang="en-US" altLang="en-US" sz="2400" b="1">
                <a:latin typeface="Times New Roman" panose="02020603050405020304" pitchFamily="18" charset="0"/>
              </a:rPr>
              <a:t>nodes is given by C(2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</a:rPr>
              <a:t>,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</a:rPr>
              <a:t>)/(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>
                <a:latin typeface="Times New Roman" panose="02020603050405020304" pitchFamily="18" charset="0"/>
              </a:rPr>
              <a:t>+1), which grows exponentially, brute force is hopeless. </a:t>
            </a:r>
            <a:endParaRPr lang="el-GR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7829" name="Text Box 7">
            <a:extLst>
              <a:ext uri="{FF2B5EF4-FFF2-40B4-BE49-F238E27FC236}">
                <a16:creationId xmlns:a16="http://schemas.microsoft.com/office/drawing/2014/main" id="{398F3A58-85E3-47E8-051F-97493735D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8686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Example: What is an optimal BST for keys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>
                <a:latin typeface="Times New Roman" panose="02020603050405020304" pitchFamily="18" charset="0"/>
              </a:rPr>
              <a:t>, </a:t>
            </a:r>
            <a:r>
              <a:rPr lang="en-US" altLang="en-US" sz="2400" b="1" i="1">
                <a:latin typeface="Times New Roman" panose="02020603050405020304" pitchFamily="18" charset="0"/>
              </a:rPr>
              <a:t>B</a:t>
            </a:r>
            <a:r>
              <a:rPr lang="en-US" altLang="en-US" sz="2400" b="1">
                <a:latin typeface="Times New Roman" panose="02020603050405020304" pitchFamily="18" charset="0"/>
              </a:rPr>
              <a:t>,</a:t>
            </a:r>
            <a:r>
              <a:rPr lang="en-US" altLang="en-US" sz="2400" b="1" i="1">
                <a:latin typeface="Times New Roman" panose="02020603050405020304" pitchFamily="18" charset="0"/>
              </a:rPr>
              <a:t> C</a:t>
            </a:r>
            <a:r>
              <a:rPr lang="en-US" altLang="en-US" sz="2400" b="1">
                <a:latin typeface="Times New Roman" panose="02020603050405020304" pitchFamily="18" charset="0"/>
              </a:rPr>
              <a:t>, and </a:t>
            </a:r>
            <a:r>
              <a:rPr lang="en-US" altLang="en-US" sz="2400" b="1" i="1">
                <a:latin typeface="Times New Roman" panose="02020603050405020304" pitchFamily="18" charset="0"/>
              </a:rPr>
              <a:t>D </a:t>
            </a:r>
            <a:r>
              <a:rPr lang="en-US" altLang="en-US" sz="2400" b="1">
                <a:latin typeface="Times New Roman" panose="02020603050405020304" pitchFamily="18" charset="0"/>
              </a:rPr>
              <a:t>with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                  search probabilities 0.1, 0.2, 0.4, and 0.3, respectively?</a:t>
            </a:r>
            <a:endParaRPr lang="en-US" altLang="en-US" sz="2400" b="1" i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FFD11F-E0A4-4007-8287-E22E380B3693}"/>
                  </a:ext>
                </a:extLst>
              </p14:cNvPr>
              <p14:cNvContentPartPr/>
              <p14:nvPr/>
            </p14:nvContentPartPr>
            <p14:xfrm>
              <a:off x="5096160" y="10915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FFD11F-E0A4-4007-8287-E22E380B36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6800" y="1082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2D3B3400-AD1E-EFC3-630C-BBF3DBA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t>Slide 8- </a:t>
            </a:r>
            <a:fld id="{56FC2773-9420-40C8-AAD8-50BC92F3ECEC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49</a:t>
            </a:fld>
            <a:endParaRPr lang="en-CA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9875" name="Picture 2" descr="fig08_08">
            <a:extLst>
              <a:ext uri="{FF2B5EF4-FFF2-40B4-BE49-F238E27FC236}">
                <a16:creationId xmlns:a16="http://schemas.microsoft.com/office/drawing/2014/main" id="{D6DDBF24-D489-3330-7145-78923B6B0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33600"/>
            <a:ext cx="8420100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D6E9101E-4A80-4EEF-B581-DF9BEE709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6106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DP for Optimal BST Problem</a:t>
            </a:r>
          </a:p>
        </p:txBody>
      </p:sp>
      <p:pic>
        <p:nvPicPr>
          <p:cNvPr id="80899" name="Picture 6" descr="Fig 8">
            <a:extLst>
              <a:ext uri="{FF2B5EF4-FFF2-40B4-BE49-F238E27FC236}">
                <a16:creationId xmlns:a16="http://schemas.microsoft.com/office/drawing/2014/main" id="{BC295C73-1D73-DB8C-8FD3-04282A968A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2667000"/>
            <a:ext cx="4267200" cy="3478213"/>
          </a:xfrm>
          <a:noFill/>
        </p:spPr>
      </p:pic>
      <p:sp>
        <p:nvSpPr>
          <p:cNvPr id="80900" name="Text Box 3">
            <a:extLst>
              <a:ext uri="{FF2B5EF4-FFF2-40B4-BE49-F238E27FC236}">
                <a16:creationId xmlns:a16="http://schemas.microsoft.com/office/drawing/2014/main" id="{519C797F-2F25-5F18-6844-A181669BA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0901" name="Text Box 4">
            <a:extLst>
              <a:ext uri="{FF2B5EF4-FFF2-40B4-BE49-F238E27FC236}">
                <a16:creationId xmlns:a16="http://schemas.microsoft.com/office/drawing/2014/main" id="{6FC4BE5D-63CE-DCD5-C079-A5E8AD1D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686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Let </a:t>
            </a:r>
            <a:r>
              <a:rPr lang="en-US" altLang="en-US" sz="2400" b="1" i="1">
                <a:latin typeface="Times New Roman" panose="02020603050405020304" pitchFamily="18" charset="0"/>
              </a:rPr>
              <a:t>C</a:t>
            </a:r>
            <a:r>
              <a:rPr lang="en-US" altLang="en-US" sz="2400" b="1"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] be minimum average number of comparisons made in T[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], optimal BST for keys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</a:rPr>
              <a:t> &lt; …&lt;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j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,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where 1 ≤  </a:t>
            </a:r>
            <a:r>
              <a:rPr lang="en-US" altLang="en-US" sz="2400" b="1" i="1">
                <a:latin typeface="Times New Roman" panose="02020603050405020304" pitchFamily="18" charset="0"/>
              </a:rPr>
              <a:t>i </a:t>
            </a:r>
            <a:r>
              <a:rPr lang="en-US" altLang="en-US" sz="2400" b="1">
                <a:latin typeface="Times New Roman" panose="02020603050405020304" pitchFamily="18" charset="0"/>
              </a:rPr>
              <a:t>≤  </a:t>
            </a:r>
            <a:r>
              <a:rPr lang="en-US" altLang="en-US" sz="2400" b="1" i="1">
                <a:latin typeface="Times New Roman" panose="02020603050405020304" pitchFamily="18" charset="0"/>
              </a:rPr>
              <a:t>j </a:t>
            </a:r>
            <a:r>
              <a:rPr lang="en-US" altLang="en-US" sz="2400" b="1">
                <a:latin typeface="Times New Roman" panose="02020603050405020304" pitchFamily="18" charset="0"/>
              </a:rPr>
              <a:t>≤ </a:t>
            </a:r>
            <a:r>
              <a:rPr lang="en-US" altLang="en-US" sz="2400" b="1" i="1">
                <a:latin typeface="Times New Roman" panose="02020603050405020304" pitchFamily="18" charset="0"/>
              </a:rPr>
              <a:t>n. </a:t>
            </a:r>
            <a:r>
              <a:rPr lang="en-US" altLang="en-US" sz="2400" b="1">
                <a:latin typeface="Times New Roman" panose="02020603050405020304" pitchFamily="18" charset="0"/>
              </a:rPr>
              <a:t>Consider optimal BST among all BSTs with some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k  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i </a:t>
            </a:r>
            <a:r>
              <a:rPr lang="en-US" altLang="en-US" sz="2400" b="1">
                <a:latin typeface="Times New Roman" panose="02020603050405020304" pitchFamily="18" charset="0"/>
              </a:rPr>
              <a:t>≤  </a:t>
            </a:r>
            <a:r>
              <a:rPr lang="en-US" altLang="en-US" sz="2400" b="1" i="1">
                <a:latin typeface="Times New Roman" panose="02020603050405020304" pitchFamily="18" charset="0"/>
              </a:rPr>
              <a:t>k </a:t>
            </a:r>
            <a:r>
              <a:rPr lang="en-US" altLang="en-US" sz="2400" b="1">
                <a:latin typeface="Times New Roman" panose="02020603050405020304" pitchFamily="18" charset="0"/>
              </a:rPr>
              <a:t>≤</a:t>
            </a:r>
            <a:r>
              <a:rPr lang="en-US" altLang="en-US" sz="2400">
                <a:latin typeface="Times New Roman" panose="02020603050405020304" pitchFamily="18" charset="0"/>
              </a:rPr>
              <a:t>  </a:t>
            </a:r>
            <a:r>
              <a:rPr lang="en-US" altLang="en-US" sz="2400" b="1" i="1">
                <a:latin typeface="Times New Roman" panose="02020603050405020304" pitchFamily="18" charset="0"/>
              </a:rPr>
              <a:t>j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) as their root; T[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] is the best among them. 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endParaRPr lang="el-GR" altLang="en-US" sz="2400">
              <a:latin typeface="Times New Roman" panose="02020603050405020304" pitchFamily="18" charset="0"/>
            </a:endParaRPr>
          </a:p>
        </p:txBody>
      </p:sp>
      <p:sp>
        <p:nvSpPr>
          <p:cNvPr id="80902" name="Text Box 8">
            <a:extLst>
              <a:ext uri="{FF2B5EF4-FFF2-40B4-BE49-F238E27FC236}">
                <a16:creationId xmlns:a16="http://schemas.microsoft.com/office/drawing/2014/main" id="{D60CC96A-5BB9-E560-A659-A58C10712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819400"/>
            <a:ext cx="48768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C</a:t>
            </a:r>
            <a:r>
              <a:rPr lang="en-US" altLang="en-US" sz="2400" b="1"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] =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 min  {</a:t>
            </a:r>
            <a:r>
              <a:rPr lang="en-US" altLang="en-US" sz="2400" b="1" i="1">
                <a:latin typeface="Times New Roman" panose="02020603050405020304" pitchFamily="18" charset="0"/>
              </a:rPr>
              <a:t>p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k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 +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∑ </a:t>
            </a:r>
            <a:r>
              <a:rPr lang="en-US" altLang="en-US" sz="2400" b="1" i="1">
                <a:latin typeface="Times New Roman" panose="02020603050405020304" pitchFamily="18" charset="0"/>
              </a:rPr>
              <a:t>p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(level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s </a:t>
            </a:r>
            <a:r>
              <a:rPr lang="en-US" altLang="en-US" sz="2400" b="1">
                <a:latin typeface="Times New Roman" panose="02020603050405020304" pitchFamily="18" charset="0"/>
              </a:rPr>
              <a:t>in T[</a:t>
            </a:r>
            <a:r>
              <a:rPr lang="en-US" altLang="en-US" sz="2400" b="1" i="1">
                <a:latin typeface="Times New Roman" panose="02020603050405020304" pitchFamily="18" charset="0"/>
              </a:rPr>
              <a:t>i,k-</a:t>
            </a:r>
            <a:r>
              <a:rPr lang="en-US" altLang="en-US" sz="2400" b="1">
                <a:latin typeface="Times New Roman" panose="02020603050405020304" pitchFamily="18" charset="0"/>
              </a:rPr>
              <a:t>1] +1)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+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           ∑ </a:t>
            </a:r>
            <a:r>
              <a:rPr lang="en-US" altLang="en-US" sz="2400" b="1" i="1">
                <a:latin typeface="Times New Roman" panose="02020603050405020304" pitchFamily="18" charset="0"/>
              </a:rPr>
              <a:t>p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(level </a:t>
            </a:r>
            <a:r>
              <a:rPr lang="en-US" altLang="en-US" sz="2400" b="1" i="1">
                <a:latin typeface="Times New Roman" panose="02020603050405020304" pitchFamily="18" charset="0"/>
              </a:rPr>
              <a:t>a</a:t>
            </a:r>
            <a:r>
              <a:rPr lang="en-US" altLang="en-US" sz="2400" b="1" i="1" baseline="-25000">
                <a:latin typeface="Times New Roman" panose="02020603050405020304" pitchFamily="18" charset="0"/>
              </a:rPr>
              <a:t>s</a:t>
            </a:r>
            <a:r>
              <a:rPr lang="en-US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in T[</a:t>
            </a:r>
            <a:r>
              <a:rPr lang="en-US" altLang="en-US" sz="2400" b="1" i="1">
                <a:latin typeface="Times New Roman" panose="02020603050405020304" pitchFamily="18" charset="0"/>
              </a:rPr>
              <a:t>k+</a:t>
            </a:r>
            <a:r>
              <a:rPr lang="en-US" altLang="en-US" sz="2400" b="1">
                <a:latin typeface="Times New Roman" panose="02020603050405020304" pitchFamily="18" charset="0"/>
              </a:rPr>
              <a:t>1</a:t>
            </a:r>
            <a:r>
              <a:rPr lang="en-US" altLang="en-US" sz="2400" b="1" i="1">
                <a:latin typeface="Times New Roman" panose="02020603050405020304" pitchFamily="18" charset="0"/>
              </a:rPr>
              <a:t>,j</a:t>
            </a:r>
            <a:r>
              <a:rPr lang="en-US" altLang="en-US" sz="2400" b="1">
                <a:latin typeface="Times New Roman" panose="02020603050405020304" pitchFamily="18" charset="0"/>
              </a:rPr>
              <a:t>] +1)}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03" name="Text Box 9">
            <a:extLst>
              <a:ext uri="{FF2B5EF4-FFF2-40B4-BE49-F238E27FC236}">
                <a16:creationId xmlns:a16="http://schemas.microsoft.com/office/drawing/2014/main" id="{CD4B6242-2183-A4D5-2F11-E2C7209E7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657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i </a:t>
            </a:r>
            <a:r>
              <a:rPr lang="en-US" altLang="en-US" sz="2000" b="1">
                <a:latin typeface="Times New Roman" panose="02020603050405020304" pitchFamily="18" charset="0"/>
              </a:rPr>
              <a:t>≤ </a:t>
            </a:r>
            <a:r>
              <a:rPr lang="en-US" altLang="en-US" sz="2000" b="1" i="1">
                <a:latin typeface="Times New Roman" panose="02020603050405020304" pitchFamily="18" charset="0"/>
              </a:rPr>
              <a:t>k </a:t>
            </a:r>
            <a:r>
              <a:rPr lang="en-US" altLang="en-US" sz="2000" b="1">
                <a:latin typeface="Times New Roman" panose="02020603050405020304" pitchFamily="18" charset="0"/>
              </a:rPr>
              <a:t>≤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80904" name="Text Box 10">
            <a:extLst>
              <a:ext uri="{FF2B5EF4-FFF2-40B4-BE49-F238E27FC236}">
                <a16:creationId xmlns:a16="http://schemas.microsoft.com/office/drawing/2014/main" id="{7D521858-831F-FE81-6BFA-4A5F2EF78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876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s </a:t>
            </a:r>
            <a:r>
              <a:rPr lang="en-US" altLang="en-US" sz="2000" b="1">
                <a:latin typeface="Times New Roman" panose="02020603050405020304" pitchFamily="18" charset="0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80905" name="Text Box 11">
            <a:extLst>
              <a:ext uri="{FF2B5EF4-FFF2-40B4-BE49-F238E27FC236}">
                <a16:creationId xmlns:a16="http://schemas.microsoft.com/office/drawing/2014/main" id="{6E8B02AD-E959-41B6-5081-DCE1F59F2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267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k-</a:t>
            </a:r>
            <a:r>
              <a:rPr lang="en-US" altLang="en-US" sz="2000" b="1">
                <a:latin typeface="Times New Roman" panose="02020603050405020304" pitchFamily="18" charset="0"/>
              </a:rPr>
              <a:t>1</a:t>
            </a:r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80906" name="Text Box 12">
            <a:extLst>
              <a:ext uri="{FF2B5EF4-FFF2-40B4-BE49-F238E27FC236}">
                <a16:creationId xmlns:a16="http://schemas.microsoft.com/office/drawing/2014/main" id="{9C96755E-5B77-3F84-EE23-C9E979BA8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019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s =</a:t>
            </a:r>
            <a:r>
              <a:rPr lang="en-US" altLang="en-US" sz="2000" b="1" i="1">
                <a:latin typeface="Times New Roman" panose="02020603050405020304" pitchFamily="18" charset="0"/>
              </a:rPr>
              <a:t>k+</a:t>
            </a:r>
            <a:r>
              <a:rPr lang="en-US" altLang="en-US" sz="2000" b="1">
                <a:latin typeface="Times New Roman" panose="02020603050405020304" pitchFamily="18" charset="0"/>
              </a:rPr>
              <a:t>1</a:t>
            </a:r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80907" name="Text Box 13">
            <a:extLst>
              <a:ext uri="{FF2B5EF4-FFF2-40B4-BE49-F238E27FC236}">
                <a16:creationId xmlns:a16="http://schemas.microsoft.com/office/drawing/2014/main" id="{5192E7D5-BCE4-1913-0CB8-CDFFBE29F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410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j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>
            <a:extLst>
              <a:ext uri="{FF2B5EF4-FFF2-40B4-BE49-F238E27FC236}">
                <a16:creationId xmlns:a16="http://schemas.microsoft.com/office/drawing/2014/main" id="{0A75739E-D45B-0BAF-8D76-D771F052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DP for Optimal BST Problem (cont.)</a:t>
            </a:r>
          </a:p>
        </p:txBody>
      </p:sp>
      <p:pic>
        <p:nvPicPr>
          <p:cNvPr id="82947" name="Picture 1033" descr="Fig 8">
            <a:extLst>
              <a:ext uri="{FF2B5EF4-FFF2-40B4-BE49-F238E27FC236}">
                <a16:creationId xmlns:a16="http://schemas.microsoft.com/office/drawing/2014/main" id="{0D30C91E-EC9B-DD8B-B196-200806BF36C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28938" y="2571750"/>
            <a:ext cx="4038600" cy="3803650"/>
          </a:xfrm>
          <a:solidFill>
            <a:schemeClr val="bg1"/>
          </a:solidFill>
        </p:spPr>
      </p:pic>
      <p:sp>
        <p:nvSpPr>
          <p:cNvPr id="82948" name="Text Box 1027">
            <a:extLst>
              <a:ext uri="{FF2B5EF4-FFF2-40B4-BE49-F238E27FC236}">
                <a16:creationId xmlns:a16="http://schemas.microsoft.com/office/drawing/2014/main" id="{517FB346-9DC5-E062-128C-D70B4D53A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35205" name="Text Box 1029">
            <a:extLst>
              <a:ext uri="{FF2B5EF4-FFF2-40B4-BE49-F238E27FC236}">
                <a16:creationId xmlns:a16="http://schemas.microsoft.com/office/drawing/2014/main" id="{5FBA86CE-FB23-4B5E-A5CF-20DAF3945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8534400" cy="3521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          </a:t>
            </a: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</a:t>
            </a:r>
            <a:endParaRPr lang="en-US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spcBef>
                <a:spcPct val="50000"/>
              </a:spcBef>
              <a:defRPr/>
            </a:pPr>
            <a:endParaRPr lang="en-US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grpSp>
        <p:nvGrpSpPr>
          <p:cNvPr id="82950" name="Group 10">
            <a:extLst>
              <a:ext uri="{FF2B5EF4-FFF2-40B4-BE49-F238E27FC236}">
                <a16:creationId xmlns:a16="http://schemas.microsoft.com/office/drawing/2014/main" id="{0AF50AAA-89D4-CF2C-49A5-2E5B33660A3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43000"/>
            <a:ext cx="7681913" cy="2187575"/>
            <a:chOff x="533400" y="1143000"/>
            <a:chExt cx="7681938" cy="2187575"/>
          </a:xfrm>
        </p:grpSpPr>
        <p:sp>
          <p:nvSpPr>
            <p:cNvPr id="82951" name="Text Box 1028">
              <a:extLst>
                <a:ext uri="{FF2B5EF4-FFF2-40B4-BE49-F238E27FC236}">
                  <a16:creationId xmlns:a16="http://schemas.microsoft.com/office/drawing/2014/main" id="{C4E44068-14D7-6454-96E1-CACC3A2E0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1143000"/>
              <a:ext cx="7681938" cy="218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After simplifications, we obtain the recurrence for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latin typeface="Times New Roman" panose="02020603050405020304" pitchFamily="18" charset="0"/>
                </a:rPr>
                <a:t>]: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latin typeface="Times New Roman" panose="02020603050405020304" pitchFamily="18" charset="0"/>
                </a:rPr>
                <a:t>] = </a:t>
              </a:r>
              <a:r>
                <a:rPr lang="en-US" altLang="en-US" sz="2400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min {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</a:t>
              </a:r>
              <a:r>
                <a:rPr lang="en-US" altLang="en-US" sz="2400" b="1">
                  <a:latin typeface="Times New Roman" panose="02020603050405020304" pitchFamily="18" charset="0"/>
                </a:rPr>
                <a:t>,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latin typeface="Times New Roman" panose="02020603050405020304" pitchFamily="18" charset="0"/>
                </a:rPr>
                <a:t>-1] +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latin typeface="Times New Roman" panose="02020603050405020304" pitchFamily="18" charset="0"/>
                </a:rPr>
                <a:t>+1,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j</a:t>
              </a:r>
              <a:r>
                <a:rPr lang="en-US" altLang="en-US" sz="2400" b="1">
                  <a:latin typeface="Times New Roman" panose="02020603050405020304" pitchFamily="18" charset="0"/>
                </a:rPr>
                <a:t>]} + </a:t>
              </a:r>
              <a:r>
                <a:rPr lang="en-US" altLang="en-US" sz="2400" b="1">
                  <a:latin typeface="Times New Roman" panose="02020603050405020304" pitchFamily="18" charset="0"/>
                  <a:ea typeface="Lucida Grande"/>
                  <a:cs typeface="Lucida Grande"/>
                </a:rPr>
                <a:t>∑</a:t>
              </a:r>
              <a:r>
                <a:rPr lang="en-US" altLang="en-US" sz="2400" b="1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p</a:t>
              </a:r>
              <a:r>
                <a:rPr lang="en-US" altLang="en-US" sz="2400" b="1" i="1" baseline="-25000">
                  <a:latin typeface="Times New Roman" panose="02020603050405020304" pitchFamily="18" charset="0"/>
                </a:rPr>
                <a:t>s</a:t>
              </a:r>
              <a:r>
                <a:rPr lang="en-US" altLang="en-US" sz="2400">
                  <a:latin typeface="Times New Roman" panose="02020603050405020304" pitchFamily="18" charset="0"/>
                </a:rPr>
                <a:t> 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for</a:t>
              </a: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</a:rPr>
                <a:t>1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j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i,i</a:t>
              </a:r>
              <a:r>
                <a:rPr lang="en-US" altLang="en-US" sz="2400" b="1">
                  <a:latin typeface="Times New Roman" panose="02020603050405020304" pitchFamily="18" charset="0"/>
                </a:rPr>
                <a:t>] =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p</a:t>
              </a:r>
              <a:r>
                <a:rPr lang="en-US" altLang="en-US" sz="2400" b="1" i="1" baseline="-25000">
                  <a:latin typeface="Times New Roman" panose="02020603050405020304" pitchFamily="18" charset="0"/>
                </a:rPr>
                <a:t>i    </a:t>
              </a:r>
              <a:r>
                <a:rPr lang="en-US" altLang="en-US" sz="2400" b="1">
                  <a:latin typeface="Times New Roman" panose="02020603050405020304" pitchFamily="18" charset="0"/>
                </a:rPr>
                <a:t>for 1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j </a:t>
              </a:r>
              <a:r>
                <a:rPr lang="en-US" altLang="en-US" sz="2400" b="1">
                  <a:latin typeface="Lucida Grande"/>
                </a:rPr>
                <a:t>≤</a:t>
              </a:r>
              <a:r>
                <a:rPr lang="en-US" altLang="en-US" sz="2400" b="1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n</a:t>
              </a:r>
              <a:endParaRPr lang="en-US" altLang="en-US" sz="2400" b="1" i="1" baseline="-2500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  <a:endParaRPr lang="el-G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2952" name="Text Box 1030">
              <a:extLst>
                <a:ext uri="{FF2B5EF4-FFF2-40B4-BE49-F238E27FC236}">
                  <a16:creationId xmlns:a16="http://schemas.microsoft.com/office/drawing/2014/main" id="{CBCE3F17-73D8-BDCC-5814-181424339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1981200"/>
              <a:ext cx="685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s </a:t>
              </a:r>
              <a:r>
                <a:rPr lang="en-US" altLang="en-US" sz="2000" b="1">
                  <a:latin typeface="Times New Roman" panose="02020603050405020304" pitchFamily="18" charset="0"/>
                </a:rPr>
                <a:t>=</a:t>
              </a:r>
              <a:r>
                <a:rPr lang="en-US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2953" name="Text Box 1031">
              <a:extLst>
                <a:ext uri="{FF2B5EF4-FFF2-40B4-BE49-F238E27FC236}">
                  <a16:creationId xmlns:a16="http://schemas.microsoft.com/office/drawing/2014/main" id="{703C507D-9ABB-12B7-8955-A5C3B9FF3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1447800"/>
              <a:ext cx="381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82954" name="Text Box 1032">
              <a:extLst>
                <a:ext uri="{FF2B5EF4-FFF2-40B4-BE49-F238E27FC236}">
                  <a16:creationId xmlns:a16="http://schemas.microsoft.com/office/drawing/2014/main" id="{534BE422-0AE5-0350-A75A-750B59C57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981200"/>
              <a:ext cx="1143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i </a:t>
              </a:r>
              <a:r>
                <a:rPr lang="en-US" altLang="en-US" sz="2000" b="1">
                  <a:latin typeface="Lucida Grande"/>
                </a:rPr>
                <a:t>≤</a:t>
              </a:r>
              <a:r>
                <a:rPr lang="en-US" altLang="en-US" sz="2000" b="1"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k </a:t>
              </a:r>
              <a:r>
                <a:rPr lang="en-US" altLang="en-US" sz="2000" b="1">
                  <a:latin typeface="Lucida Grande"/>
                </a:rPr>
                <a:t>≤</a:t>
              </a:r>
              <a:r>
                <a:rPr lang="en-US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j</a:t>
              </a:r>
            </a:p>
          </p:txBody>
        </p: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6" name="Rectangle 6">
            <a:extLst>
              <a:ext uri="{FF2B5EF4-FFF2-40B4-BE49-F238E27FC236}">
                <a16:creationId xmlns:a16="http://schemas.microsoft.com/office/drawing/2014/main" id="{C885F0F3-F8A4-4DE2-B592-EABEC57F4E3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57188" y="214313"/>
            <a:ext cx="7543800" cy="1066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Example:   key                  </a:t>
            </a: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</a:rPr>
              <a:t>A     B     C     D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algn="ctr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probability   0.1   0.2   0.4  0.3</a:t>
            </a:r>
          </a:p>
        </p:txBody>
      </p:sp>
      <p:sp>
        <p:nvSpPr>
          <p:cNvPr id="84995" name="Text Box 8">
            <a:extLst>
              <a:ext uri="{FF2B5EF4-FFF2-40B4-BE49-F238E27FC236}">
                <a16:creationId xmlns:a16="http://schemas.microsoft.com/office/drawing/2014/main" id="{30711B8C-2B68-DCA1-2F3E-324C8222A05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828800"/>
            <a:ext cx="9144000" cy="4419600"/>
          </a:xfrm>
          <a:noFill/>
        </p:spPr>
        <p:txBody>
          <a:bodyPr anchor="b"/>
          <a:lstStyle/>
          <a:p>
            <a:pPr eaLnBrk="1" hangingPunct="1">
              <a:spcBef>
                <a:spcPct val="50000"/>
              </a:spcBef>
            </a:pPr>
            <a:br>
              <a:rPr lang="en-US" altLang="en-US" sz="2400"/>
            </a:br>
            <a:r>
              <a:rPr lang="en-US" altLang="en-US" sz="2400"/>
              <a:t> </a:t>
            </a:r>
            <a:br>
              <a:rPr lang="en-US" altLang="en-US" sz="2400"/>
            </a:br>
            <a:r>
              <a:rPr lang="en-US" altLang="en-US" sz="2400"/>
              <a:t>           </a:t>
            </a:r>
            <a:br>
              <a:rPr lang="en-US" altLang="en-US" sz="2400"/>
            </a:br>
            <a:br>
              <a:rPr lang="en-US" altLang="en-US" sz="2400"/>
            </a:br>
            <a:r>
              <a:rPr lang="en-US" altLang="en-US" sz="2400"/>
              <a:t>           </a:t>
            </a:r>
            <a:br>
              <a:rPr lang="en-US" altLang="en-US" sz="2400"/>
            </a:br>
            <a:endParaRPr lang="en-US" altLang="en-US" sz="2400"/>
          </a:p>
        </p:txBody>
      </p:sp>
      <p:graphicFrame>
        <p:nvGraphicFramePr>
          <p:cNvPr id="430231" name="Group 151">
            <a:extLst>
              <a:ext uri="{FF2B5EF4-FFF2-40B4-BE49-F238E27FC236}">
                <a16:creationId xmlns:a16="http://schemas.microsoft.com/office/drawing/2014/main" id="{626BB9AC-E5E6-404B-ADB5-0CC36113FCC2}"/>
              </a:ext>
            </a:extLst>
          </p:cNvPr>
          <p:cNvGraphicFramePr>
            <a:graphicFrameLocks noGrp="1"/>
          </p:cNvGraphicFramePr>
          <p:nvPr/>
        </p:nvGraphicFramePr>
        <p:xfrm>
          <a:off x="428625" y="3500438"/>
          <a:ext cx="3048000" cy="297180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30200" name="Group 120">
            <a:extLst>
              <a:ext uri="{FF2B5EF4-FFF2-40B4-BE49-F238E27FC236}">
                <a16:creationId xmlns:a16="http://schemas.microsoft.com/office/drawing/2014/main" id="{F464E431-6842-4022-860A-6CF6F0F931F6}"/>
              </a:ext>
            </a:extLst>
          </p:cNvPr>
          <p:cNvGraphicFramePr>
            <a:graphicFrameLocks noGrp="1"/>
          </p:cNvGraphicFramePr>
          <p:nvPr/>
        </p:nvGraphicFramePr>
        <p:xfrm>
          <a:off x="3619500" y="3471863"/>
          <a:ext cx="2743200" cy="29718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1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5098" name="Group 128">
            <a:extLst>
              <a:ext uri="{FF2B5EF4-FFF2-40B4-BE49-F238E27FC236}">
                <a16:creationId xmlns:a16="http://schemas.microsoft.com/office/drawing/2014/main" id="{E331034C-36CA-92D1-3739-0B1C719BA442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1285875"/>
            <a:ext cx="7929563" cy="2214563"/>
            <a:chOff x="428596" y="1571612"/>
            <a:chExt cx="7929618" cy="2308324"/>
          </a:xfrm>
        </p:grpSpPr>
        <p:sp>
          <p:nvSpPr>
            <p:cNvPr id="85122" name="Rectangle 9">
              <a:extLst>
                <a:ext uri="{FF2B5EF4-FFF2-40B4-BE49-F238E27FC236}">
                  <a16:creationId xmlns:a16="http://schemas.microsoft.com/office/drawing/2014/main" id="{C2B75199-B28C-068F-0C89-2C9C12DD3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96" y="1571612"/>
              <a:ext cx="7929618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The tables below are filled diagonal by diagonal: the left one is filled using the recurrence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      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i,j</a:t>
              </a:r>
              <a:r>
                <a:rPr lang="en-US" altLang="en-US" sz="2400" b="1">
                  <a:latin typeface="Times New Roman" panose="02020603050405020304" pitchFamily="18" charset="0"/>
                </a:rPr>
                <a:t>] = </a:t>
              </a: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  <a:r>
                <a:rPr lang="en-US" altLang="en-US" sz="2400" b="1">
                  <a:latin typeface="Times New Roman" panose="02020603050405020304" pitchFamily="18" charset="0"/>
                </a:rPr>
                <a:t>min {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</a:t>
              </a:r>
              <a:r>
                <a:rPr lang="en-US" altLang="en-US" sz="2400" b="1">
                  <a:latin typeface="Times New Roman" panose="02020603050405020304" pitchFamily="18" charset="0"/>
                </a:rPr>
                <a:t>,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latin typeface="Times New Roman" panose="02020603050405020304" pitchFamily="18" charset="0"/>
                </a:rPr>
                <a:t>-1] +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latin typeface="Times New Roman" panose="02020603050405020304" pitchFamily="18" charset="0"/>
                </a:rPr>
                <a:t>+1,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j</a:t>
              </a:r>
              <a:r>
                <a:rPr lang="en-US" altLang="en-US" sz="2400" b="1">
                  <a:latin typeface="Times New Roman" panose="02020603050405020304" pitchFamily="18" charset="0"/>
                </a:rPr>
                <a:t>]} + ∑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p</a:t>
              </a:r>
              <a:r>
                <a:rPr lang="en-US" altLang="en-US" sz="2400" b="1" i="1" baseline="-25000">
                  <a:latin typeface="Times New Roman" panose="02020603050405020304" pitchFamily="18" charset="0"/>
                </a:rPr>
                <a:t>s ,   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C</a:t>
              </a:r>
              <a:r>
                <a:rPr lang="en-US" altLang="en-US" sz="2400" b="1">
                  <a:latin typeface="Times New Roman" panose="02020603050405020304" pitchFamily="18" charset="0"/>
                </a:rPr>
                <a:t>[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i,i</a:t>
              </a:r>
              <a:r>
                <a:rPr lang="en-US" altLang="en-US" sz="2400" b="1">
                  <a:latin typeface="Times New Roman" panose="02020603050405020304" pitchFamily="18" charset="0"/>
                </a:rPr>
                <a:t>] =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p</a:t>
              </a:r>
              <a:r>
                <a:rPr lang="en-US" altLang="en-US" sz="2400" b="1" i="1" baseline="-25000">
                  <a:latin typeface="Times New Roman" panose="02020603050405020304" pitchFamily="18" charset="0"/>
                </a:rPr>
                <a:t>i </a:t>
              </a:r>
              <a:r>
                <a:rPr lang="en-US" altLang="en-US" sz="2400" b="1">
                  <a:latin typeface="Times New Roman" panose="02020603050405020304" pitchFamily="18" charset="0"/>
                </a:rPr>
                <a:t>;</a:t>
              </a:r>
              <a:endParaRPr lang="en-US" altLang="en-US" sz="2400" b="1" i="1" baseline="-25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="1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the right one, for trees’ roots, records </a:t>
              </a:r>
              <a:r>
                <a:rPr lang="en-US" altLang="en-US" sz="2400" b="1" i="1">
                  <a:latin typeface="Times New Roman" panose="02020603050405020304" pitchFamily="18" charset="0"/>
                </a:rPr>
                <a:t>k</a:t>
              </a:r>
              <a:r>
                <a:rPr lang="en-US" altLang="en-US" sz="2400" b="1">
                  <a:latin typeface="Times New Roman" panose="02020603050405020304" pitchFamily="18" charset="0"/>
                </a:rPr>
                <a:t>’s values giving the minima</a:t>
              </a:r>
              <a:r>
                <a:rPr lang="en-US" altLang="en-US" sz="2400">
                  <a:latin typeface="Times New Roman" panose="02020603050405020304" pitchFamily="18" charset="0"/>
                </a:rPr>
                <a:t> </a:t>
              </a:r>
              <a:endParaRPr lang="el-G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5123" name="Text Box 124">
              <a:extLst>
                <a:ext uri="{FF2B5EF4-FFF2-40B4-BE49-F238E27FC236}">
                  <a16:creationId xmlns:a16="http://schemas.microsoft.com/office/drawing/2014/main" id="{7DB1C8F6-7E26-382E-F7E2-E8066D2C4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56" y="2714620"/>
              <a:ext cx="1143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i </a:t>
              </a:r>
              <a:r>
                <a:rPr lang="en-US" altLang="en-US" sz="2000" b="1">
                  <a:latin typeface="Times New Roman" panose="02020603050405020304" pitchFamily="18" charset="0"/>
                </a:rPr>
                <a:t>≤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k </a:t>
              </a:r>
              <a:r>
                <a:rPr lang="en-US" altLang="en-US" sz="2000" b="1">
                  <a:latin typeface="Times New Roman" panose="02020603050405020304" pitchFamily="18" charset="0"/>
                </a:rPr>
                <a:t>≤</a:t>
              </a:r>
              <a:r>
                <a:rPr lang="en-US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85124" name="Text Box 125">
              <a:extLst>
                <a:ext uri="{FF2B5EF4-FFF2-40B4-BE49-F238E27FC236}">
                  <a16:creationId xmlns:a16="http://schemas.microsoft.com/office/drawing/2014/main" id="{572B4D8C-5C04-6058-4E60-39E0207EF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6380" y="2714620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s </a:t>
              </a:r>
              <a:r>
                <a:rPr lang="en-US" altLang="en-US" sz="2000" b="1">
                  <a:latin typeface="Times New Roman" panose="02020603050405020304" pitchFamily="18" charset="0"/>
                </a:rPr>
                <a:t>=</a:t>
              </a:r>
              <a:r>
                <a:rPr lang="en-US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85125" name="Text Box 126">
              <a:extLst>
                <a:ext uri="{FF2B5EF4-FFF2-40B4-BE49-F238E27FC236}">
                  <a16:creationId xmlns:a16="http://schemas.microsoft.com/office/drawing/2014/main" id="{A1F4F24E-0A97-CB46-1535-2D9C398BC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256" y="2000240"/>
              <a:ext cx="457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j</a:t>
              </a:r>
            </a:p>
          </p:txBody>
        </p:sp>
      </p:grpSp>
      <p:grpSp>
        <p:nvGrpSpPr>
          <p:cNvPr id="85099" name="Group 132">
            <a:extLst>
              <a:ext uri="{FF2B5EF4-FFF2-40B4-BE49-F238E27FC236}">
                <a16:creationId xmlns:a16="http://schemas.microsoft.com/office/drawing/2014/main" id="{A58246E4-4D35-CA28-7BA0-59060E4DAFB0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3714750"/>
            <a:ext cx="2071688" cy="2324100"/>
            <a:chOff x="6858000" y="4000504"/>
            <a:chExt cx="2071702" cy="2324096"/>
          </a:xfrm>
        </p:grpSpPr>
        <p:sp>
          <p:nvSpPr>
            <p:cNvPr id="430225" name="Text Box 145">
              <a:extLst>
                <a:ext uri="{FF2B5EF4-FFF2-40B4-BE49-F238E27FC236}">
                  <a16:creationId xmlns:a16="http://schemas.microsoft.com/office/drawing/2014/main" id="{8E5A32C7-C8E3-4E72-B5F3-53D682ACE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5867401"/>
              <a:ext cx="1981213" cy="45719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optimal BST</a:t>
              </a:r>
            </a:p>
          </p:txBody>
        </p:sp>
        <p:grpSp>
          <p:nvGrpSpPr>
            <p:cNvPr id="85114" name="Group 131">
              <a:extLst>
                <a:ext uri="{FF2B5EF4-FFF2-40B4-BE49-F238E27FC236}">
                  <a16:creationId xmlns:a16="http://schemas.microsoft.com/office/drawing/2014/main" id="{330E2B61-A5BA-F9D4-9EE3-EB1FFA804F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48502" y="4000504"/>
              <a:ext cx="1981200" cy="1676400"/>
              <a:chOff x="6948502" y="4000504"/>
              <a:chExt cx="1981200" cy="1676400"/>
            </a:xfrm>
          </p:grpSpPr>
          <p:sp>
            <p:nvSpPr>
              <p:cNvPr id="430212" name="Oval 132">
                <a:extLst>
                  <a:ext uri="{FF2B5EF4-FFF2-40B4-BE49-F238E27FC236}">
                    <a16:creationId xmlns:a16="http://schemas.microsoft.com/office/drawing/2014/main" id="{27FD98CA-BD7F-48E4-AD5C-C16CA4102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3291" y="4533903"/>
                <a:ext cx="304802" cy="304799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i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</a:t>
                </a:r>
              </a:p>
            </p:txBody>
          </p:sp>
          <p:sp>
            <p:nvSpPr>
              <p:cNvPr id="430213" name="Line 133">
                <a:extLst>
                  <a:ext uri="{FF2B5EF4-FFF2-40B4-BE49-F238E27FC236}">
                    <a16:creationId xmlns:a16="http://schemas.microsoft.com/office/drawing/2014/main" id="{00DCF33B-1A29-45F5-B903-DB6E76500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7697" y="4229104"/>
                <a:ext cx="609604" cy="3047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0215" name="Line 135">
                <a:extLst>
                  <a:ext uri="{FF2B5EF4-FFF2-40B4-BE49-F238E27FC236}">
                    <a16:creationId xmlns:a16="http://schemas.microsoft.com/office/drawing/2014/main" id="{9FE742A2-9BAC-4FE0-94CD-7F8985FF0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05692" y="4229104"/>
                <a:ext cx="533404" cy="3047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0216" name="Line 136">
                <a:extLst>
                  <a:ext uri="{FF2B5EF4-FFF2-40B4-BE49-F238E27FC236}">
                    <a16:creationId xmlns:a16="http://schemas.microsoft.com/office/drawing/2014/main" id="{EFCB4386-CB43-42CC-91BF-021FD1E80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00890" y="4838703"/>
                <a:ext cx="228602" cy="5333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0222" name="Oval 142">
                <a:extLst>
                  <a:ext uri="{FF2B5EF4-FFF2-40B4-BE49-F238E27FC236}">
                    <a16:creationId xmlns:a16="http://schemas.microsoft.com/office/drawing/2014/main" id="{388D3B2D-91A4-483D-81D4-FA60256ED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8489" y="5372102"/>
                <a:ext cx="304802" cy="304799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i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</a:p>
            </p:txBody>
          </p:sp>
          <p:sp>
            <p:nvSpPr>
              <p:cNvPr id="430223" name="Oval 143">
                <a:extLst>
                  <a:ext uri="{FF2B5EF4-FFF2-40B4-BE49-F238E27FC236}">
                    <a16:creationId xmlns:a16="http://schemas.microsoft.com/office/drawing/2014/main" id="{4FB0BC32-4152-4213-B6B3-85BC93A24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9095" y="4000504"/>
                <a:ext cx="304802" cy="304799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i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</a:t>
                </a:r>
              </a:p>
            </p:txBody>
          </p:sp>
          <p:sp>
            <p:nvSpPr>
              <p:cNvPr id="430224" name="Oval 144">
                <a:extLst>
                  <a:ext uri="{FF2B5EF4-FFF2-40B4-BE49-F238E27FC236}">
                    <a16:creationId xmlns:a16="http://schemas.microsoft.com/office/drawing/2014/main" id="{742AFBE7-650A-4C9A-9C27-22E3C514F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24900" y="4533903"/>
                <a:ext cx="304802" cy="304799"/>
              </a:xfrm>
              <a:prstGeom prst="ellipse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i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</a:t>
                </a:r>
              </a:p>
            </p:txBody>
          </p:sp>
        </p:grpSp>
      </p:grpSp>
      <p:grpSp>
        <p:nvGrpSpPr>
          <p:cNvPr id="85100" name="Group 130">
            <a:extLst>
              <a:ext uri="{FF2B5EF4-FFF2-40B4-BE49-F238E27FC236}">
                <a16:creationId xmlns:a16="http://schemas.microsoft.com/office/drawing/2014/main" id="{24B67D54-06F8-48B7-243E-84F36E5496AE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3929063"/>
            <a:ext cx="2390775" cy="2538412"/>
            <a:chOff x="4038600" y="4191000"/>
            <a:chExt cx="2390788" cy="2538418"/>
          </a:xfrm>
        </p:grpSpPr>
        <p:sp>
          <p:nvSpPr>
            <p:cNvPr id="85109" name="Line 152">
              <a:extLst>
                <a:ext uri="{FF2B5EF4-FFF2-40B4-BE49-F238E27FC236}">
                  <a16:creationId xmlns:a16="http://schemas.microsoft.com/office/drawing/2014/main" id="{2167BEA1-F920-C6D0-F54F-4C7D21541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4191000"/>
              <a:ext cx="23622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0" name="Line 153">
              <a:extLst>
                <a:ext uri="{FF2B5EF4-FFF2-40B4-BE49-F238E27FC236}">
                  <a16:creationId xmlns:a16="http://schemas.microsoft.com/office/drawing/2014/main" id="{DF201C54-9251-9AF4-E0D1-BC9D7830E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4191000"/>
              <a:ext cx="0" cy="25146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1" name="Line 156">
              <a:extLst>
                <a:ext uri="{FF2B5EF4-FFF2-40B4-BE49-F238E27FC236}">
                  <a16:creationId xmlns:a16="http://schemas.microsoft.com/office/drawing/2014/main" id="{58A9A1E0-6D5E-1B38-10C1-AD2B35238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6705600"/>
              <a:ext cx="23622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112" name="Line 157">
              <a:extLst>
                <a:ext uri="{FF2B5EF4-FFF2-40B4-BE49-F238E27FC236}">
                  <a16:creationId xmlns:a16="http://schemas.microsoft.com/office/drawing/2014/main" id="{9F5AF72E-1338-6952-33D8-759E3D6C6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9388" y="4214818"/>
              <a:ext cx="0" cy="25146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5101" name="Group 133">
            <a:extLst>
              <a:ext uri="{FF2B5EF4-FFF2-40B4-BE49-F238E27FC236}">
                <a16:creationId xmlns:a16="http://schemas.microsoft.com/office/drawing/2014/main" id="{0395D14A-ADBC-CB68-3AFE-1A238FFB4EA2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3500438"/>
            <a:ext cx="3119437" cy="2971800"/>
            <a:chOff x="357158" y="3500438"/>
            <a:chExt cx="3119438" cy="2971800"/>
          </a:xfrm>
        </p:grpSpPr>
        <p:grpSp>
          <p:nvGrpSpPr>
            <p:cNvPr id="85103" name="Group 129">
              <a:extLst>
                <a:ext uri="{FF2B5EF4-FFF2-40B4-BE49-F238E27FC236}">
                  <a16:creationId xmlns:a16="http://schemas.microsoft.com/office/drawing/2014/main" id="{8387322A-BAC6-32B6-F91F-57D7FA8BB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9596" y="3957638"/>
              <a:ext cx="2667000" cy="2514600"/>
              <a:chOff x="609600" y="4191000"/>
              <a:chExt cx="2667000" cy="2514600"/>
            </a:xfrm>
          </p:grpSpPr>
          <p:sp>
            <p:nvSpPr>
              <p:cNvPr id="85105" name="Line 146">
                <a:extLst>
                  <a:ext uri="{FF2B5EF4-FFF2-40B4-BE49-F238E27FC236}">
                    <a16:creationId xmlns:a16="http://schemas.microsoft.com/office/drawing/2014/main" id="{EB4B2082-5B81-1473-8B73-0EDC7E1B7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" y="4191000"/>
                <a:ext cx="2667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106" name="Line 148">
                <a:extLst>
                  <a:ext uri="{FF2B5EF4-FFF2-40B4-BE49-F238E27FC236}">
                    <a16:creationId xmlns:a16="http://schemas.microsoft.com/office/drawing/2014/main" id="{6067BB93-273D-8D48-9E52-95BF72E2A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" y="4191000"/>
                <a:ext cx="0" cy="25146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107" name="Line 149">
                <a:extLst>
                  <a:ext uri="{FF2B5EF4-FFF2-40B4-BE49-F238E27FC236}">
                    <a16:creationId xmlns:a16="http://schemas.microsoft.com/office/drawing/2014/main" id="{5EC45C7B-DBF8-AC98-EDF3-682A611AD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" y="6705600"/>
                <a:ext cx="266700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108" name="Line 150">
                <a:extLst>
                  <a:ext uri="{FF2B5EF4-FFF2-40B4-BE49-F238E27FC236}">
                    <a16:creationId xmlns:a16="http://schemas.microsoft.com/office/drawing/2014/main" id="{0B1D22FF-E1AD-99DA-FE8E-ECC371F07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600" y="4191000"/>
                <a:ext cx="0" cy="25146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239" name="Text Box 159">
              <a:extLst>
                <a:ext uri="{FF2B5EF4-FFF2-40B4-BE49-F238E27FC236}">
                  <a16:creationId xmlns:a16="http://schemas.microsoft.com/office/drawing/2014/main" id="{E1D80F19-0CE8-4104-BA13-F6CB82585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58" y="3500438"/>
              <a:ext cx="457200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b="1" i="1" baseline="-250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</a:t>
              </a:r>
              <a:r>
                <a:rPr lang="en-US" b="1" i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b="1" i="1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b="1" i="1" baseline="30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j</a:t>
              </a:r>
            </a:p>
          </p:txBody>
        </p:sp>
      </p:grpSp>
      <p:sp>
        <p:nvSpPr>
          <p:cNvPr id="430241" name="Text Box 161">
            <a:extLst>
              <a:ext uri="{FF2B5EF4-FFF2-40B4-BE49-F238E27FC236}">
                <a16:creationId xmlns:a16="http://schemas.microsoft.com/office/drawing/2014/main" id="{7EB7F3B3-E388-4B9C-91C5-A4C6234A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063" y="3471863"/>
            <a:ext cx="4572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i="1" baseline="-25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="1" i="1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baseline="30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>
            <a:extLst>
              <a:ext uri="{FF2B5EF4-FFF2-40B4-BE49-F238E27FC236}">
                <a16:creationId xmlns:a16="http://schemas.microsoft.com/office/drawing/2014/main" id="{D54FFCC5-BDDD-4805-83BB-FBEDE3CA8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6106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Optimal Binary Search Trees</a:t>
            </a:r>
          </a:p>
        </p:txBody>
      </p:sp>
      <p:pic>
        <p:nvPicPr>
          <p:cNvPr id="87043" name="Picture 6" descr="8_3a">
            <a:extLst>
              <a:ext uri="{FF2B5EF4-FFF2-40B4-BE49-F238E27FC236}">
                <a16:creationId xmlns:a16="http://schemas.microsoft.com/office/drawing/2014/main" id="{9FC4A0EB-C842-26E7-5ABF-3EF0241355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6400800" cy="5457825"/>
          </a:xfrm>
          <a:solidFill>
            <a:schemeClr val="tx1"/>
          </a:solidFill>
        </p:spPr>
      </p:pic>
      <p:sp>
        <p:nvSpPr>
          <p:cNvPr id="87044" name="Text Box 3">
            <a:extLst>
              <a:ext uri="{FF2B5EF4-FFF2-40B4-BE49-F238E27FC236}">
                <a16:creationId xmlns:a16="http://schemas.microsoft.com/office/drawing/2014/main" id="{8E2AF64F-9BC3-12DA-A006-27235D301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A4255B40-DDFE-4A41-9A08-4BFDB5C60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610600" cy="685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Analysis DP for Optimal BST Problem</a:t>
            </a:r>
          </a:p>
        </p:txBody>
      </p:sp>
      <p:sp>
        <p:nvSpPr>
          <p:cNvPr id="434179" name="Text Box 3">
            <a:extLst>
              <a:ext uri="{FF2B5EF4-FFF2-40B4-BE49-F238E27FC236}">
                <a16:creationId xmlns:a16="http://schemas.microsoft.com/office/drawing/2014/main" id="{88D62220-F523-4894-8249-2A6977C76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5867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5A8AA711-3C2F-E7C1-25D2-4BDBEF26E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86106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Time efficiency:  </a:t>
            </a:r>
            <a:r>
              <a:rPr lang="el-GR" altLang="en-US" sz="2400" b="1">
                <a:latin typeface="Times New Roman" panose="02020603050405020304" pitchFamily="18" charset="0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3</a:t>
            </a:r>
            <a:r>
              <a:rPr lang="en-US" altLang="en-US" sz="2400" b="1">
                <a:latin typeface="Times New Roman" panose="02020603050405020304" pitchFamily="18" charset="0"/>
              </a:rPr>
              <a:t>) but can be reduced to </a:t>
            </a:r>
            <a:r>
              <a:rPr lang="el-GR" altLang="en-US" sz="2400" b="1">
                <a:latin typeface="Times New Roman" panose="02020603050405020304" pitchFamily="18" charset="0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</a:rPr>
              <a:t>by taking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                              advantage of monotonicity of entries in the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                              root table, i.e., </a:t>
            </a:r>
            <a:r>
              <a:rPr lang="en-US" altLang="en-US" sz="2400" b="1" i="1">
                <a:latin typeface="Times New Roman" panose="02020603050405020304" pitchFamily="18" charset="0"/>
              </a:rPr>
              <a:t>R</a:t>
            </a:r>
            <a:r>
              <a:rPr lang="en-US" altLang="en-US" sz="2400" b="1"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] is always in the range </a:t>
            </a:r>
            <a:br>
              <a:rPr lang="en-US" altLang="en-US" sz="2400" b="1">
                <a:latin typeface="Times New Roman" panose="02020603050405020304" pitchFamily="18" charset="0"/>
              </a:rPr>
            </a:br>
            <a:r>
              <a:rPr lang="en-US" altLang="en-US" sz="2400" b="1">
                <a:latin typeface="Times New Roman" panose="02020603050405020304" pitchFamily="18" charset="0"/>
              </a:rPr>
              <a:t>                              between </a:t>
            </a:r>
            <a:r>
              <a:rPr lang="en-US" altLang="en-US" sz="2400" b="1" i="1">
                <a:latin typeface="Times New Roman" panose="02020603050405020304" pitchFamily="18" charset="0"/>
              </a:rPr>
              <a:t>R</a:t>
            </a:r>
            <a:r>
              <a:rPr lang="en-US" altLang="en-US" sz="2400" b="1">
                <a:latin typeface="Times New Roman" panose="02020603050405020304" pitchFamily="18" charset="0"/>
              </a:rPr>
              <a:t>[</a:t>
            </a:r>
            <a:r>
              <a:rPr lang="en-US" altLang="en-US" sz="2400" b="1" i="1">
                <a:latin typeface="Times New Roman" panose="02020603050405020304" pitchFamily="18" charset="0"/>
              </a:rPr>
              <a:t>i,j</a:t>
            </a:r>
            <a:r>
              <a:rPr lang="en-US" altLang="en-US" sz="2400" b="1">
                <a:latin typeface="Times New Roman" panose="02020603050405020304" pitchFamily="18" charset="0"/>
              </a:rPr>
              <a:t>-1] and R[</a:t>
            </a:r>
            <a:r>
              <a:rPr lang="en-US" altLang="en-US" sz="2400" b="1" i="1">
                <a:latin typeface="Times New Roman" panose="02020603050405020304" pitchFamily="18" charset="0"/>
              </a:rPr>
              <a:t>i</a:t>
            </a:r>
            <a:r>
              <a:rPr lang="en-US" altLang="en-US" sz="2400" b="1">
                <a:latin typeface="Times New Roman" panose="02020603050405020304" pitchFamily="18" charset="0"/>
              </a:rPr>
              <a:t>+1,j]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Space efficiency: </a:t>
            </a:r>
            <a:r>
              <a:rPr lang="el-GR" altLang="en-US" sz="2400" b="1">
                <a:latin typeface="Times New Roman" panose="02020603050405020304" pitchFamily="18" charset="0"/>
              </a:rPr>
              <a:t>Θ</a:t>
            </a:r>
            <a:r>
              <a:rPr lang="en-US" altLang="en-US" sz="2400" b="1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 b="1" baseline="30000">
                <a:latin typeface="Times New Roman" panose="02020603050405020304" pitchFamily="18" charset="0"/>
              </a:rPr>
              <a:t>2</a:t>
            </a:r>
            <a:r>
              <a:rPr lang="en-US" altLang="en-US" sz="2400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4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Method can be expended to include unsuccessful searches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  <a:endParaRPr lang="el-GR" altLang="en-US" sz="2400">
              <a:latin typeface="Times New Roman" panose="02020603050405020304" pitchFamily="18" charset="0"/>
            </a:endParaRPr>
          </a:p>
        </p:txBody>
      </p:sp>
      <p:sp>
        <p:nvSpPr>
          <p:cNvPr id="434181" name="Text Box 5">
            <a:extLst>
              <a:ext uri="{FF2B5EF4-FFF2-40B4-BE49-F238E27FC236}">
                <a16:creationId xmlns:a16="http://schemas.microsoft.com/office/drawing/2014/main" id="{7F945CCB-C18C-4CB1-B4EF-5FF81A22F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8534400" cy="3289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          </a:t>
            </a: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endParaRPr lang="en-US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</a:t>
            </a:r>
            <a:endParaRPr lang="en-US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spcBef>
                <a:spcPct val="50000"/>
              </a:spcBef>
              <a:defRPr/>
            </a:pPr>
            <a:endParaRPr lang="en-US" sz="28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7BC12D5A-7911-B8B8-6CC9-4E608D7C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Homework</a:t>
            </a:r>
          </a:p>
        </p:txBody>
      </p:sp>
      <p:sp>
        <p:nvSpPr>
          <p:cNvPr id="91139" name="Content Placeholder 2">
            <a:extLst>
              <a:ext uri="{FF2B5EF4-FFF2-40B4-BE49-F238E27FC236}">
                <a16:creationId xmlns:a16="http://schemas.microsoft.com/office/drawing/2014/main" id="{4CE5824D-EE81-5E93-28ED-1E621489A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Exercises 8.4 on page 337</a:t>
            </a:r>
          </a:p>
          <a:p>
            <a:pPr lvl="1"/>
            <a:r>
              <a:rPr lang="en-US" altLang="en-US"/>
              <a:t>Question 1, 6, 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68BA4E6C-755D-3795-7181-90938FDA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028A095E-ADC4-57E0-B39D-CB72FA58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13947</TotalTime>
  <Words>2813</Words>
  <Application>Microsoft Office PowerPoint</Application>
  <PresentationFormat>On-screen Show (4:3)</PresentationFormat>
  <Paragraphs>516</Paragraphs>
  <Slides>65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7" baseType="lpstr">
      <vt:lpstr>Gulim</vt:lpstr>
      <vt:lpstr>Arial</vt:lpstr>
      <vt:lpstr>Arial Narrow</vt:lpstr>
      <vt:lpstr>B Frutiger Bold</vt:lpstr>
      <vt:lpstr>Calibri</vt:lpstr>
      <vt:lpstr>Lucida Grande</vt:lpstr>
      <vt:lpstr>Monotype Sorts</vt:lpstr>
      <vt:lpstr>Symbol</vt:lpstr>
      <vt:lpstr>Times New Roman</vt:lpstr>
      <vt:lpstr>ヒラギノ角ゴ Pro W3</vt:lpstr>
      <vt:lpstr>Office Theme</vt:lpstr>
      <vt:lpstr>Document</vt:lpstr>
      <vt:lpstr>PowerPoint Presentation</vt:lpstr>
      <vt:lpstr>Dynamic Programming  </vt:lpstr>
      <vt:lpstr>Example: Fibonacci numbers  </vt:lpstr>
      <vt:lpstr>Example: Fibonacci numbers  (cont.)  </vt:lpstr>
      <vt:lpstr>PowerPoint Presentation</vt:lpstr>
      <vt:lpstr>PowerPoint Presentation</vt:lpstr>
      <vt:lpstr>PowerPoint Presentation</vt:lpstr>
      <vt:lpstr>Examples of DP algorithms</vt:lpstr>
      <vt:lpstr>Computing a binomial coefficient by DP</vt:lpstr>
      <vt:lpstr>Computing a binomial coefficient by DP</vt:lpstr>
      <vt:lpstr>Pascal’s Triangle</vt:lpstr>
      <vt:lpstr>Computing C(n,k): pseudocode and analysis</vt:lpstr>
      <vt:lpstr>Warshall’s  Algorithm: Transitive Closure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Warshall’s  Algorithm</vt:lpstr>
      <vt:lpstr>Warshall’s  Algorithm (recurrence)</vt:lpstr>
      <vt:lpstr>Warshall’s  Algorithm (matrix generation)</vt:lpstr>
      <vt:lpstr>PowerPoint Presentation</vt:lpstr>
      <vt:lpstr>Warshall’s Algorithm (example)</vt:lpstr>
      <vt:lpstr>PowerPoint Presentation</vt:lpstr>
      <vt:lpstr>PowerPoint Presentation</vt:lpstr>
      <vt:lpstr>Warshall’s Algorithm (pseudocode and analysis)</vt:lpstr>
      <vt:lpstr>Floyd’s Algorithm: All pairs shortest paths</vt:lpstr>
      <vt:lpstr>Floyd’s Algorithm (matrix generation)</vt:lpstr>
      <vt:lpstr>PowerPoint Presentation</vt:lpstr>
      <vt:lpstr>Floyd’s Algorithm (example)</vt:lpstr>
      <vt:lpstr>Floyd’s Algorithm (example)</vt:lpstr>
      <vt:lpstr>PowerPoint Presentation</vt:lpstr>
      <vt:lpstr>PowerPoint Presentation</vt:lpstr>
      <vt:lpstr>PowerPoint Presentation</vt:lpstr>
      <vt:lpstr>Floyd’s Algorithm (pseudocode and analysis)</vt:lpstr>
      <vt:lpstr>Knapsack Problem by DP</vt:lpstr>
      <vt:lpstr>Knapsack capacity=6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Knapsack Problem by DP (example)</vt:lpstr>
      <vt:lpstr>PowerPoint Presentation</vt:lpstr>
      <vt:lpstr>PowerPoint Presentation</vt:lpstr>
      <vt:lpstr>PowerPoint Presentation</vt:lpstr>
      <vt:lpstr>Optimal Binary Search Trees</vt:lpstr>
      <vt:lpstr>PowerPoint Presentation</vt:lpstr>
      <vt:lpstr>DP for Optimal BST Problem</vt:lpstr>
      <vt:lpstr>DP for Optimal BST Problem (cont.)</vt:lpstr>
      <vt:lpstr>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Optimal Binary Search Trees</vt:lpstr>
      <vt:lpstr>Analysis DP for Optimal BST Problem</vt:lpstr>
      <vt:lpstr>Homework</vt:lpstr>
      <vt:lpstr>PowerPoint Presentation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 Dynamic Programming</dc:title>
  <dc:creator>Anany Levitin</dc:creator>
  <cp:lastModifiedBy>NARONGRIT WARAPORN</cp:lastModifiedBy>
  <cp:revision>188</cp:revision>
  <dcterms:created xsi:type="dcterms:W3CDTF">1999-08-23T17:38:43Z</dcterms:created>
  <dcterms:modified xsi:type="dcterms:W3CDTF">2025-11-27T04:26:29Z</dcterms:modified>
</cp:coreProperties>
</file>