
<file path=[Content_Types].xml><?xml version="1.0" encoding="utf-8"?>
<Types xmlns="http://schemas.openxmlformats.org/package/2006/content-types"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2"/>
  </p:notesMasterIdLst>
  <p:sldIdLst>
    <p:sldId id="305" r:id="rId2"/>
    <p:sldId id="271" r:id="rId3"/>
    <p:sldId id="306" r:id="rId4"/>
    <p:sldId id="308" r:id="rId5"/>
    <p:sldId id="307" r:id="rId6"/>
    <p:sldId id="309" r:id="rId7"/>
    <p:sldId id="310" r:id="rId8"/>
    <p:sldId id="311" r:id="rId9"/>
    <p:sldId id="499" r:id="rId10"/>
    <p:sldId id="363" r:id="rId11"/>
    <p:sldId id="364" r:id="rId12"/>
    <p:sldId id="365" r:id="rId13"/>
    <p:sldId id="366" r:id="rId14"/>
    <p:sldId id="367" r:id="rId15"/>
    <p:sldId id="312" r:id="rId16"/>
    <p:sldId id="500" r:id="rId17"/>
    <p:sldId id="272" r:id="rId18"/>
    <p:sldId id="501" r:id="rId19"/>
    <p:sldId id="356" r:id="rId20"/>
    <p:sldId id="273" r:id="rId21"/>
    <p:sldId id="502" r:id="rId22"/>
    <p:sldId id="358" r:id="rId23"/>
    <p:sldId id="359" r:id="rId24"/>
    <p:sldId id="274" r:id="rId25"/>
    <p:sldId id="290" r:id="rId26"/>
    <p:sldId id="313" r:id="rId27"/>
    <p:sldId id="276" r:id="rId28"/>
    <p:sldId id="368" r:id="rId29"/>
    <p:sldId id="369" r:id="rId30"/>
    <p:sldId id="370" r:id="rId31"/>
    <p:sldId id="371" r:id="rId32"/>
    <p:sldId id="360" r:id="rId33"/>
    <p:sldId id="361" r:id="rId34"/>
    <p:sldId id="362" r:id="rId35"/>
    <p:sldId id="289" r:id="rId36"/>
    <p:sldId id="503" r:id="rId37"/>
    <p:sldId id="504" r:id="rId38"/>
    <p:sldId id="505" r:id="rId39"/>
    <p:sldId id="506" r:id="rId40"/>
    <p:sldId id="507" r:id="rId41"/>
    <p:sldId id="508" r:id="rId42"/>
    <p:sldId id="509" r:id="rId43"/>
    <p:sldId id="438" r:id="rId44"/>
    <p:sldId id="478" r:id="rId45"/>
    <p:sldId id="422" r:id="rId46"/>
    <p:sldId id="439" r:id="rId47"/>
    <p:sldId id="354" r:id="rId48"/>
    <p:sldId id="440" r:id="rId49"/>
    <p:sldId id="423" r:id="rId50"/>
    <p:sldId id="441" r:id="rId51"/>
    <p:sldId id="485" r:id="rId52"/>
    <p:sldId id="486" r:id="rId53"/>
    <p:sldId id="487" r:id="rId54"/>
    <p:sldId id="488" r:id="rId55"/>
    <p:sldId id="489" r:id="rId56"/>
    <p:sldId id="490" r:id="rId57"/>
    <p:sldId id="491" r:id="rId58"/>
    <p:sldId id="492" r:id="rId59"/>
    <p:sldId id="493" r:id="rId60"/>
    <p:sldId id="494" r:id="rId61"/>
    <p:sldId id="495" r:id="rId62"/>
    <p:sldId id="442" r:id="rId63"/>
    <p:sldId id="477" r:id="rId64"/>
    <p:sldId id="424" r:id="rId65"/>
    <p:sldId id="479" r:id="rId66"/>
    <p:sldId id="353" r:id="rId67"/>
    <p:sldId id="444" r:id="rId68"/>
    <p:sldId id="352" r:id="rId69"/>
    <p:sldId id="445" r:id="rId70"/>
    <p:sldId id="480" r:id="rId71"/>
    <p:sldId id="351" r:id="rId72"/>
    <p:sldId id="349" r:id="rId73"/>
    <p:sldId id="484" r:id="rId74"/>
    <p:sldId id="348" r:id="rId75"/>
    <p:sldId id="347" r:id="rId76"/>
    <p:sldId id="482" r:id="rId77"/>
    <p:sldId id="355" r:id="rId78"/>
    <p:sldId id="346" r:id="rId79"/>
    <p:sldId id="425" r:id="rId80"/>
    <p:sldId id="443" r:id="rId81"/>
    <p:sldId id="446" r:id="rId82"/>
    <p:sldId id="357" r:id="rId83"/>
    <p:sldId id="450" r:id="rId84"/>
    <p:sldId id="451" r:id="rId85"/>
    <p:sldId id="452" r:id="rId86"/>
    <p:sldId id="453" r:id="rId87"/>
    <p:sldId id="454" r:id="rId88"/>
    <p:sldId id="455" r:id="rId89"/>
    <p:sldId id="456" r:id="rId90"/>
    <p:sldId id="496" r:id="rId91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0E0E0"/>
    <a:srgbClr val="C9C9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9" autoAdjust="0"/>
    <p:restoredTop sz="99831" autoAdjust="0"/>
  </p:normalViewPr>
  <p:slideViewPr>
    <p:cSldViewPr>
      <p:cViewPr varScale="1">
        <p:scale>
          <a:sx n="104" d="100"/>
          <a:sy n="104" d="100"/>
        </p:scale>
        <p:origin x="102" y="228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274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theme" Target="theme/theme1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>
            <a:extLst>
              <a:ext uri="{FF2B5EF4-FFF2-40B4-BE49-F238E27FC236}">
                <a16:creationId xmlns:a16="http://schemas.microsoft.com/office/drawing/2014/main" id="{9B96C1A1-1787-433B-8E70-7A6AB3AFA7B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092AED84-F0A7-4F8C-B8B1-B92799FC55B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99F5CC81-6E27-4F63-9B91-42F4C342A2E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73733" name="Rectangle 5">
            <a:extLst>
              <a:ext uri="{FF2B5EF4-FFF2-40B4-BE49-F238E27FC236}">
                <a16:creationId xmlns:a16="http://schemas.microsoft.com/office/drawing/2014/main" id="{FB65DF2E-6849-4390-AF63-CA3ECDF20B6C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3734" name="Rectangle 6">
            <a:extLst>
              <a:ext uri="{FF2B5EF4-FFF2-40B4-BE49-F238E27FC236}">
                <a16:creationId xmlns:a16="http://schemas.microsoft.com/office/drawing/2014/main" id="{D358ED71-11CB-4184-8030-0B22314D12A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 eaLnBrk="1" hangingPunct="1">
              <a:defRPr sz="13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3735" name="Rectangle 7">
            <a:extLst>
              <a:ext uri="{FF2B5EF4-FFF2-40B4-BE49-F238E27FC236}">
                <a16:creationId xmlns:a16="http://schemas.microsoft.com/office/drawing/2014/main" id="{07CAF040-BA5A-42AC-8A59-94799CBBA8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 eaLnBrk="1" hangingPunct="1">
              <a:defRPr sz="1300"/>
            </a:lvl1pPr>
          </a:lstStyle>
          <a:p>
            <a:pPr>
              <a:defRPr/>
            </a:pPr>
            <a:fld id="{BC0A88EB-2ACE-4AD5-A339-AC05FC82857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659421CA-B80F-4F33-A9E1-FA828384C9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B2926FF-826B-49C2-9121-A224AB7F8C05}" type="slidenum">
              <a:rPr lang="en-US" altLang="en-US" sz="1200" smtClean="0"/>
              <a:pPr/>
              <a:t>2</a:t>
            </a:fld>
            <a:endParaRPr lang="en-US" altLang="en-US" sz="1200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2FF2CF5A-6537-42CE-97BA-CA226A38391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8D4D7631-B75E-4B7E-B60F-410DC8ADA3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A0F8F5A8-D8B9-4EF8-AA63-D7E63CCF9A5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16EE79B-62DE-4DD0-8350-427B91C6289C}" type="slidenum">
              <a:rPr lang="en-US" altLang="en-US" sz="1200" smtClean="0"/>
              <a:pPr/>
              <a:t>17</a:t>
            </a:fld>
            <a:endParaRPr lang="en-US" altLang="en-US" sz="1200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D508DF9B-0114-476A-B3D4-62A3026EF9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38FFD505-02B2-4633-8E8D-76CD29F997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95F171FA-8AD3-431E-9B52-A98305AB3B1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335B3AE-66BB-45A8-8627-63A74C5DC4AD}" type="slidenum">
              <a:rPr lang="en-US" altLang="en-US" sz="1200" smtClean="0"/>
              <a:pPr/>
              <a:t>20</a:t>
            </a:fld>
            <a:endParaRPr lang="en-US" altLang="en-US" sz="1200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0AA872A7-5FF7-4F2B-B67A-DB2C6A9E20D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2E2C971A-A14E-4BA0-8E27-8D2392834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EFA1D29E-75F1-437C-A3BA-D038545CBD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9A0C628-E024-4C3E-9C74-A1804009B5CB}" type="slidenum">
              <a:rPr lang="en-US" altLang="en-US" sz="1200" smtClean="0"/>
              <a:pPr/>
              <a:t>24</a:t>
            </a:fld>
            <a:endParaRPr lang="en-US" altLang="en-US" sz="12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E8E8922F-3373-439B-B266-D2BC9BE211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60C53306-F641-4D7C-B1E8-15A6FF13CC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E3261429-CF10-4446-B96E-198FE51FA02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E81AE748-B4F2-4920-8570-A31CCFA71356}" type="slidenum">
              <a:rPr lang="en-US" altLang="en-US" sz="1200" smtClean="0"/>
              <a:pPr/>
              <a:t>25</a:t>
            </a:fld>
            <a:endParaRPr lang="en-US" altLang="en-US" sz="1200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879189BC-6C57-4D61-B815-D329F552300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CA98F7CD-614E-4DA9-B28F-4608E3A8B82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>
            <a:extLst>
              <a:ext uri="{FF2B5EF4-FFF2-40B4-BE49-F238E27FC236}">
                <a16:creationId xmlns:a16="http://schemas.microsoft.com/office/drawing/2014/main" id="{9E72CF16-8E7F-4D38-B33A-B2DA55EF652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7152FC3-1216-4262-B60D-8F5DB14A7318}" type="slidenum">
              <a:rPr lang="en-US" altLang="en-US" sz="1200" smtClean="0"/>
              <a:pPr/>
              <a:t>27</a:t>
            </a:fld>
            <a:endParaRPr lang="en-US" altLang="en-US" sz="12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1B40D30D-6717-433D-BE86-3D1582F452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ln/>
        </p:spPr>
      </p:sp>
      <p:sp>
        <p:nvSpPr>
          <p:cNvPr id="40964" name="Rectangle 3">
            <a:extLst>
              <a:ext uri="{FF2B5EF4-FFF2-40B4-BE49-F238E27FC236}">
                <a16:creationId xmlns:a16="http://schemas.microsoft.com/office/drawing/2014/main" id="{28ECFEE7-264F-4AB1-B980-328E6F87D9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28251BAA-FB32-4ABD-913A-5015196253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DD3BC98-60E1-421C-8282-3ACBE6D24ABC}" type="slidenum">
              <a:rPr lang="en-US" altLang="en-US" sz="1200" smtClean="0"/>
              <a:pPr/>
              <a:t>35</a:t>
            </a:fld>
            <a:endParaRPr lang="en-US" altLang="en-US" sz="120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F463EA9D-3860-4876-AE52-E714B2BA7B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257300" y="685800"/>
            <a:ext cx="4800600" cy="3600450"/>
          </a:xfrm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A73365E3-2EB0-4F7B-A02D-C49C68C149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74725" y="4560888"/>
            <a:ext cx="5365750" cy="4319587"/>
          </a:xfrm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>
            <a:extLst>
              <a:ext uri="{FF2B5EF4-FFF2-40B4-BE49-F238E27FC236}">
                <a16:creationId xmlns:a16="http://schemas.microsoft.com/office/drawing/2014/main" id="{553DE9A9-8A7B-4053-B661-2BF552DF69A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66788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26FE1426-2BCE-4BBC-A4AE-BC0E1F400E36}" type="slidenum">
              <a:rPr lang="en-US" altLang="en-US" sz="1200" smtClean="0"/>
              <a:pPr/>
              <a:t>38</a:t>
            </a:fld>
            <a:endParaRPr lang="en-US" altLang="en-US" sz="120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BE5F9111-7225-4DE2-B2F7-F4661EE1A1D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>
            <a:extLst>
              <a:ext uri="{FF2B5EF4-FFF2-40B4-BE49-F238E27FC236}">
                <a16:creationId xmlns:a16="http://schemas.microsoft.com/office/drawing/2014/main" id="{61F10BF6-0B6B-4908-8595-3152BB52DA3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th-TH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B68FF23-1786-483C-8607-EE530C2771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noFill/>
          <a:ln/>
        </p:spPr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F7775512-8B65-420A-8898-2B5BB2C7D2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37" tIns="49518" rIns="99037" bIns="49518"/>
          <a:lstStyle/>
          <a:p>
            <a:pPr eaLnBrk="1" hangingPunct="1"/>
            <a:endParaRPr lang="th-TH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43A12FA7-D721-49B2-B543-EF093EC11B5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noFill/>
          <a:ln/>
        </p:spPr>
      </p:sp>
      <p:sp>
        <p:nvSpPr>
          <p:cNvPr id="30723" name="Rectangle 3">
            <a:extLst>
              <a:ext uri="{FF2B5EF4-FFF2-40B4-BE49-F238E27FC236}">
                <a16:creationId xmlns:a16="http://schemas.microsoft.com/office/drawing/2014/main" id="{0FF887C4-CBC3-443B-9B4C-421A320B04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47738" y="4860925"/>
            <a:ext cx="5203825" cy="46053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9037" tIns="49518" rIns="99037" bIns="49518"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Section 10.1.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AD064390-B104-43FF-9300-6869A9C42A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noFill/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F948DBD5-6322-48D8-AC5F-412864AEDD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Cf. Figure 10.1.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58D3F79B-3C71-4EC0-B114-C4D204BB24E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noFill/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8849BA4F-5AFD-44B7-8CD8-6B6DB7EAA4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Assume that data are coming in random order. what is the probability that a particular cell will be occupied?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41E3CDC2-5BBB-4105-8389-8B6F9D35A9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73163" y="696913"/>
            <a:ext cx="4638675" cy="3479800"/>
          </a:xfrm>
          <a:noFill/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0F8FD6FC-48AD-44BA-8299-9197E1E00E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698500" y="4408488"/>
            <a:ext cx="5588000" cy="4176712"/>
          </a:xfrm>
          <a:noFill/>
        </p:spPr>
        <p:txBody>
          <a:bodyPr/>
          <a:lstStyle/>
          <a:p>
            <a:r>
              <a:rPr lang="en-US" altLang="en-US">
                <a:latin typeface="Arial" panose="020B0604020202020204" pitchFamily="34" charset="0"/>
              </a:rPr>
              <a:t>Cf. Figure 10.5.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365E51A4-C585-467F-AB3F-03ED1682FB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  <a:noFill/>
          <a:ln/>
        </p:spPr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C0A8DD8-D0DD-41F1-A132-DA0A5BB7FDF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Cf. Figure 10.6.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B471B416-5E5A-4BE2-9BBC-23F6BD54936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fld id="{A5A20771-43E7-4397-B534-527B3B67BB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70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5C086983-C53F-42CC-9374-EDAE5082CFB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fld id="{DE629DCD-E71A-452A-803A-EBD4AA168D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5207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BF12A318-9729-4851-A68A-45564B3A28A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fld id="{AAE767A1-A41C-459F-81EF-1C0395EB8C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7602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692A70AE-CFBD-41A9-9D8F-1C26EFF1810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fld id="{126B5482-2494-46D7-83EA-78FA5F654B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540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9">
            <a:extLst>
              <a:ext uri="{FF2B5EF4-FFF2-40B4-BE49-F238E27FC236}">
                <a16:creationId xmlns:a16="http://schemas.microsoft.com/office/drawing/2014/main" id="{F491814F-CD00-4A57-AB5F-634275D116A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fld id="{F2C5AB6E-D405-475C-8564-9A24C806EC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0888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E8046EE0-1607-47F1-B97C-5224322A72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fld id="{1EBE82B9-D196-473C-9C2F-E03BCB9FB2B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149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>
            <a:extLst>
              <a:ext uri="{FF2B5EF4-FFF2-40B4-BE49-F238E27FC236}">
                <a16:creationId xmlns:a16="http://schemas.microsoft.com/office/drawing/2014/main" id="{AD994F19-DB43-47F4-8AD7-53057BC0F17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fld id="{5D8FDB9A-58D9-4BF5-B67D-C64BEF0E4C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231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97BE934F-861B-48AC-B497-9C2BD8F3236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fld id="{EF99D6EF-0C0E-4A02-858D-AB9628E74D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2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85C40CDD-7DDF-42AF-A93B-DD105F30EF1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fld id="{59BF502B-12A9-4DE7-9775-A99AE2A3385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286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481117E3-DAC0-4ADA-A70A-D3569C7BE16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fld id="{BBEE9E42-F4F4-4BCF-B3A6-B49CAC16B7C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800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78B5DE8A-8002-45F3-BA48-1E3BFBC76E5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fld id="{7D00348C-4BCE-4397-BA71-961EAB27F11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3381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9">
            <a:extLst>
              <a:ext uri="{FF2B5EF4-FFF2-40B4-BE49-F238E27FC236}">
                <a16:creationId xmlns:a16="http://schemas.microsoft.com/office/drawing/2014/main" id="{56C57C8B-871A-4AC9-AE92-769440942B2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 </a:t>
            </a:r>
            <a:fld id="{EEA4DD83-47D3-4F2D-B833-2E8EA3D441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9158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8A8C6150-4AEC-4F20-A7DB-706085DCCA1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 sz="18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2617A37-6AD7-416A-9D8B-1A2BF390A49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 sz="18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AB03F0B-693C-4255-A3EB-52369FB9106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D8049E-5116-43E1-947B-F5DE6D9CB5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70680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685800" y="609600"/>
            <a:ext cx="7772400" cy="548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67D841F7-5AB2-45A5-B163-B7CE89D300A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</p:spPr>
        <p:txBody>
          <a:bodyPr/>
          <a:lstStyle>
            <a:lvl1pPr eaLnBrk="1" hangingPunct="1">
              <a:defRPr sz="18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533123D9-7F52-4973-9169-E8E9AE32A58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</p:spPr>
        <p:txBody>
          <a:bodyPr/>
          <a:lstStyle>
            <a:lvl1pPr eaLnBrk="1" hangingPunct="1">
              <a:defRPr sz="18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DD3CDA6E-3991-465D-AC64-2377A015918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CB0E62-6B31-46DD-B687-B7A0D84980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38644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showMasterPhAnim="0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62D4C646-359A-4214-83DF-354A30C19D1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1295400" y="6248400"/>
            <a:ext cx="1905000" cy="457200"/>
          </a:xfrm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sz="1400">
                <a:solidFill>
                  <a:srgbClr val="FFFFFF"/>
                </a:solidFill>
                <a:latin typeface="Arial Narrow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8">
            <a:extLst>
              <a:ext uri="{FF2B5EF4-FFF2-40B4-BE49-F238E27FC236}">
                <a16:creationId xmlns:a16="http://schemas.microsoft.com/office/drawing/2014/main" id="{58AEE531-ED7F-4461-8889-560B4CE2809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733800" y="6248400"/>
            <a:ext cx="2895600" cy="457200"/>
          </a:xfrm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solidFill>
                  <a:srgbClr val="FFFFFF"/>
                </a:solidFill>
                <a:latin typeface="Arial Narrow" pitchFamily="34" charset="0"/>
              </a:defRPr>
            </a:lvl1pPr>
          </a:lstStyle>
          <a:p>
            <a:pPr>
              <a:defRPr/>
            </a:pPr>
            <a:r>
              <a:rPr lang="en-US"/>
              <a:t>Design and Analysis of Algorithms - Chapter 7</a:t>
            </a:r>
          </a:p>
        </p:txBody>
      </p:sp>
      <p:sp>
        <p:nvSpPr>
          <p:cNvPr id="4" name="Rectangle 9">
            <a:extLst>
              <a:ext uri="{FF2B5EF4-FFF2-40B4-BE49-F238E27FC236}">
                <a16:creationId xmlns:a16="http://schemas.microsoft.com/office/drawing/2014/main" id="{D559BB76-0D15-4A29-894B-443A3443D86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7162800" y="6248400"/>
            <a:ext cx="1905000" cy="457200"/>
          </a:xfrm>
          <a:ln>
            <a:miter lim="800000"/>
            <a:headEnd/>
            <a:tailEnd/>
          </a:ln>
        </p:spPr>
        <p:txBody>
          <a:bodyPr anchor="t"/>
          <a:lstStyle>
            <a:lvl1pPr>
              <a:spcBef>
                <a:spcPct val="50000"/>
              </a:spcBef>
              <a:defRPr sz="1400">
                <a:solidFill>
                  <a:srgbClr val="FFFFFF"/>
                </a:solidFill>
                <a:latin typeface="Arial Narrow" panose="020B0606020202030204" pitchFamily="34" charset="0"/>
              </a:defRPr>
            </a:lvl1pPr>
          </a:lstStyle>
          <a:p>
            <a:pPr>
              <a:defRPr/>
            </a:pPr>
            <a:fld id="{7706F926-5037-4959-B4F7-BBAF023B053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36220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C0EA9F-D3E4-4A1F-8073-DA3CF43A61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7CD19665-37F9-489B-B58B-448184DD0A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Text Box 7">
            <a:extLst>
              <a:ext uri="{FF2B5EF4-FFF2-40B4-BE49-F238E27FC236}">
                <a16:creationId xmlns:a16="http://schemas.microsoft.com/office/drawing/2014/main" id="{634D54AB-C911-4712-BBEE-FFC31E8ADA0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33400" y="6172200"/>
            <a:ext cx="5181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en-US" sz="1600"/>
              <a:t>Data Structures and Algorithms in Java</a:t>
            </a:r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8B602FC4-1BFB-410A-87D5-8CBCAD73426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172200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600"/>
            </a:lvl1pPr>
          </a:lstStyle>
          <a:p>
            <a:pPr>
              <a:defRPr/>
            </a:pPr>
            <a:r>
              <a:rPr lang="en-US"/>
              <a:t> </a:t>
            </a:r>
            <a:fld id="{2CF87256-410C-4C66-940D-6AD12CD5A71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46" r:id="rId2"/>
    <p:sldLayoutId id="2147483747" r:id="rId3"/>
    <p:sldLayoutId id="2147483748" r:id="rId4"/>
    <p:sldLayoutId id="2147483749" r:id="rId5"/>
    <p:sldLayoutId id="2147483750" r:id="rId6"/>
    <p:sldLayoutId id="2147483751" r:id="rId7"/>
    <p:sldLayoutId id="2147483752" r:id="rId8"/>
    <p:sldLayoutId id="2147483753" r:id="rId9"/>
    <p:sldLayoutId id="2147483754" r:id="rId10"/>
    <p:sldLayoutId id="2147483755" r:id="rId11"/>
    <p:sldLayoutId id="2147483756" r:id="rId12"/>
    <p:sldLayoutId id="2147483757" r:id="rId13"/>
    <p:sldLayoutId id="2147483758" r:id="rId14"/>
    <p:sldLayoutId id="2147483759" r:id="rId1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6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2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900" name="Rectangle 4" descr="Pink tissue paper">
            <a:extLst>
              <a:ext uri="{FF2B5EF4-FFF2-40B4-BE49-F238E27FC236}">
                <a16:creationId xmlns:a16="http://schemas.microsoft.com/office/drawing/2014/main" id="{A6FAEAFD-7A60-451B-A72D-CE13298753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066800"/>
            <a:ext cx="36576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r>
              <a:rPr lang="en-US" sz="42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Chapter 7</a:t>
            </a:r>
            <a:r>
              <a:rPr lang="en-US" sz="4100">
                <a:solidFill>
                  <a:schemeClr val="tx2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Arial" charset="0"/>
                <a:cs typeface="Arial" charset="0"/>
              </a:rPr>
              <a:t> </a:t>
            </a:r>
          </a:p>
        </p:txBody>
      </p:sp>
      <p:pic>
        <p:nvPicPr>
          <p:cNvPr id="8195" name="Picture 5" descr="awtri_4c UPDATE_color">
            <a:extLst>
              <a:ext uri="{FF2B5EF4-FFF2-40B4-BE49-F238E27FC236}">
                <a16:creationId xmlns:a16="http://schemas.microsoft.com/office/drawing/2014/main" id="{8D82AF3B-A3E3-449D-BD8D-B56F9D1E89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5721350"/>
            <a:ext cx="684213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6" name="Rectangle 6" descr="Pink tissue paper">
            <a:extLst>
              <a:ext uri="{FF2B5EF4-FFF2-40B4-BE49-F238E27FC236}">
                <a16:creationId xmlns:a16="http://schemas.microsoft.com/office/drawing/2014/main" id="{E49D51BE-08E9-4CBA-9E7B-BE69F3A9B7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2438400"/>
            <a:ext cx="3505200" cy="222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rIns="0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en-US" b="1">
                <a:ea typeface="ヒラギノ角ゴ Pro W3"/>
                <a:cs typeface="ヒラギノ角ゴ Pro W3"/>
              </a:rPr>
              <a:t>Space and Time Tradeoffs</a:t>
            </a:r>
          </a:p>
        </p:txBody>
      </p:sp>
      <p:pic>
        <p:nvPicPr>
          <p:cNvPr id="8197" name="Picture 7" descr="levitin2e_hires">
            <a:extLst>
              <a:ext uri="{FF2B5EF4-FFF2-40B4-BE49-F238E27FC236}">
                <a16:creationId xmlns:a16="http://schemas.microsoft.com/office/drawing/2014/main" id="{D1A0F491-E48F-4769-990C-C3D494DD19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457200"/>
            <a:ext cx="4689475" cy="579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8" name="Rectangle 8">
            <a:extLst>
              <a:ext uri="{FF2B5EF4-FFF2-40B4-BE49-F238E27FC236}">
                <a16:creationId xmlns:a16="http://schemas.microsoft.com/office/drawing/2014/main" id="{3EC2787A-56C5-4A97-BEC0-3342066E93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0" y="6134100"/>
            <a:ext cx="3429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800">
                <a:latin typeface="Arial" panose="020B0604020202020204" pitchFamily="34" charset="0"/>
                <a:ea typeface="ヒラギノ角ゴ Pro W3"/>
                <a:cs typeface="ヒラギノ角ゴ Pro W3"/>
              </a:rPr>
              <a:t>Copyright © 2007 Pearson Addison-Wesley. All rights reserved.</a:t>
            </a:r>
            <a:endParaRPr lang="en-US" altLang="en-US" sz="900">
              <a:latin typeface="Arial" panose="020B0604020202020204" pitchFamily="34" charset="0"/>
              <a:ea typeface="ヒラギノ角ゴ Pro W3"/>
              <a:cs typeface="ヒラギノ角ゴ Pro W3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2A4E8F2E-3A4E-4D76-B4B6-4C8BC94A7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Space-for-time tradeoffs</a:t>
            </a:r>
          </a:p>
        </p:txBody>
      </p:sp>
      <p:sp>
        <p:nvSpPr>
          <p:cNvPr id="406531" name="Rectangle 3">
            <a:extLst>
              <a:ext uri="{FF2B5EF4-FFF2-40B4-BE49-F238E27FC236}">
                <a16:creationId xmlns:a16="http://schemas.microsoft.com/office/drawing/2014/main" id="{B5620890-BE73-4AB2-BCF9-D6536D5734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dirty="0"/>
              <a:t>Two varieties of space-for-time algorithms: 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i="1" u="sng" dirty="0"/>
              <a:t>input enhancement</a:t>
            </a:r>
            <a:r>
              <a:rPr lang="en-US" dirty="0"/>
              <a:t>  </a:t>
            </a:r>
            <a:r>
              <a:rPr lang="en-US" dirty="0">
                <a:cs typeface="Times New Roman" pitchFamily="18" charset="0"/>
              </a:rPr>
              <a:t>—</a:t>
            </a:r>
            <a:r>
              <a:rPr lang="en-US" dirty="0"/>
              <a:t> preprocess the input (or its part) to store some info to be used later in solving the problem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400" dirty="0"/>
              <a:t>counting sorts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400" dirty="0"/>
              <a:t>string searching algorithms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endParaRPr lang="en-US" sz="2400" dirty="0"/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i="1" u="sng" dirty="0" err="1"/>
              <a:t>prestructuring</a:t>
            </a:r>
            <a:r>
              <a:rPr lang="en-US" dirty="0"/>
              <a:t> </a:t>
            </a:r>
            <a:r>
              <a:rPr lang="en-US" dirty="0">
                <a:cs typeface="Times New Roman" pitchFamily="18" charset="0"/>
              </a:rPr>
              <a:t>—</a:t>
            </a:r>
            <a:r>
              <a:rPr lang="en-US" dirty="0"/>
              <a:t> preprocess the input to make accessing its elements easier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400" dirty="0"/>
              <a:t>hashing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sz="2400" dirty="0"/>
              <a:t>indexing schemes (e.g., B-trees)</a:t>
            </a:r>
          </a:p>
          <a:p>
            <a:pPr lvl="1" eaLnBrk="1" fontAlgn="auto" hangingPunct="1">
              <a:spcAft>
                <a:spcPts val="0"/>
              </a:spcAft>
              <a:buFontTx/>
              <a:buNone/>
              <a:defRPr/>
            </a:pPr>
            <a:endParaRPr lang="en-US" sz="1800" dirty="0"/>
          </a:p>
          <a:p>
            <a:pPr eaLnBrk="1" fontAlgn="auto" hangingPunct="1">
              <a:spcAft>
                <a:spcPts val="0"/>
              </a:spcAft>
              <a:defRPr/>
            </a:pP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>
            <a:extLst>
              <a:ext uri="{FF2B5EF4-FFF2-40B4-BE49-F238E27FC236}">
                <a16:creationId xmlns:a16="http://schemas.microsoft.com/office/drawing/2014/main" id="{BC765A7C-5941-4C8C-AFE1-B92E5B7DE8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Sorting by Counting</a:t>
            </a:r>
          </a:p>
        </p:txBody>
      </p:sp>
      <p:sp>
        <p:nvSpPr>
          <p:cNvPr id="11267" name="Content Placeholder 2">
            <a:extLst>
              <a:ext uri="{FF2B5EF4-FFF2-40B4-BE49-F238E27FC236}">
                <a16:creationId xmlns:a16="http://schemas.microsoft.com/office/drawing/2014/main" id="{E3065275-7BEB-44F7-94B2-F56EF0AAB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Count the number of elements smaller than this element.</a:t>
            </a:r>
          </a:p>
          <a:p>
            <a:pPr eaLnBrk="1" hangingPunct="1"/>
            <a:r>
              <a:rPr lang="en-US" altLang="en-US"/>
              <a:t>These numbers indicate the positions.</a:t>
            </a:r>
          </a:p>
          <a:p>
            <a:pPr eaLnBrk="1" hangingPunct="1"/>
            <a:r>
              <a:rPr lang="en-US" altLang="en-US"/>
              <a:t>If there is 0 element smaller than x, x is the 0</a:t>
            </a:r>
            <a:r>
              <a:rPr lang="en-US" altLang="en-US" baseline="30000"/>
              <a:t>th</a:t>
            </a:r>
            <a:r>
              <a:rPr lang="en-US" altLang="en-US"/>
              <a:t>    element. If there are 3 elements smaller than y, then y is the 3</a:t>
            </a:r>
            <a:r>
              <a:rPr lang="en-US" altLang="en-US" baseline="30000"/>
              <a:t>rd</a:t>
            </a:r>
            <a:r>
              <a:rPr lang="en-US" altLang="en-US"/>
              <a:t> element (starting from 0.)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>
            <a:extLst>
              <a:ext uri="{FF2B5EF4-FFF2-40B4-BE49-F238E27FC236}">
                <a16:creationId xmlns:a16="http://schemas.microsoft.com/office/drawing/2014/main" id="{76E701AB-C6A6-41EA-9BF4-991228E055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Sorting by Counting</a:t>
            </a:r>
          </a:p>
        </p:txBody>
      </p:sp>
      <p:pic>
        <p:nvPicPr>
          <p:cNvPr id="12291" name="Picture 18" descr="fig07_01">
            <a:extLst>
              <a:ext uri="{FF2B5EF4-FFF2-40B4-BE49-F238E27FC236}">
                <a16:creationId xmlns:a16="http://schemas.microsoft.com/office/drawing/2014/main" id="{5E613353-AE4B-41DA-A362-2EE7313965B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428750"/>
            <a:ext cx="8229600" cy="4451350"/>
          </a:xfr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>
            <a:extLst>
              <a:ext uri="{FF2B5EF4-FFF2-40B4-BE49-F238E27FC236}">
                <a16:creationId xmlns:a16="http://schemas.microsoft.com/office/drawing/2014/main" id="{B520F7E7-E5DF-433D-8D10-DDFB20E45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Sorting by Counting</a:t>
            </a:r>
          </a:p>
        </p:txBody>
      </p:sp>
      <p:sp>
        <p:nvSpPr>
          <p:cNvPr id="13315" name="Content Placeholder 2">
            <a:extLst>
              <a:ext uri="{FF2B5EF4-FFF2-40B4-BE49-F238E27FC236}">
                <a16:creationId xmlns:a16="http://schemas.microsoft.com/office/drawing/2014/main" id="{950427C0-451E-4005-A971-A708D5AB96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800"/>
              <a:t>ComparisonCountingSort( A[0..n-1]  )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800"/>
              <a:t>for i </a:t>
            </a:r>
            <a:r>
              <a:rPr lang="en-US" altLang="en-US" sz="2800">
                <a:sym typeface="Symbol" panose="05050102010706020507" pitchFamily="18" charset="2"/>
              </a:rPr>
              <a:t> 0 to n-1 do count[i]  0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800">
                <a:sym typeface="Symbol" panose="05050102010706020507" pitchFamily="18" charset="2"/>
              </a:rPr>
              <a:t>for i  0 to n-2 do 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800">
                <a:sym typeface="Symbol" panose="05050102010706020507" pitchFamily="18" charset="2"/>
              </a:rPr>
              <a:t>        for j  i + 1 to n -1 do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800">
                <a:sym typeface="Symbol" panose="05050102010706020507" pitchFamily="18" charset="2"/>
              </a:rPr>
              <a:t>             if A[i] &lt; A[j]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800">
                <a:sym typeface="Symbol" panose="05050102010706020507" pitchFamily="18" charset="2"/>
              </a:rPr>
              <a:t>                  count[j]  count[j] + 1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800">
                <a:sym typeface="Symbol" panose="05050102010706020507" pitchFamily="18" charset="2"/>
              </a:rPr>
              <a:t>             else count[i]  count[i] + 1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800">
                <a:sym typeface="Symbol" panose="05050102010706020507" pitchFamily="18" charset="2"/>
              </a:rPr>
              <a:t>for i  0 to n-1 do S[ count[i] ]  A[i]</a:t>
            </a:r>
          </a:p>
          <a:p>
            <a:pPr eaLnBrk="1" hangingPunct="1">
              <a:buFont typeface="Arial" panose="020B0604020202020204" pitchFamily="34" charset="0"/>
              <a:buNone/>
            </a:pPr>
            <a:r>
              <a:rPr lang="en-US" altLang="en-US" sz="2800">
                <a:sym typeface="Symbol" panose="05050102010706020507" pitchFamily="18" charset="2"/>
              </a:rPr>
              <a:t>return S</a:t>
            </a:r>
            <a:endParaRPr lang="en-US" altLang="en-US" sz="2800"/>
          </a:p>
        </p:txBody>
      </p:sp>
      <p:pic>
        <p:nvPicPr>
          <p:cNvPr id="13316" name="Picture 18" descr="fig07_01">
            <a:extLst>
              <a:ext uri="{FF2B5EF4-FFF2-40B4-BE49-F238E27FC236}">
                <a16:creationId xmlns:a16="http://schemas.microsoft.com/office/drawing/2014/main" id="{111BCD89-B967-42C0-B0FA-8BF0435516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368" b="12456"/>
          <a:stretch>
            <a:fillRect/>
          </a:stretch>
        </p:blipFill>
        <p:spPr bwMode="auto">
          <a:xfrm>
            <a:off x="5715000" y="2071688"/>
            <a:ext cx="2938463" cy="3214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>
            <a:extLst>
              <a:ext uri="{FF2B5EF4-FFF2-40B4-BE49-F238E27FC236}">
                <a16:creationId xmlns:a16="http://schemas.microsoft.com/office/drawing/2014/main" id="{B8A197A7-43AD-466D-80F5-A5254524B7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Sorting by Counting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1C9A6F-8502-4803-A56E-5DF5AD305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Time efficiency of this algorithm: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 	 C(n) = 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endParaRPr lang="en-US" dirty="0"/>
          </a:p>
          <a:p>
            <a:pPr indent="17463"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dirty="0"/>
              <a:t>Since the efficiency is the same as selection sort with addition of linear about of spaces, it is hardly recommended for practical use.</a:t>
            </a:r>
          </a:p>
        </p:txBody>
      </p:sp>
      <p:sp>
        <p:nvSpPr>
          <p:cNvPr id="16" name="Text Box 4">
            <a:extLst>
              <a:ext uri="{FF2B5EF4-FFF2-40B4-BE49-F238E27FC236}">
                <a16:creationId xmlns:a16="http://schemas.microsoft.com/office/drawing/2014/main" id="{BEAA5933-3D1E-448F-901D-0C4BB5EF2C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3357563"/>
            <a:ext cx="5080000" cy="83026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defRPr/>
            </a:pPr>
            <a:r>
              <a:rPr lang="en-US" b="1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[ (n - 1 – </a:t>
            </a:r>
            <a:r>
              <a:rPr lang="en-US" b="1" dirty="0" err="1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</a:t>
            </a:r>
            <a:r>
              <a:rPr lang="en-US" b="1" dirty="0">
                <a:solidFill>
                  <a:schemeClr val="hlink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] </a:t>
            </a:r>
            <a:endParaRPr lang="el-GR" b="1" i="1" baseline="30000" dirty="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  <a:cs typeface="Times New Roman" pitchFamily="18" charset="0"/>
            </a:endParaRPr>
          </a:p>
          <a:p>
            <a:pPr>
              <a:defRPr/>
            </a:pPr>
            <a:endParaRPr lang="en-US" b="1" dirty="0">
              <a:solidFill>
                <a:schemeClr val="hlink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grpSp>
        <p:nvGrpSpPr>
          <p:cNvPr id="14341" name="Group 21">
            <a:extLst>
              <a:ext uri="{FF2B5EF4-FFF2-40B4-BE49-F238E27FC236}">
                <a16:creationId xmlns:a16="http://schemas.microsoft.com/office/drawing/2014/main" id="{1533713D-5288-4CF6-A479-9E803A70DE07}"/>
              </a:ext>
            </a:extLst>
          </p:cNvPr>
          <p:cNvGrpSpPr>
            <a:grpSpLocks/>
          </p:cNvGrpSpPr>
          <p:nvPr/>
        </p:nvGrpSpPr>
        <p:grpSpPr bwMode="auto">
          <a:xfrm>
            <a:off x="2041525" y="2028825"/>
            <a:ext cx="5030788" cy="2505075"/>
            <a:chOff x="2041510" y="2028820"/>
            <a:chExt cx="5030820" cy="2504787"/>
          </a:xfrm>
        </p:grpSpPr>
        <p:sp>
          <p:nvSpPr>
            <p:cNvPr id="14342" name="Text Box 6">
              <a:extLst>
                <a:ext uri="{FF2B5EF4-FFF2-40B4-BE49-F238E27FC236}">
                  <a16:creationId xmlns:a16="http://schemas.microsoft.com/office/drawing/2014/main" id="{16E75659-7693-4D9C-9E5C-FF68D71BC0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41510" y="2052630"/>
              <a:ext cx="762000" cy="409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en-US" sz="20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-2</a:t>
              </a:r>
            </a:p>
          </p:txBody>
        </p:sp>
        <p:sp>
          <p:nvSpPr>
            <p:cNvPr id="14343" name="Text Box 6">
              <a:extLst>
                <a:ext uri="{FF2B5EF4-FFF2-40B4-BE49-F238E27FC236}">
                  <a16:creationId xmlns:a16="http://schemas.microsoft.com/office/drawing/2014/main" id="{73573AEC-38A8-416F-A872-B0CD70E5F9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66974" y="2028820"/>
              <a:ext cx="762000" cy="409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en-US" sz="20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-1</a:t>
              </a:r>
            </a:p>
          </p:txBody>
        </p:sp>
        <p:sp>
          <p:nvSpPr>
            <p:cNvPr id="14344" name="Text Box 6">
              <a:extLst>
                <a:ext uri="{FF2B5EF4-FFF2-40B4-BE49-F238E27FC236}">
                  <a16:creationId xmlns:a16="http://schemas.microsoft.com/office/drawing/2014/main" id="{093035BB-1EC7-4884-A4F0-3FAB55FBE1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4296" y="2057392"/>
              <a:ext cx="762000" cy="409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en-US" sz="20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-2</a:t>
              </a:r>
            </a:p>
          </p:txBody>
        </p:sp>
        <p:sp>
          <p:nvSpPr>
            <p:cNvPr id="14345" name="Text Box 3">
              <a:extLst>
                <a:ext uri="{FF2B5EF4-FFF2-40B4-BE49-F238E27FC236}">
                  <a16:creationId xmlns:a16="http://schemas.microsoft.com/office/drawing/2014/main" id="{B0287203-B000-481F-A8A5-6AC09831BB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7710" y="2281230"/>
              <a:ext cx="514350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l-GR" altLang="en-US" sz="3600" b="1">
                  <a:solidFill>
                    <a:schemeClr val="hlin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</a:t>
              </a:r>
              <a:endParaRPr lang="el-GR" altLang="en-US" sz="3600" b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46" name="Text Box 4">
              <a:extLst>
                <a:ext uri="{FF2B5EF4-FFF2-40B4-BE49-F238E27FC236}">
                  <a16:creationId xmlns:a16="http://schemas.microsoft.com/office/drawing/2014/main" id="{76C138EF-51D5-428B-BFC2-6A35FA5E95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86116" y="2357430"/>
              <a:ext cx="71438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1 = </a:t>
              </a:r>
            </a:p>
          </p:txBody>
        </p:sp>
        <p:sp>
          <p:nvSpPr>
            <p:cNvPr id="14347" name="Text Box 5">
              <a:extLst>
                <a:ext uri="{FF2B5EF4-FFF2-40B4-BE49-F238E27FC236}">
                  <a16:creationId xmlns:a16="http://schemas.microsoft.com/office/drawing/2014/main" id="{4D4F2A52-E880-4E99-BE11-7E26BD1856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7710" y="2738430"/>
              <a:ext cx="609600" cy="409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en-US" sz="20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=0</a:t>
              </a:r>
            </a:p>
          </p:txBody>
        </p:sp>
        <p:sp>
          <p:nvSpPr>
            <p:cNvPr id="14348" name="Text Box 3">
              <a:extLst>
                <a:ext uri="{FF2B5EF4-FFF2-40B4-BE49-F238E27FC236}">
                  <a16:creationId xmlns:a16="http://schemas.microsoft.com/office/drawing/2014/main" id="{C9B53CC5-09A3-4C61-A69B-DA36C47435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3174" y="2257420"/>
              <a:ext cx="514350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l-GR" altLang="en-US" sz="3600" b="1">
                  <a:solidFill>
                    <a:schemeClr val="hlin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</a:t>
              </a:r>
              <a:endParaRPr lang="el-GR" altLang="en-US" sz="3600" b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49" name="Text Box 5">
              <a:extLst>
                <a:ext uri="{FF2B5EF4-FFF2-40B4-BE49-F238E27FC236}">
                  <a16:creationId xmlns:a16="http://schemas.microsoft.com/office/drawing/2014/main" id="{B841E673-9349-4384-9115-0104B3FDF1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71736" y="2714620"/>
              <a:ext cx="785818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j</a:t>
              </a:r>
              <a:r>
                <a:rPr lang="en-US" altLang="en-US" sz="20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=i+1</a:t>
              </a:r>
            </a:p>
          </p:txBody>
        </p:sp>
        <p:sp>
          <p:nvSpPr>
            <p:cNvPr id="14350" name="Text Box 4">
              <a:extLst>
                <a:ext uri="{FF2B5EF4-FFF2-40B4-BE49-F238E27FC236}">
                  <a16:creationId xmlns:a16="http://schemas.microsoft.com/office/drawing/2014/main" id="{55D815CC-20BA-4A28-B144-CAB9D8CCB0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72000" y="2357430"/>
              <a:ext cx="2500330" cy="8309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[ (n-1) - (i+1)+1 ]</a:t>
              </a:r>
              <a:endParaRPr lang="el-GR" altLang="en-US" sz="2400" b="1" i="1" baseline="30000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  <a:p>
              <a:pPr>
                <a:spcBef>
                  <a:spcPct val="0"/>
                </a:spcBef>
                <a:buFontTx/>
                <a:buNone/>
              </a:pPr>
              <a:endPara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351" name="Text Box 3">
              <a:extLst>
                <a:ext uri="{FF2B5EF4-FFF2-40B4-BE49-F238E27FC236}">
                  <a16:creationId xmlns:a16="http://schemas.microsoft.com/office/drawing/2014/main" id="{997C7457-2994-4B4E-8CD8-F5765D873D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0496" y="2285992"/>
              <a:ext cx="514350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l-GR" altLang="en-US" sz="3600" b="1">
                  <a:solidFill>
                    <a:schemeClr val="hlin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</a:t>
              </a:r>
              <a:endParaRPr lang="el-GR" altLang="en-US" sz="3600" b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52" name="Text Box 5">
              <a:extLst>
                <a:ext uri="{FF2B5EF4-FFF2-40B4-BE49-F238E27FC236}">
                  <a16:creationId xmlns:a16="http://schemas.microsoft.com/office/drawing/2014/main" id="{5CFB3A3E-6FC8-4986-BF81-2D2F6C6790C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0496" y="2743192"/>
              <a:ext cx="609600" cy="409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en-US" sz="20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=0</a:t>
              </a:r>
            </a:p>
          </p:txBody>
        </p:sp>
        <p:sp>
          <p:nvSpPr>
            <p:cNvPr id="14353" name="Text Box 4">
              <a:extLst>
                <a:ext uri="{FF2B5EF4-FFF2-40B4-BE49-F238E27FC236}">
                  <a16:creationId xmlns:a16="http://schemas.microsoft.com/office/drawing/2014/main" id="{CB3B4A2E-3C5A-4306-AF17-E0637273C8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00430" y="4071942"/>
              <a:ext cx="3429024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= [ n (n-1) ] / 2   </a:t>
              </a:r>
              <a:r>
                <a:rPr lang="en-US" altLang="en-US" sz="2400" b="1">
                  <a:solidFill>
                    <a:schemeClr val="hlink"/>
                  </a:solidFill>
                  <a:latin typeface="Times New Roman" panose="02020603050405020304" pitchFamily="18" charset="0"/>
                  <a:sym typeface="Symbol" panose="05050102010706020507" pitchFamily="18" charset="2"/>
                </a:rPr>
                <a:t></a:t>
              </a:r>
              <a:r>
                <a:rPr lang="en-US" altLang="en-US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</a:t>
              </a:r>
              <a:r>
                <a:rPr lang="el-GR" altLang="en-US" sz="2400" b="1">
                  <a:solidFill>
                    <a:schemeClr val="hlin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</a:t>
              </a:r>
              <a:r>
                <a:rPr lang="en-US" altLang="en-US" sz="2400" b="1">
                  <a:solidFill>
                    <a:schemeClr val="hlin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(</a:t>
              </a:r>
              <a:r>
                <a:rPr lang="en-US" altLang="en-US" sz="2400" b="1" i="1">
                  <a:solidFill>
                    <a:schemeClr val="hlin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n</a:t>
              </a:r>
              <a:r>
                <a:rPr lang="en-US" altLang="en-US" sz="2400" b="1" i="1" baseline="30000">
                  <a:solidFill>
                    <a:schemeClr val="hlin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r>
                <a:rPr lang="en-US" altLang="en-US" sz="2400" b="1">
                  <a:solidFill>
                    <a:schemeClr val="hlin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)</a:t>
              </a:r>
              <a:endParaRPr lang="en-US" altLang="en-US" sz="2400" b="1">
                <a:solidFill>
                  <a:schemeClr val="hlink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354" name="Text Box 3">
              <a:extLst>
                <a:ext uri="{FF2B5EF4-FFF2-40B4-BE49-F238E27FC236}">
                  <a16:creationId xmlns:a16="http://schemas.microsoft.com/office/drawing/2014/main" id="{75E6F42C-9724-45E6-AD20-D6D27FD8A4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0496" y="3286124"/>
              <a:ext cx="514350" cy="6413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l-GR" altLang="en-US" sz="3600" b="1">
                  <a:solidFill>
                    <a:schemeClr val="hlink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  <a:sym typeface="Symbol" panose="05050102010706020507" pitchFamily="18" charset="2"/>
                </a:rPr>
                <a:t></a:t>
              </a:r>
              <a:endParaRPr lang="el-GR" altLang="en-US" sz="3600" b="1">
                <a:solidFill>
                  <a:schemeClr val="hlink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355" name="Text Box 5">
              <a:extLst>
                <a:ext uri="{FF2B5EF4-FFF2-40B4-BE49-F238E27FC236}">
                  <a16:creationId xmlns:a16="http://schemas.microsoft.com/office/drawing/2014/main" id="{0C0F7A50-614B-4460-A104-B2A6E9F3C9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0496" y="3743324"/>
              <a:ext cx="609600" cy="409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i</a:t>
              </a:r>
              <a:r>
                <a:rPr lang="en-US" altLang="en-US" sz="20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=0</a:t>
              </a:r>
            </a:p>
          </p:txBody>
        </p:sp>
        <p:sp>
          <p:nvSpPr>
            <p:cNvPr id="14356" name="Text Box 6">
              <a:extLst>
                <a:ext uri="{FF2B5EF4-FFF2-40B4-BE49-F238E27FC236}">
                  <a16:creationId xmlns:a16="http://schemas.microsoft.com/office/drawing/2014/main" id="{FFF4E843-6B5A-45EC-A577-DF056C5D4E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24296" y="3057524"/>
              <a:ext cx="762000" cy="4095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b="1" i="1">
                  <a:solidFill>
                    <a:schemeClr val="hlink"/>
                  </a:solidFill>
                  <a:latin typeface="Times New Roman" panose="02020603050405020304" pitchFamily="18" charset="0"/>
                </a:rPr>
                <a:t>n</a:t>
              </a:r>
              <a:r>
                <a:rPr lang="en-US" altLang="en-US" sz="20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-2</a:t>
              </a:r>
            </a:p>
          </p:txBody>
        </p:sp>
        <p:sp>
          <p:nvSpPr>
            <p:cNvPr id="14357" name="Text Box 4">
              <a:extLst>
                <a:ext uri="{FF2B5EF4-FFF2-40B4-BE49-F238E27FC236}">
                  <a16:creationId xmlns:a16="http://schemas.microsoft.com/office/drawing/2014/main" id="{EAA5B1DF-9E87-4B53-9E7E-3046E37626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28992" y="3357562"/>
              <a:ext cx="500066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>
                <a:spcBef>
                  <a:spcPct val="0"/>
                </a:spcBef>
                <a:buFontTx/>
                <a:buNone/>
              </a:pPr>
              <a:r>
                <a:rPr lang="en-US" altLang="en-US" sz="2400" b="1">
                  <a:solidFill>
                    <a:schemeClr val="hlink"/>
                  </a:solidFill>
                  <a:latin typeface="Times New Roman" panose="02020603050405020304" pitchFamily="18" charset="0"/>
                </a:rPr>
                <a:t> = 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AF9076CE-EFCD-43FC-97B8-4ABBA835D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Distribution Count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81A63D-D455-45A4-A2F4-8ECA2805F1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Sorting by Counting works productively with situation in which elements to be sorted belong to a known small set of values.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Compute </a:t>
            </a:r>
            <a:r>
              <a:rPr lang="en-US" b="1" dirty="0"/>
              <a:t>frequency, F, </a:t>
            </a:r>
            <a:r>
              <a:rPr lang="en-US" dirty="0"/>
              <a:t>the first F[0] positions are filled with e</a:t>
            </a:r>
            <a:r>
              <a:rPr lang="en-US" baseline="-25000" dirty="0"/>
              <a:t>1</a:t>
            </a:r>
            <a:r>
              <a:rPr lang="en-US" dirty="0"/>
              <a:t>, the next F[1] positions are filled with e</a:t>
            </a:r>
            <a:r>
              <a:rPr lang="en-US" baseline="-25000" dirty="0"/>
              <a:t>2</a:t>
            </a:r>
            <a:r>
              <a:rPr lang="en-US" dirty="0"/>
              <a:t> and so on.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/>
              <a:t>Positions 0               to  F[0] – 1          filled with e</a:t>
            </a:r>
            <a:r>
              <a:rPr lang="en-US" baseline="-25000" dirty="0"/>
              <a:t>1</a:t>
            </a:r>
            <a:r>
              <a:rPr lang="en-US" dirty="0"/>
              <a:t> 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/>
              <a:t>Positions F[0]          to F[0]+F[1] – 1  filled with e</a:t>
            </a:r>
            <a:r>
              <a:rPr lang="en-US" baseline="-25000" dirty="0"/>
              <a:t>2</a:t>
            </a:r>
            <a:r>
              <a:rPr lang="en-US" dirty="0"/>
              <a:t> </a:t>
            </a:r>
          </a:p>
          <a:p>
            <a:pPr lvl="1" eaLnBrk="1" fontAlgn="auto" hangingPunct="1">
              <a:spcAft>
                <a:spcPts val="0"/>
              </a:spcAft>
              <a:defRPr/>
            </a:pPr>
            <a:r>
              <a:rPr lang="en-US" dirty="0"/>
              <a:t>Positions F[0]+F[1] to F[0]+F[1] + F[2] – 1    for e</a:t>
            </a:r>
            <a:r>
              <a:rPr lang="en-US" baseline="-25000" dirty="0"/>
              <a:t>3</a:t>
            </a:r>
            <a:r>
              <a:rPr lang="en-US" dirty="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>
            <a:extLst>
              <a:ext uri="{FF2B5EF4-FFF2-40B4-BE49-F238E27FC236}">
                <a16:creationId xmlns:a16="http://schemas.microsoft.com/office/drawing/2014/main" id="{60937573-EB33-4FDA-9079-61D8ED4C0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Distribution Count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4F1DB97-F90A-467F-8667-5334B7EAB8C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714500" y="1357313"/>
          <a:ext cx="5400678" cy="371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marT="45798" marB="45798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11</a:t>
                      </a:r>
                    </a:p>
                  </a:txBody>
                  <a:tcPr marT="45798" marB="45798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T="45798" marB="45798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marT="45798" marB="45798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T="45798" marB="45798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T="45798" marB="45798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716FC27-BB6F-4D7A-B843-BFDBF7110321}"/>
              </a:ext>
            </a:extLst>
          </p:cNvPr>
          <p:cNvGraphicFramePr>
            <a:graphicFrameLocks noGrp="1"/>
          </p:cNvGraphicFramePr>
          <p:nvPr/>
        </p:nvGraphicFramePr>
        <p:xfrm>
          <a:off x="1857375" y="2071688"/>
          <a:ext cx="5072064" cy="1381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0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8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1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71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Array Values</a:t>
                      </a:r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11</a:t>
                      </a:r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12</a:t>
                      </a:r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13</a:t>
                      </a:r>
                    </a:p>
                  </a:txBody>
                  <a:tcPr marL="91439" marR="91439" marT="45733" marB="45733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Frequencies</a:t>
                      </a:r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</a:t>
                      </a:r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</a:t>
                      </a:r>
                    </a:p>
                  </a:txBody>
                  <a:tcPr marL="91439" marR="91439" marT="45733" marB="45733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46">
                <a:tc>
                  <a:txBody>
                    <a:bodyPr/>
                    <a:lstStyle/>
                    <a:p>
                      <a:r>
                        <a:rPr lang="en-US" sz="1800" dirty="0"/>
                        <a:t>Distribution</a:t>
                      </a:r>
                      <a:r>
                        <a:rPr lang="en-US" sz="1800" baseline="0" dirty="0"/>
                        <a:t> Values</a:t>
                      </a:r>
                      <a:endParaRPr lang="en-US" sz="1800" dirty="0"/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</a:t>
                      </a:r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</a:t>
                      </a:r>
                    </a:p>
                  </a:txBody>
                  <a:tcPr marL="91439" marR="91439" marT="45733" marB="45733"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6</a:t>
                      </a:r>
                    </a:p>
                  </a:txBody>
                  <a:tcPr marL="91439" marR="91439" marT="45733" marB="45733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16425" name="Picture 2" descr="fig07_02">
            <a:extLst>
              <a:ext uri="{FF2B5EF4-FFF2-40B4-BE49-F238E27FC236}">
                <a16:creationId xmlns:a16="http://schemas.microsoft.com/office/drawing/2014/main" id="{94BE57B6-13C6-44BC-99A8-264E33BB101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3571875"/>
            <a:ext cx="8397875" cy="2593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4F5A1375-681A-43A4-8791-097050D0C573}"/>
              </a:ext>
            </a:extLst>
          </p:cNvPr>
          <p:cNvGraphicFramePr>
            <a:graphicFrameLocks/>
          </p:cNvGraphicFramePr>
          <p:nvPr/>
        </p:nvGraphicFramePr>
        <p:xfrm>
          <a:off x="1403350" y="749300"/>
          <a:ext cx="5400678" cy="371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15</a:t>
                      </a:r>
                    </a:p>
                  </a:txBody>
                  <a:tcPr marT="45798" marB="45798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T="45798" marB="45798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14</a:t>
                      </a:r>
                    </a:p>
                  </a:txBody>
                  <a:tcPr marT="45798" marB="45798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13</a:t>
                      </a:r>
                    </a:p>
                  </a:txBody>
                  <a:tcPr marT="45798" marB="45798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T="45798" marB="45798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T="45798" marB="45798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4F218B51-CE37-42EF-8E64-44F0C6813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CD28B5A6-1D68-4C66-BFDC-C755CB8840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D1B40788-7AD3-41BF-9DE5-04128D9524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98D82C33-0325-441D-BF61-9C9B0154C5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BA18FC86-89D8-491E-B096-E93E3D7F3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3F613927-2AD2-4059-B772-6D0C043555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EE30389E-3288-4B82-84C7-20F5442722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CB6ACD5E-8E0B-4701-BB55-C413141EF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1F7E6E1C-4829-4D50-A397-48F55D92B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2C635BED-1157-403F-8812-6D6D210E61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54BF0B-16D8-474D-AB4E-E3F35B93D1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dirty="0" err="1"/>
              <a:t>DistributionCounting</a:t>
            </a:r>
            <a:r>
              <a:rPr lang="en-US" sz="2400" dirty="0"/>
              <a:t>(A[0</a:t>
            </a:r>
            <a:r>
              <a:rPr lang="en-US" sz="2400"/>
              <a:t>…n-1], </a:t>
            </a:r>
            <a:r>
              <a:rPr lang="en-US" sz="2400" dirty="0"/>
              <a:t>L , U)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dirty="0"/>
              <a:t>for j </a:t>
            </a:r>
            <a:r>
              <a:rPr lang="en-US" sz="2400" dirty="0">
                <a:sym typeface="Symbol"/>
              </a:rPr>
              <a:t> 0 to U – L do D[j]  0			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dirty="0">
                <a:sym typeface="Symbol"/>
              </a:rPr>
              <a:t>// Compute frequencies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dirty="0">
                <a:sym typeface="Symbol"/>
              </a:rPr>
              <a:t>for </a:t>
            </a:r>
            <a:r>
              <a:rPr lang="en-US" sz="2400" dirty="0" err="1">
                <a:sym typeface="Symbol"/>
              </a:rPr>
              <a:t>i</a:t>
            </a:r>
            <a:r>
              <a:rPr lang="en-US" sz="2400" dirty="0">
                <a:sym typeface="Symbol"/>
              </a:rPr>
              <a:t>  0 to n-1    do D[A[</a:t>
            </a:r>
            <a:r>
              <a:rPr lang="en-US" sz="2400" dirty="0" err="1">
                <a:sym typeface="Symbol"/>
              </a:rPr>
              <a:t>i</a:t>
            </a:r>
            <a:r>
              <a:rPr lang="en-US" sz="2400" dirty="0">
                <a:sym typeface="Symbol"/>
              </a:rPr>
              <a:t>] – L])  D[A[</a:t>
            </a:r>
            <a:r>
              <a:rPr lang="en-US" sz="2400" dirty="0" err="1">
                <a:sym typeface="Symbol"/>
              </a:rPr>
              <a:t>i</a:t>
            </a:r>
            <a:r>
              <a:rPr lang="en-US" sz="2400" dirty="0">
                <a:sym typeface="Symbol"/>
              </a:rPr>
              <a:t>] – L] + 1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dirty="0">
                <a:sym typeface="Symbol"/>
              </a:rPr>
              <a:t>// Use frequencies to compute distribution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dirty="0">
                <a:sym typeface="Symbol"/>
              </a:rPr>
              <a:t>for j  1 to U – L do D[j]  D[j-1] + D[j]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dirty="0">
                <a:sym typeface="Symbol"/>
              </a:rPr>
              <a:t>for </a:t>
            </a:r>
            <a:r>
              <a:rPr lang="en-US" sz="2400" dirty="0" err="1">
                <a:sym typeface="Symbol"/>
              </a:rPr>
              <a:t>i</a:t>
            </a:r>
            <a:r>
              <a:rPr lang="en-US" sz="2400" dirty="0">
                <a:sym typeface="Symbol"/>
              </a:rPr>
              <a:t>  n-1 </a:t>
            </a:r>
            <a:r>
              <a:rPr lang="en-US" sz="2400" dirty="0" err="1">
                <a:sym typeface="Symbol"/>
              </a:rPr>
              <a:t>downto</a:t>
            </a:r>
            <a:r>
              <a:rPr lang="en-US" sz="2400" dirty="0">
                <a:sym typeface="Symbol"/>
              </a:rPr>
              <a:t> 0 do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dirty="0">
                <a:sym typeface="Symbol"/>
              </a:rPr>
              <a:t> 		j  A[</a:t>
            </a:r>
            <a:r>
              <a:rPr lang="en-US" sz="2400" dirty="0" err="1">
                <a:sym typeface="Symbol"/>
              </a:rPr>
              <a:t>i</a:t>
            </a:r>
            <a:r>
              <a:rPr lang="en-US" sz="2400" dirty="0">
                <a:sym typeface="Symbol"/>
              </a:rPr>
              <a:t>] – L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dirty="0">
                <a:sym typeface="Symbol"/>
              </a:rPr>
              <a:t>		S[D[j] – 1]  A[</a:t>
            </a:r>
            <a:r>
              <a:rPr lang="en-US" sz="2400" dirty="0" err="1">
                <a:sym typeface="Symbol"/>
              </a:rPr>
              <a:t>i</a:t>
            </a:r>
            <a:r>
              <a:rPr lang="en-US" sz="2400" dirty="0">
                <a:sym typeface="Symbol"/>
              </a:rPr>
              <a:t>]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dirty="0">
                <a:sym typeface="Symbol"/>
              </a:rPr>
              <a:t>		D[j]  D[j] – 1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None/>
              <a:defRPr/>
            </a:pPr>
            <a:r>
              <a:rPr lang="en-US" sz="2400" dirty="0">
                <a:sym typeface="Symbol"/>
              </a:rPr>
              <a:t>return S</a:t>
            </a:r>
            <a:endParaRPr lang="en-US" sz="2400" dirty="0"/>
          </a:p>
        </p:txBody>
      </p:sp>
      <p:sp>
        <p:nvSpPr>
          <p:cNvPr id="23555" name="Title 1">
            <a:extLst>
              <a:ext uri="{FF2B5EF4-FFF2-40B4-BE49-F238E27FC236}">
                <a16:creationId xmlns:a16="http://schemas.microsoft.com/office/drawing/2014/main" id="{9E82E35D-F816-4EE4-9A67-7B21F3CFD0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Distribution Count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53C8CF37-377F-4890-B4B9-E0C9B4437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8008633F-1221-448F-A327-5B924B23E0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708275"/>
            <a:ext cx="8229600" cy="3417888"/>
          </a:xfrm>
        </p:spPr>
        <p:txBody>
          <a:bodyPr/>
          <a:lstStyle/>
          <a:p>
            <a:endParaRPr lang="en-US" altLang="en-US"/>
          </a:p>
        </p:txBody>
      </p:sp>
      <p:graphicFrame>
        <p:nvGraphicFramePr>
          <p:cNvPr id="4" name="Content Placeholder 5">
            <a:extLst>
              <a:ext uri="{FF2B5EF4-FFF2-40B4-BE49-F238E27FC236}">
                <a16:creationId xmlns:a16="http://schemas.microsoft.com/office/drawing/2014/main" id="{4F5A1375-681A-43A4-8791-097050D0C5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55729989"/>
              </p:ext>
            </p:extLst>
          </p:nvPr>
        </p:nvGraphicFramePr>
        <p:xfrm>
          <a:off x="1547813" y="1927225"/>
          <a:ext cx="5400678" cy="371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01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1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239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7629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1475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1513</a:t>
                      </a:r>
                    </a:p>
                  </a:txBody>
                  <a:tcPr marT="45798" marB="45798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T="45798" marB="45798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T="45798" marB="45798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1513</a:t>
                      </a:r>
                    </a:p>
                  </a:txBody>
                  <a:tcPr marT="45798" marB="45798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119749</a:t>
                      </a:r>
                    </a:p>
                  </a:txBody>
                  <a:tcPr marT="45798" marB="45798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12</a:t>
                      </a:r>
                    </a:p>
                  </a:txBody>
                  <a:tcPr marT="45798" marB="45798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554" name="Rectangle 2">
            <a:extLst>
              <a:ext uri="{FF2B5EF4-FFF2-40B4-BE49-F238E27FC236}">
                <a16:creationId xmlns:a16="http://schemas.microsoft.com/office/drawing/2014/main" id="{422A0F4B-9280-4C19-8D89-41835087D3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Review: String searching by brute force</a:t>
            </a:r>
          </a:p>
        </p:txBody>
      </p:sp>
      <p:sp>
        <p:nvSpPr>
          <p:cNvPr id="407555" name="Rectangle 3">
            <a:extLst>
              <a:ext uri="{FF2B5EF4-FFF2-40B4-BE49-F238E27FC236}">
                <a16:creationId xmlns:a16="http://schemas.microsoft.com/office/drawing/2014/main" id="{4F317798-8F77-42AC-8DE7-2829D28D9AD4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09600" y="1266825"/>
            <a:ext cx="8534400" cy="4905375"/>
          </a:xfrm>
        </p:spPr>
        <p:txBody>
          <a:bodyPr rtlCol="0">
            <a:normAutofit fontScale="92500" lnSpcReduction="20000"/>
          </a:bodyPr>
          <a:lstStyle/>
          <a:p>
            <a:pPr marL="971550" indent="-971550"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i="1"/>
              <a:t>pattern</a:t>
            </a:r>
            <a:r>
              <a:rPr lang="en-US"/>
              <a:t>: a string of </a:t>
            </a:r>
            <a:r>
              <a:rPr lang="en-US" i="1"/>
              <a:t>m</a:t>
            </a:r>
            <a:r>
              <a:rPr lang="en-US"/>
              <a:t> characters to search for</a:t>
            </a:r>
          </a:p>
          <a:p>
            <a:pPr marL="971550" indent="-971550"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i="1"/>
              <a:t>text</a:t>
            </a:r>
            <a:r>
              <a:rPr lang="en-US"/>
              <a:t>: a (long) string of </a:t>
            </a:r>
            <a:r>
              <a:rPr lang="en-US" i="1"/>
              <a:t>n</a:t>
            </a:r>
            <a:r>
              <a:rPr lang="en-US"/>
              <a:t> characters to search in</a:t>
            </a:r>
          </a:p>
          <a:p>
            <a:pPr marL="971550" indent="-971550" eaLnBrk="1" fontAlgn="auto" hangingPunct="1">
              <a:spcAft>
                <a:spcPts val="0"/>
              </a:spcAft>
              <a:defRPr/>
            </a:pPr>
            <a:endParaRPr lang="en-US"/>
          </a:p>
          <a:p>
            <a:pPr marL="971550" indent="-971550"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i="1" u="sng"/>
              <a:t>Brute force algorithm</a:t>
            </a:r>
            <a:endParaRPr lang="en-US"/>
          </a:p>
          <a:p>
            <a:pPr marL="971550" indent="-971550"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/>
              <a:t>Step 1	Align pattern at beginning of text</a:t>
            </a:r>
          </a:p>
          <a:p>
            <a:pPr marL="971550" indent="-971550"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/>
              <a:t>Step 2	Moving from left to right, compare each character of</a:t>
            </a:r>
            <a:br>
              <a:rPr lang="en-US"/>
            </a:br>
            <a:r>
              <a:rPr lang="en-US"/>
              <a:t>pattern to the corresponding character in text until   either all characters are found to match (successful search) or a mismatch is detected</a:t>
            </a:r>
          </a:p>
          <a:p>
            <a:pPr marL="971550" indent="-971550"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/>
              <a:t>Step 3  While a mismatch is detected and the text is not yet exhausted, realign pattern one position to the right and repeat Step 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81E1BDBE-8919-4B91-9CA3-CB2CDCD24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75EDB0E6-50EB-4B6C-9CC0-A95C78DB1E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4438C7F5-8C85-4871-B663-BD4A67903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6F165B0F-7863-4B71-8A91-9F5801221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FDDF9B94-74B7-4E99-832A-3F2802B35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String searching by preprocessing</a:t>
            </a:r>
          </a:p>
        </p:txBody>
      </p:sp>
      <p:sp>
        <p:nvSpPr>
          <p:cNvPr id="408579" name="Rectangle 3">
            <a:extLst>
              <a:ext uri="{FF2B5EF4-FFF2-40B4-BE49-F238E27FC236}">
                <a16:creationId xmlns:a16="http://schemas.microsoft.com/office/drawing/2014/main" id="{7C3F16CA-D861-47FD-9C6C-5E2FACB2EA0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 rtlCol="0">
            <a:normAutofit fontScale="92500" lnSpcReduction="20000"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dirty="0"/>
              <a:t>Several string searching algorithms are based on the input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dirty="0"/>
              <a:t>enhancement idea of  preprocessing the pattern 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US" dirty="0"/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dirty="0"/>
              <a:t>Knuth-Morris-Pratt (KMP)  algorithm preprocesses   pattern left to right to get useful information for later searching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US" dirty="0"/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dirty="0"/>
              <a:t>Boyer -Moore algorithm preprocesses pattern right to left and store information into two tables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endParaRPr lang="en-US" dirty="0"/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dirty="0"/>
              <a:t>Horspool’s algorithm simplifies the Boyer-Moore algorithm by using just one table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15C6BC63-D05A-4462-90CA-1548EEEF8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8D4A7F75-74EF-4829-B87A-237536462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BE179AF7-4D5C-4436-9E4B-B2ADBE4B9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9F92131D-0FEF-42F3-AE60-B96939B078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itle 1">
            <a:extLst>
              <a:ext uri="{FF2B5EF4-FFF2-40B4-BE49-F238E27FC236}">
                <a16:creationId xmlns:a16="http://schemas.microsoft.com/office/drawing/2014/main" id="{B9DD9008-34D3-41EF-84E2-002D9FDAA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3795" name="Content Placeholder 2">
            <a:extLst>
              <a:ext uri="{FF2B5EF4-FFF2-40B4-BE49-F238E27FC236}">
                <a16:creationId xmlns:a16="http://schemas.microsoft.com/office/drawing/2014/main" id="{6D24BDDD-25C1-4D57-B24F-6B7375F47F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62363497-A84D-499F-81CF-2A6F92EB7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Horspool’s Algorithm</a:t>
            </a:r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764A32C4-B3C5-4010-AAD7-5C2388FA5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 typeface="Monotype Sorts" pitchFamily="2" charset="2"/>
              <a:buNone/>
            </a:pPr>
            <a:r>
              <a:rPr lang="en-US" altLang="en-US"/>
              <a:t>A simplified version of Boyer-Moore algorithm: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 sz="2400"/>
              <a:t>preprocesses pattern to generate a shift table that determines how much to shift the pattern when a mismatch occurs </a:t>
            </a:r>
          </a:p>
          <a:p>
            <a:pPr lvl="1" eaLnBrk="1" hangingPunct="1"/>
            <a:endParaRPr lang="en-US" altLang="en-US" sz="2400"/>
          </a:p>
          <a:p>
            <a:pPr lvl="1" eaLnBrk="1" hangingPunct="1"/>
            <a:r>
              <a:rPr lang="en-US" altLang="en-US" sz="2400"/>
              <a:t>always makes a shift based on the text’s character </a:t>
            </a:r>
            <a:r>
              <a:rPr lang="en-US" altLang="en-US" sz="2400" i="1"/>
              <a:t>c </a:t>
            </a:r>
            <a:r>
              <a:rPr lang="en-US" altLang="en-US" sz="2400"/>
              <a:t>aligned with the </a:t>
            </a:r>
            <a:r>
              <a:rPr lang="en-US" altLang="en-US" sz="2400" u="sng"/>
              <a:t>last</a:t>
            </a:r>
            <a:r>
              <a:rPr lang="en-US" altLang="en-US" sz="2400"/>
              <a:t> character in the pattern according to the shift table’s entry for </a:t>
            </a:r>
            <a:r>
              <a:rPr lang="en-US" altLang="en-US" sz="2400" i="1"/>
              <a:t>c</a:t>
            </a:r>
            <a:endParaRPr lang="en-US" altLang="en-US" sz="2400"/>
          </a:p>
          <a:p>
            <a:pPr marL="0" indent="0" eaLnBrk="1" hangingPunct="1"/>
            <a:endParaRPr lang="en-US" altLang="en-US"/>
          </a:p>
          <a:p>
            <a:pPr marL="0" indent="0" eaLnBrk="1" hangingPunct="1"/>
            <a:endParaRPr lang="en-US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7821CC69-ADB1-41CE-9624-2B018FC14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How far to shift?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D55C6068-FED2-4E41-A293-9EF099688C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19200"/>
            <a:ext cx="8534400" cy="5410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/>
              <a:t>Look at first (rightmost) character in text that was compared: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The character is not in the pattern: </a:t>
            </a:r>
            <a:r>
              <a:rPr lang="en-US" altLang="en-US" b="1"/>
              <a:t>Shift all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>
                <a:latin typeface="Courier New" panose="02070309020205020404" pitchFamily="49" charset="0"/>
              </a:rPr>
              <a:t>    </a:t>
            </a:r>
            <a:r>
              <a:rPr lang="en-US" altLang="en-US" sz="2000">
                <a:latin typeface="Courier New" panose="02070309020205020404" pitchFamily="49" charset="0"/>
              </a:rPr>
              <a:t>.....C...................... </a:t>
            </a:r>
            <a:r>
              <a:rPr lang="en-US" altLang="en-US" sz="2000"/>
              <a:t>(</a:t>
            </a:r>
            <a:r>
              <a:rPr lang="en-US" altLang="en-US" sz="2000">
                <a:latin typeface="Courier New" panose="02070309020205020404" pitchFamily="49" charset="0"/>
              </a:rPr>
              <a:t>C</a:t>
            </a:r>
            <a:r>
              <a:rPr lang="en-US" altLang="en-US" sz="2000"/>
              <a:t> not in pattern)</a:t>
            </a:r>
            <a:endParaRPr lang="en-US" altLang="en-US" sz="200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     BAOBAB</a:t>
            </a:r>
            <a:br>
              <a:rPr lang="en-US" altLang="en-US">
                <a:latin typeface="Courier New" panose="02070309020205020404" pitchFamily="49" charset="0"/>
              </a:rPr>
            </a:b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/>
              <a:t>The character is in the pattern (but not the rightmost): </a:t>
            </a:r>
            <a:r>
              <a:rPr lang="en-US" altLang="en-US" b="1"/>
              <a:t>Shift to the rightmost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  .....O...................... </a:t>
            </a:r>
            <a:r>
              <a:rPr lang="en-US" altLang="en-US" sz="2000"/>
              <a:t>(</a:t>
            </a:r>
            <a:r>
              <a:rPr lang="en-US" altLang="en-US" sz="2000">
                <a:latin typeface="Courier New" panose="02070309020205020404" pitchFamily="49" charset="0"/>
              </a:rPr>
              <a:t>O</a:t>
            </a:r>
            <a:r>
              <a:rPr lang="en-US" altLang="en-US" sz="2000"/>
              <a:t> occurs once in pattern)</a:t>
            </a:r>
            <a:br>
              <a:rPr lang="en-US" altLang="en-US" sz="2000"/>
            </a:br>
            <a:r>
              <a:rPr lang="en-US" altLang="en-US" sz="2000">
                <a:latin typeface="Courier New" panose="02070309020205020404" pitchFamily="49" charset="0"/>
              </a:rPr>
              <a:t>  BAOBAB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  .....A...................... </a:t>
            </a:r>
            <a:r>
              <a:rPr lang="en-US" altLang="en-US" sz="2000"/>
              <a:t>(</a:t>
            </a:r>
            <a:r>
              <a:rPr lang="en-US" altLang="en-US" sz="2000">
                <a:latin typeface="Courier New" panose="02070309020205020404" pitchFamily="49" charset="0"/>
              </a:rPr>
              <a:t>A</a:t>
            </a:r>
            <a:r>
              <a:rPr lang="en-US" altLang="en-US" sz="2000"/>
              <a:t> occurs twice in pattern)</a:t>
            </a:r>
            <a:endParaRPr lang="en-US" altLang="en-US" sz="2000">
              <a:latin typeface="Courier New" panose="02070309020205020404" pitchFamily="49" charset="0"/>
            </a:endParaRP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000">
                <a:latin typeface="Courier New" panose="02070309020205020404" pitchFamily="49" charset="0"/>
              </a:rPr>
              <a:t>    BAOBAB</a:t>
            </a:r>
            <a:br>
              <a:rPr lang="en-US" altLang="en-US" sz="2000">
                <a:latin typeface="Courier New" panose="02070309020205020404" pitchFamily="49" charset="0"/>
              </a:rPr>
            </a:br>
            <a:endParaRPr lang="en-US" altLang="en-US" sz="20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B49E17-87B2-4C30-B5F5-281C3BAA11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rtlCol="0">
            <a:normAutofit/>
          </a:bodyPr>
          <a:lstStyle/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dirty="0"/>
              <a:t>The rightmost character matches but no other matching in the pattern: Shift All</a:t>
            </a:r>
            <a:r>
              <a:rPr lang="en-US" dirty="0">
                <a:latin typeface="Courier New" pitchFamily="49" charset="0"/>
              </a:rPr>
              <a:t>         </a:t>
            </a:r>
          </a:p>
          <a:p>
            <a:pPr marL="0" indent="1588" eaLnBrk="1" fontAlgn="auto" hangingPunct="1">
              <a:lnSpc>
                <a:spcPct val="90000"/>
              </a:lnSpc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dirty="0">
                <a:latin typeface="Courier New" pitchFamily="49" charset="0"/>
              </a:rPr>
              <a:t>   ....EAB......................                    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dirty="0">
                <a:latin typeface="Courier New" pitchFamily="49" charset="0"/>
              </a:rPr>
              <a:t>    TAGTAB</a:t>
            </a:r>
            <a:endParaRPr lang="en-US" i="1" dirty="0"/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defRPr/>
            </a:pPr>
            <a:r>
              <a:rPr lang="en-US" dirty="0"/>
              <a:t>The rightmost character matches and rightmost char occurs more than once: </a:t>
            </a:r>
            <a:r>
              <a:rPr lang="en-US" b="1" dirty="0"/>
              <a:t>Shift to the rightmost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dirty="0">
                <a:latin typeface="Courier New" pitchFamily="49" charset="0"/>
              </a:rPr>
              <a:t>    .....B......................                    </a:t>
            </a:r>
          </a:p>
          <a:p>
            <a:pPr eaLnBrk="1" fontAlgn="auto" hangingPunct="1">
              <a:lnSpc>
                <a:spcPct val="90000"/>
              </a:lnSpc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dirty="0">
                <a:latin typeface="Courier New" pitchFamily="49" charset="0"/>
              </a:rPr>
              <a:t> 		BAOBAB</a:t>
            </a:r>
            <a:endParaRPr lang="en-US" dirty="0"/>
          </a:p>
        </p:txBody>
      </p:sp>
      <p:sp>
        <p:nvSpPr>
          <p:cNvPr id="38915" name="Rectangle 2">
            <a:extLst>
              <a:ext uri="{FF2B5EF4-FFF2-40B4-BE49-F238E27FC236}">
                <a16:creationId xmlns:a16="http://schemas.microsoft.com/office/drawing/2014/main" id="{90A97760-A7DD-4F64-AF6C-9FDD28D68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How far to shift?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4B150746-EE78-4A39-89C3-35EA409AC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Shift table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720C6380-6EB0-4724-B6BC-3890F174C2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610600" cy="3962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/>
              <a:t>Shift sizes can be pre-computed by the formula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sz="2000"/>
              <a:t>     </a:t>
            </a:r>
            <a:r>
              <a:rPr lang="en-US" altLang="en-US"/>
              <a:t>distance from </a:t>
            </a:r>
            <a:r>
              <a:rPr lang="en-US" altLang="en-US" i="1"/>
              <a:t>c</a:t>
            </a:r>
            <a:r>
              <a:rPr lang="en-US" altLang="en-US"/>
              <a:t>’s rightmost occurrence in pattern among its first </a:t>
            </a:r>
            <a:r>
              <a:rPr lang="en-US" altLang="en-US" i="1"/>
              <a:t>m-</a:t>
            </a:r>
            <a:r>
              <a:rPr lang="en-US" altLang="en-US"/>
              <a:t>1 characters to its right end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 i="1"/>
              <a:t>     t</a:t>
            </a:r>
            <a:r>
              <a:rPr lang="en-US" altLang="en-US"/>
              <a:t>(</a:t>
            </a:r>
            <a:r>
              <a:rPr lang="en-US" altLang="en-US" i="1"/>
              <a:t>c</a:t>
            </a:r>
            <a:r>
              <a:rPr lang="en-US" altLang="en-US"/>
              <a:t>) =   pattern’s length </a:t>
            </a:r>
            <a:r>
              <a:rPr lang="en-US" altLang="en-US" i="1"/>
              <a:t>m</a:t>
            </a:r>
            <a:r>
              <a:rPr lang="en-US" altLang="en-US"/>
              <a:t>, otherwise</a:t>
            </a:r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r>
              <a:rPr lang="en-US" altLang="en-US"/>
              <a:t>     by scanning pattern before search begins and stored in a table called </a:t>
            </a:r>
            <a:r>
              <a:rPr lang="en-US" altLang="en-US" i="1"/>
              <a:t>shift table</a:t>
            </a:r>
            <a:endParaRPr lang="en-US" altLang="en-US"/>
          </a:p>
          <a:p>
            <a:pPr eaLnBrk="1" hangingPunct="1">
              <a:lnSpc>
                <a:spcPct val="90000"/>
              </a:lnSpc>
            </a:pPr>
            <a:r>
              <a:rPr lang="en-US" altLang="en-US" sz="2800"/>
              <a:t>Shift table is indexed by text and pattern alphabet </a:t>
            </a:r>
            <a:br>
              <a:rPr lang="en-US" altLang="en-US" sz="2800"/>
            </a:br>
            <a:r>
              <a:rPr lang="en-US" altLang="en-US"/>
              <a:t>Eg, for </a:t>
            </a:r>
            <a:r>
              <a:rPr lang="en-US" altLang="en-US">
                <a:latin typeface="Courier New" panose="02070309020205020404" pitchFamily="49" charset="0"/>
              </a:rPr>
              <a:t>BAOBAB:</a:t>
            </a:r>
            <a:endParaRPr lang="en-US" altLang="en-US" sz="2800"/>
          </a:p>
          <a:p>
            <a:pPr eaLnBrk="1" hangingPunct="1">
              <a:lnSpc>
                <a:spcPct val="90000"/>
              </a:lnSpc>
            </a:pPr>
            <a:endParaRPr lang="en-US" altLang="en-US" sz="2800"/>
          </a:p>
          <a:p>
            <a:pPr eaLnBrk="1" hangingPunct="1">
              <a:lnSpc>
                <a:spcPct val="90000"/>
              </a:lnSpc>
              <a:buFont typeface="Monotype Sorts" pitchFamily="2" charset="2"/>
              <a:buNone/>
            </a:pPr>
            <a:endParaRPr lang="en-US" altLang="en-US">
              <a:cs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</a:pPr>
            <a:endParaRPr lang="en-US" altLang="en-US"/>
          </a:p>
        </p:txBody>
      </p:sp>
      <p:sp>
        <p:nvSpPr>
          <p:cNvPr id="39940" name="Text Box 4">
            <a:extLst>
              <a:ext uri="{FF2B5EF4-FFF2-40B4-BE49-F238E27FC236}">
                <a16:creationId xmlns:a16="http://schemas.microsoft.com/office/drawing/2014/main" id="{18B37623-AB99-4A59-9B18-4F712A7256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5725" y="5448300"/>
            <a:ext cx="184150" cy="377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endParaRPr lang="th-TH" altLang="en-US" sz="1800">
              <a:latin typeface="Times New Roman" panose="02020603050405020304" pitchFamily="18" charset="0"/>
            </a:endParaRPr>
          </a:p>
        </p:txBody>
      </p:sp>
      <p:grpSp>
        <p:nvGrpSpPr>
          <p:cNvPr id="39941" name="Group 5">
            <a:extLst>
              <a:ext uri="{FF2B5EF4-FFF2-40B4-BE49-F238E27FC236}">
                <a16:creationId xmlns:a16="http://schemas.microsoft.com/office/drawing/2014/main" id="{E6AA7D20-AB9C-470C-B540-B2A8DD3F8B0F}"/>
              </a:ext>
            </a:extLst>
          </p:cNvPr>
          <p:cNvGrpSpPr>
            <a:grpSpLocks/>
          </p:cNvGrpSpPr>
          <p:nvPr/>
        </p:nvGrpSpPr>
        <p:grpSpPr bwMode="auto">
          <a:xfrm>
            <a:off x="914400" y="5140325"/>
            <a:ext cx="8001000" cy="1371600"/>
            <a:chOff x="720" y="1824"/>
            <a:chExt cx="5040" cy="672"/>
          </a:xfrm>
        </p:grpSpPr>
        <p:sp>
          <p:nvSpPr>
            <p:cNvPr id="39942" name="Rectangle 6">
              <a:extLst>
                <a:ext uri="{FF2B5EF4-FFF2-40B4-BE49-F238E27FC236}">
                  <a16:creationId xmlns:a16="http://schemas.microsoft.com/office/drawing/2014/main" id="{1BEBFBA4-E035-42CF-AAF4-3BDE39693C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1824"/>
              <a:ext cx="5040" cy="336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b="1">
                  <a:solidFill>
                    <a:schemeClr val="bg2"/>
                  </a:solidFill>
                  <a:latin typeface="Courier New" panose="02070309020205020404" pitchFamily="49" charset="0"/>
                </a:rPr>
                <a:t>A B C D E F G H I J K L M N O P Q R S T U V W X Y Z</a:t>
              </a:r>
            </a:p>
          </p:txBody>
        </p:sp>
        <p:sp>
          <p:nvSpPr>
            <p:cNvPr id="39943" name="Rectangle 7">
              <a:extLst>
                <a:ext uri="{FF2B5EF4-FFF2-40B4-BE49-F238E27FC236}">
                  <a16:creationId xmlns:a16="http://schemas.microsoft.com/office/drawing/2014/main" id="{17DA9F44-31A8-4785-A706-761AB981F0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0" y="2160"/>
              <a:ext cx="5040" cy="336"/>
            </a:xfrm>
            <a:prstGeom prst="rect">
              <a:avLst/>
            </a:prstGeom>
            <a:solidFill>
              <a:schemeClr val="accent1"/>
            </a:solidFill>
            <a:ln w="12700">
              <a:solidFill>
                <a:srgbClr val="FF0000"/>
              </a:solidFill>
              <a:miter lim="800000"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0"/>
                </a:spcBef>
                <a:buFontTx/>
                <a:buNone/>
              </a:pPr>
              <a:r>
                <a:rPr lang="en-US" altLang="en-US" sz="2000" b="1">
                  <a:solidFill>
                    <a:schemeClr val="bg2"/>
                  </a:solidFill>
                  <a:latin typeface="Courier New" panose="02070309020205020404" pitchFamily="49" charset="0"/>
                </a:rPr>
                <a:t>1 2 6 6 6 6 6 6 6 6 6 6 6 6 3 6 6 6 6 6 6 6 6 6 6 6</a:t>
              </a:r>
              <a:endParaRPr lang="en-US" altLang="en-US" sz="4000">
                <a:latin typeface="Times New Roman" panose="02020603050405020304" pitchFamily="18" charset="0"/>
              </a:endParaRPr>
            </a:p>
          </p:txBody>
        </p:sp>
        <p:sp>
          <p:nvSpPr>
            <p:cNvPr id="39944" name="Line 8">
              <a:extLst>
                <a:ext uri="{FF2B5EF4-FFF2-40B4-BE49-F238E27FC236}">
                  <a16:creationId xmlns:a16="http://schemas.microsoft.com/office/drawing/2014/main" id="{4573A5EF-7570-4B1C-A13F-FE6FD9409C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36" y="1824"/>
              <a:ext cx="0" cy="67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45" name="Line 9">
              <a:extLst>
                <a:ext uri="{FF2B5EF4-FFF2-40B4-BE49-F238E27FC236}">
                  <a16:creationId xmlns:a16="http://schemas.microsoft.com/office/drawing/2014/main" id="{68388BF4-FB94-4532-BCA9-C41CFDE51A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56" y="1824"/>
              <a:ext cx="0" cy="67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46" name="Line 10">
              <a:extLst>
                <a:ext uri="{FF2B5EF4-FFF2-40B4-BE49-F238E27FC236}">
                  <a16:creationId xmlns:a16="http://schemas.microsoft.com/office/drawing/2014/main" id="{02DF3C27-FB71-44C0-BE4E-D118E27C6E2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8" y="1824"/>
              <a:ext cx="0" cy="67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47" name="Line 11">
              <a:extLst>
                <a:ext uri="{FF2B5EF4-FFF2-40B4-BE49-F238E27FC236}">
                  <a16:creationId xmlns:a16="http://schemas.microsoft.com/office/drawing/2014/main" id="{E8A886AA-2F7A-4053-B8BD-BC6B8A678D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32" y="1824"/>
              <a:ext cx="0" cy="67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48" name="Line 12">
              <a:extLst>
                <a:ext uri="{FF2B5EF4-FFF2-40B4-BE49-F238E27FC236}">
                  <a16:creationId xmlns:a16="http://schemas.microsoft.com/office/drawing/2014/main" id="{03474CBA-BEB2-4555-97EA-C64E8A99CB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24" y="1824"/>
              <a:ext cx="0" cy="67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49" name="Line 13">
              <a:extLst>
                <a:ext uri="{FF2B5EF4-FFF2-40B4-BE49-F238E27FC236}">
                  <a16:creationId xmlns:a16="http://schemas.microsoft.com/office/drawing/2014/main" id="{A0A44F66-AA75-4E89-8EF4-31DC283006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16" y="1824"/>
              <a:ext cx="0" cy="67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50" name="Line 14">
              <a:extLst>
                <a:ext uri="{FF2B5EF4-FFF2-40B4-BE49-F238E27FC236}">
                  <a16:creationId xmlns:a16="http://schemas.microsoft.com/office/drawing/2014/main" id="{7E3DDE8D-C09F-4678-85B3-3118E44BC0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8" y="1824"/>
              <a:ext cx="0" cy="67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51" name="Line 15">
              <a:extLst>
                <a:ext uri="{FF2B5EF4-FFF2-40B4-BE49-F238E27FC236}">
                  <a16:creationId xmlns:a16="http://schemas.microsoft.com/office/drawing/2014/main" id="{7E1CBCE4-16CE-47ED-B9C7-7DE54B8FC2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00" y="1824"/>
              <a:ext cx="0" cy="67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52" name="Line 16">
              <a:extLst>
                <a:ext uri="{FF2B5EF4-FFF2-40B4-BE49-F238E27FC236}">
                  <a16:creationId xmlns:a16="http://schemas.microsoft.com/office/drawing/2014/main" id="{1E2DB14B-1B84-49A7-AAD2-EE8C8F1906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92" y="1824"/>
              <a:ext cx="0" cy="67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53" name="Line 17">
              <a:extLst>
                <a:ext uri="{FF2B5EF4-FFF2-40B4-BE49-F238E27FC236}">
                  <a16:creationId xmlns:a16="http://schemas.microsoft.com/office/drawing/2014/main" id="{35DE2052-5DB0-46C2-9043-48884DE8D5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84" y="1824"/>
              <a:ext cx="0" cy="67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54" name="Line 18">
              <a:extLst>
                <a:ext uri="{FF2B5EF4-FFF2-40B4-BE49-F238E27FC236}">
                  <a16:creationId xmlns:a16="http://schemas.microsoft.com/office/drawing/2014/main" id="{05DDD177-2360-4FE0-B5C1-439425EA8E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76" y="1824"/>
              <a:ext cx="0" cy="67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55" name="Line 19">
              <a:extLst>
                <a:ext uri="{FF2B5EF4-FFF2-40B4-BE49-F238E27FC236}">
                  <a16:creationId xmlns:a16="http://schemas.microsoft.com/office/drawing/2014/main" id="{DF5D5830-5D2A-48A6-BF7D-F7BEA9C19E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8" y="1824"/>
              <a:ext cx="0" cy="67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56" name="Line 20">
              <a:extLst>
                <a:ext uri="{FF2B5EF4-FFF2-40B4-BE49-F238E27FC236}">
                  <a16:creationId xmlns:a16="http://schemas.microsoft.com/office/drawing/2014/main" id="{FB868586-305C-4D1D-BE4D-9C9A6F462FA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60" y="1824"/>
              <a:ext cx="0" cy="67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57" name="Line 21">
              <a:extLst>
                <a:ext uri="{FF2B5EF4-FFF2-40B4-BE49-F238E27FC236}">
                  <a16:creationId xmlns:a16="http://schemas.microsoft.com/office/drawing/2014/main" id="{317F7CB7-CCE7-4BB6-BB7D-FB8172B5B6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52" y="1824"/>
              <a:ext cx="0" cy="67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58" name="Line 22">
              <a:extLst>
                <a:ext uri="{FF2B5EF4-FFF2-40B4-BE49-F238E27FC236}">
                  <a16:creationId xmlns:a16="http://schemas.microsoft.com/office/drawing/2014/main" id="{05B4FDF1-4782-4132-97F9-0A8228F573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44" y="1824"/>
              <a:ext cx="0" cy="67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59" name="Line 23">
              <a:extLst>
                <a:ext uri="{FF2B5EF4-FFF2-40B4-BE49-F238E27FC236}">
                  <a16:creationId xmlns:a16="http://schemas.microsoft.com/office/drawing/2014/main" id="{24B9D8D1-D052-499D-96D4-0E2C2415DDB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64" y="1824"/>
              <a:ext cx="0" cy="67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0" name="Line 24">
              <a:extLst>
                <a:ext uri="{FF2B5EF4-FFF2-40B4-BE49-F238E27FC236}">
                  <a16:creationId xmlns:a16="http://schemas.microsoft.com/office/drawing/2014/main" id="{35210E38-BB6F-4FD8-A64E-3DDB2679F7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72" y="1824"/>
              <a:ext cx="0" cy="67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1" name="Line 25">
              <a:extLst>
                <a:ext uri="{FF2B5EF4-FFF2-40B4-BE49-F238E27FC236}">
                  <a16:creationId xmlns:a16="http://schemas.microsoft.com/office/drawing/2014/main" id="{95D803AF-DC1C-4AA9-97E8-1FE9A95DD9B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80" y="1824"/>
              <a:ext cx="0" cy="67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2" name="Line 26">
              <a:extLst>
                <a:ext uri="{FF2B5EF4-FFF2-40B4-BE49-F238E27FC236}">
                  <a16:creationId xmlns:a16="http://schemas.microsoft.com/office/drawing/2014/main" id="{E61BBD77-90F3-4147-8563-2BCE6A9BCE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88" y="1824"/>
              <a:ext cx="0" cy="67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3" name="Line 27">
              <a:extLst>
                <a:ext uri="{FF2B5EF4-FFF2-40B4-BE49-F238E27FC236}">
                  <a16:creationId xmlns:a16="http://schemas.microsoft.com/office/drawing/2014/main" id="{2C0EE801-2FFE-47B8-ACAC-707640FE39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96" y="1824"/>
              <a:ext cx="0" cy="67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4" name="Line 28">
              <a:extLst>
                <a:ext uri="{FF2B5EF4-FFF2-40B4-BE49-F238E27FC236}">
                  <a16:creationId xmlns:a16="http://schemas.microsoft.com/office/drawing/2014/main" id="{10E892E9-3640-4A5A-93E4-31294A01A3E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04" y="1824"/>
              <a:ext cx="0" cy="67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5" name="Line 29">
              <a:extLst>
                <a:ext uri="{FF2B5EF4-FFF2-40B4-BE49-F238E27FC236}">
                  <a16:creationId xmlns:a16="http://schemas.microsoft.com/office/drawing/2014/main" id="{1D27FCEC-0B4C-4869-8D0B-45494C0E49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12" y="1824"/>
              <a:ext cx="0" cy="67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6" name="Line 30">
              <a:extLst>
                <a:ext uri="{FF2B5EF4-FFF2-40B4-BE49-F238E27FC236}">
                  <a16:creationId xmlns:a16="http://schemas.microsoft.com/office/drawing/2014/main" id="{D2F7B8BC-1690-4AC1-97BE-30B4D3C6FD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20" y="1824"/>
              <a:ext cx="0" cy="67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7" name="Line 31">
              <a:extLst>
                <a:ext uri="{FF2B5EF4-FFF2-40B4-BE49-F238E27FC236}">
                  <a16:creationId xmlns:a16="http://schemas.microsoft.com/office/drawing/2014/main" id="{E7E0D7E8-B3D2-4A9B-BE23-F78B48A07D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28" y="1824"/>
              <a:ext cx="0" cy="67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9968" name="Line 32">
              <a:extLst>
                <a:ext uri="{FF2B5EF4-FFF2-40B4-BE49-F238E27FC236}">
                  <a16:creationId xmlns:a16="http://schemas.microsoft.com/office/drawing/2014/main" id="{E891E0E1-0301-49D7-B617-366BBB441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6" y="1824"/>
              <a:ext cx="0" cy="672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itle 1">
            <a:extLst>
              <a:ext uri="{FF2B5EF4-FFF2-40B4-BE49-F238E27FC236}">
                <a16:creationId xmlns:a16="http://schemas.microsoft.com/office/drawing/2014/main" id="{2D4CCC32-130B-4768-8559-150401C1D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1987" name="Content Placeholder 2">
            <a:extLst>
              <a:ext uri="{FF2B5EF4-FFF2-40B4-BE49-F238E27FC236}">
                <a16:creationId xmlns:a16="http://schemas.microsoft.com/office/drawing/2014/main" id="{32ADACB7-A3E2-4431-81DF-25CD9ED4A2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C0949487-ADC8-41EF-B6A0-88305D102D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3011" name="Content Placeholder 2">
            <a:extLst>
              <a:ext uri="{FF2B5EF4-FFF2-40B4-BE49-F238E27FC236}">
                <a16:creationId xmlns:a16="http://schemas.microsoft.com/office/drawing/2014/main" id="{60862E94-31E9-4B97-A6DF-F43E9A3080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Title 1">
            <a:extLst>
              <a:ext uri="{FF2B5EF4-FFF2-40B4-BE49-F238E27FC236}">
                <a16:creationId xmlns:a16="http://schemas.microsoft.com/office/drawing/2014/main" id="{E70C76E2-CD85-4FB6-A3D6-BD3126808F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4035" name="Content Placeholder 2">
            <a:extLst>
              <a:ext uri="{FF2B5EF4-FFF2-40B4-BE49-F238E27FC236}">
                <a16:creationId xmlns:a16="http://schemas.microsoft.com/office/drawing/2014/main" id="{BB24053B-59B3-4280-8740-3E02EA972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>
            <a:extLst>
              <a:ext uri="{FF2B5EF4-FFF2-40B4-BE49-F238E27FC236}">
                <a16:creationId xmlns:a16="http://schemas.microsoft.com/office/drawing/2014/main" id="{82990922-B68B-41A9-B634-FC9E5E6F56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5059" name="Content Placeholder 2">
            <a:extLst>
              <a:ext uri="{FF2B5EF4-FFF2-40B4-BE49-F238E27FC236}">
                <a16:creationId xmlns:a16="http://schemas.microsoft.com/office/drawing/2014/main" id="{9D4FD98F-FC88-4690-9A5B-249056511E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777EB9AF-9F23-4C1B-93F2-9E70A1BE58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6083" name="Content Placeholder 2">
            <a:extLst>
              <a:ext uri="{FF2B5EF4-FFF2-40B4-BE49-F238E27FC236}">
                <a16:creationId xmlns:a16="http://schemas.microsoft.com/office/drawing/2014/main" id="{CB485466-4542-43A5-AF29-946C902F0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itle 1">
            <a:extLst>
              <a:ext uri="{FF2B5EF4-FFF2-40B4-BE49-F238E27FC236}">
                <a16:creationId xmlns:a16="http://schemas.microsoft.com/office/drawing/2014/main" id="{95579785-95E1-4B64-8CB2-BE08841A4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7107" name="Content Placeholder 2">
            <a:extLst>
              <a:ext uri="{FF2B5EF4-FFF2-40B4-BE49-F238E27FC236}">
                <a16:creationId xmlns:a16="http://schemas.microsoft.com/office/drawing/2014/main" id="{30B9D12A-2A78-4365-9267-9FC0C25BE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itle 1">
            <a:extLst>
              <a:ext uri="{FF2B5EF4-FFF2-40B4-BE49-F238E27FC236}">
                <a16:creationId xmlns:a16="http://schemas.microsoft.com/office/drawing/2014/main" id="{784ABF4E-045D-4C0E-AE4D-A9EAD8BBFD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8131" name="Content Placeholder 2">
            <a:extLst>
              <a:ext uri="{FF2B5EF4-FFF2-40B4-BE49-F238E27FC236}">
                <a16:creationId xmlns:a16="http://schemas.microsoft.com/office/drawing/2014/main" id="{4C566A5B-2699-4C65-ACE8-8463E17307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10" name="Rectangle 2">
            <a:extLst>
              <a:ext uri="{FF2B5EF4-FFF2-40B4-BE49-F238E27FC236}">
                <a16:creationId xmlns:a16="http://schemas.microsoft.com/office/drawing/2014/main" id="{C698FCF6-7E90-4406-9DF9-99D0685B98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Example of Horspool’s alg. application</a:t>
            </a:r>
          </a:p>
        </p:txBody>
      </p:sp>
      <p:sp>
        <p:nvSpPr>
          <p:cNvPr id="427011" name="Rectangle 3">
            <a:extLst>
              <a:ext uri="{FF2B5EF4-FFF2-40B4-BE49-F238E27FC236}">
                <a16:creationId xmlns:a16="http://schemas.microsoft.com/office/drawing/2014/main" id="{34598360-5C73-416D-AD35-5EDF9618BA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endParaRPr lang="en-US" dirty="0">
              <a:latin typeface="Courier New" pitchFamily="49" charset="0"/>
            </a:endParaRPr>
          </a:p>
          <a:p>
            <a:pPr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endParaRPr lang="en-US" dirty="0">
              <a:latin typeface="Courier New" pitchFamily="49" charset="0"/>
            </a:endParaRPr>
          </a:p>
          <a:p>
            <a:pPr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endParaRPr lang="en-US" dirty="0">
              <a:latin typeface="Courier New" pitchFamily="49" charset="0"/>
            </a:endParaRPr>
          </a:p>
          <a:p>
            <a:pPr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dirty="0">
                <a:latin typeface="Courier New" pitchFamily="49" charset="0"/>
              </a:rPr>
              <a:t>BARD LOVED BANANAS</a:t>
            </a:r>
          </a:p>
          <a:p>
            <a:pPr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dirty="0">
                <a:latin typeface="Courier New" pitchFamily="49" charset="0"/>
              </a:rPr>
              <a:t>BAOBAB</a:t>
            </a:r>
          </a:p>
          <a:p>
            <a:pPr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dirty="0">
                <a:latin typeface="Courier New" pitchFamily="49" charset="0"/>
              </a:rPr>
              <a:t>      BAOBAB</a:t>
            </a:r>
          </a:p>
          <a:p>
            <a:pPr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dirty="0">
                <a:latin typeface="Courier New" pitchFamily="49" charset="0"/>
              </a:rPr>
              <a:t>        BAOBAB</a:t>
            </a:r>
          </a:p>
          <a:p>
            <a:pPr eaLnBrk="1" fontAlgn="auto" hangingPunct="1">
              <a:spcAft>
                <a:spcPts val="0"/>
              </a:spcAft>
              <a:buFont typeface="Monotype Sorts" pitchFamily="2" charset="2"/>
              <a:buNone/>
              <a:defRPr/>
            </a:pPr>
            <a:r>
              <a:rPr lang="en-US" dirty="0">
                <a:latin typeface="Courier New" pitchFamily="49" charset="0"/>
              </a:rPr>
              <a:t>			      BAOBAB </a:t>
            </a:r>
            <a:r>
              <a:rPr lang="en-US" dirty="0"/>
              <a:t>(unsuccessful search)</a:t>
            </a:r>
          </a:p>
        </p:txBody>
      </p:sp>
      <p:grpSp>
        <p:nvGrpSpPr>
          <p:cNvPr id="49156" name="Group 74">
            <a:extLst>
              <a:ext uri="{FF2B5EF4-FFF2-40B4-BE49-F238E27FC236}">
                <a16:creationId xmlns:a16="http://schemas.microsoft.com/office/drawing/2014/main" id="{72EC5199-733E-4985-9CAE-784A872AE7DA}"/>
              </a:ext>
            </a:extLst>
          </p:cNvPr>
          <p:cNvGrpSpPr>
            <a:grpSpLocks/>
          </p:cNvGrpSpPr>
          <p:nvPr/>
        </p:nvGrpSpPr>
        <p:grpSpPr bwMode="auto">
          <a:xfrm>
            <a:off x="609600" y="1219200"/>
            <a:ext cx="8382000" cy="1371600"/>
            <a:chOff x="384" y="768"/>
            <a:chExt cx="5280" cy="864"/>
          </a:xfrm>
        </p:grpSpPr>
        <p:grpSp>
          <p:nvGrpSpPr>
            <p:cNvPr id="49157" name="Group 73">
              <a:extLst>
                <a:ext uri="{FF2B5EF4-FFF2-40B4-BE49-F238E27FC236}">
                  <a16:creationId xmlns:a16="http://schemas.microsoft.com/office/drawing/2014/main" id="{72410474-DB14-4C94-8894-73CC5D1A1A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4" y="768"/>
              <a:ext cx="5232" cy="864"/>
              <a:chOff x="384" y="768"/>
              <a:chExt cx="5232" cy="864"/>
            </a:xfrm>
          </p:grpSpPr>
          <p:grpSp>
            <p:nvGrpSpPr>
              <p:cNvPr id="49161" name="Group 32">
                <a:extLst>
                  <a:ext uri="{FF2B5EF4-FFF2-40B4-BE49-F238E27FC236}">
                    <a16:creationId xmlns:a16="http://schemas.microsoft.com/office/drawing/2014/main" id="{3310DF15-E22C-4967-94DD-A0723EEC16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84" y="768"/>
                <a:ext cx="5040" cy="864"/>
                <a:chOff x="720" y="1824"/>
                <a:chExt cx="5040" cy="672"/>
              </a:xfrm>
            </p:grpSpPr>
            <p:sp>
              <p:nvSpPr>
                <p:cNvPr id="49163" name="Rectangle 33">
                  <a:extLst>
                    <a:ext uri="{FF2B5EF4-FFF2-40B4-BE49-F238E27FC236}">
                      <a16:creationId xmlns:a16="http://schemas.microsoft.com/office/drawing/2014/main" id="{4E305B54-F970-4B13-BB11-686538B9BE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0" y="1824"/>
                  <a:ext cx="5040" cy="336"/>
                </a:xfrm>
                <a:prstGeom prst="rect">
                  <a:avLst/>
                </a:prstGeom>
                <a:solidFill>
                  <a:schemeClr val="accent1"/>
                </a:solidFill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000" b="1">
                      <a:solidFill>
                        <a:schemeClr val="bg2"/>
                      </a:solidFill>
                      <a:latin typeface="Courier New" panose="02070309020205020404" pitchFamily="49" charset="0"/>
                    </a:rPr>
                    <a:t>A B C D E F G H I J K L M N O P Q R S T U V W X Y Z</a:t>
                  </a:r>
                </a:p>
              </p:txBody>
            </p:sp>
            <p:sp>
              <p:nvSpPr>
                <p:cNvPr id="49164" name="Rectangle 34">
                  <a:extLst>
                    <a:ext uri="{FF2B5EF4-FFF2-40B4-BE49-F238E27FC236}">
                      <a16:creationId xmlns:a16="http://schemas.microsoft.com/office/drawing/2014/main" id="{07D0CAE6-B078-4127-9B06-4AEB845109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720" y="2160"/>
                  <a:ext cx="5040" cy="336"/>
                </a:xfrm>
                <a:prstGeom prst="rect">
                  <a:avLst/>
                </a:prstGeom>
                <a:solidFill>
                  <a:schemeClr val="accent1"/>
                </a:solidFill>
                <a:ln w="12700">
                  <a:solidFill>
                    <a:srgbClr val="FF0000"/>
                  </a:solidFill>
                  <a:miter lim="800000"/>
                  <a:headEnd type="none" w="sm" len="sm"/>
                  <a:tailEnd type="none" w="sm" len="sm"/>
                </a:ln>
              </p:spPr>
              <p:txBody>
                <a:bodyPr wrap="none" anchor="ctr"/>
                <a:lstStyle>
                  <a:lvl1pPr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32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1pPr>
                  <a:lvl2pPr marL="742950" indent="-28575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2pPr>
                  <a:lvl3pPr marL="1143000" indent="-228600">
                    <a:spcBef>
                      <a:spcPct val="20000"/>
                    </a:spcBef>
                    <a:buFont typeface="Arial" panose="020B0604020202020204" pitchFamily="34" charset="0"/>
                    <a:buChar char="•"/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3pPr>
                  <a:lvl4pPr marL="1600200" indent="-228600">
                    <a:spcBef>
                      <a:spcPct val="20000"/>
                    </a:spcBef>
                    <a:buFont typeface="Arial" panose="020B0604020202020204" pitchFamily="34" charset="0"/>
                    <a:buChar char="–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4pPr>
                  <a:lvl5pPr marL="2057400" indent="-228600">
                    <a:spcBef>
                      <a:spcPct val="20000"/>
                    </a:spcBef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Font typeface="Arial" panose="020B0604020202020204" pitchFamily="34" charset="0"/>
                    <a:buChar char="»"/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</a:defRPr>
                  </a:lvl9pPr>
                </a:lstStyle>
                <a:p>
                  <a:pPr algn="ctr">
                    <a:spcBef>
                      <a:spcPct val="0"/>
                    </a:spcBef>
                    <a:buFontTx/>
                    <a:buNone/>
                  </a:pPr>
                  <a:r>
                    <a:rPr lang="en-US" altLang="en-US" sz="2000" b="1">
                      <a:solidFill>
                        <a:schemeClr val="bg2"/>
                      </a:solidFill>
                      <a:latin typeface="Courier New" panose="02070309020205020404" pitchFamily="49" charset="0"/>
                    </a:rPr>
                    <a:t>1 2 6 6 6 6 6 6 6 6 6 6 6 6 3 6 6 6 6 6 6 6 6 6 6 6</a:t>
                  </a:r>
                  <a:endParaRPr lang="en-US" altLang="en-US" sz="4000">
                    <a:latin typeface="Times New Roman" panose="02020603050405020304" pitchFamily="18" charset="0"/>
                  </a:endParaRPr>
                </a:p>
              </p:txBody>
            </p:sp>
            <p:sp>
              <p:nvSpPr>
                <p:cNvPr id="49165" name="Line 35">
                  <a:extLst>
                    <a:ext uri="{FF2B5EF4-FFF2-40B4-BE49-F238E27FC236}">
                      <a16:creationId xmlns:a16="http://schemas.microsoft.com/office/drawing/2014/main" id="{66518009-E219-44BE-B280-F9E21FFDDCC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936" y="1824"/>
                  <a:ext cx="0" cy="672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166" name="Line 36">
                  <a:extLst>
                    <a:ext uri="{FF2B5EF4-FFF2-40B4-BE49-F238E27FC236}">
                      <a16:creationId xmlns:a16="http://schemas.microsoft.com/office/drawing/2014/main" id="{810734C4-52A4-467C-ACE3-300306D98E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856" y="1824"/>
                  <a:ext cx="0" cy="672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167" name="Line 37">
                  <a:extLst>
                    <a:ext uri="{FF2B5EF4-FFF2-40B4-BE49-F238E27FC236}">
                      <a16:creationId xmlns:a16="http://schemas.microsoft.com/office/drawing/2014/main" id="{9D9E9AF1-AA63-4D9E-97E8-B87478350C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048" y="1824"/>
                  <a:ext cx="0" cy="672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168" name="Line 38">
                  <a:extLst>
                    <a:ext uri="{FF2B5EF4-FFF2-40B4-BE49-F238E27FC236}">
                      <a16:creationId xmlns:a16="http://schemas.microsoft.com/office/drawing/2014/main" id="{28A7DABC-40DE-4870-A195-996B82BE054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32" y="1824"/>
                  <a:ext cx="0" cy="672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169" name="Line 39">
                  <a:extLst>
                    <a:ext uri="{FF2B5EF4-FFF2-40B4-BE49-F238E27FC236}">
                      <a16:creationId xmlns:a16="http://schemas.microsoft.com/office/drawing/2014/main" id="{5560F229-EAAE-4AD6-BB2B-5BBD4558AD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624" y="1824"/>
                  <a:ext cx="0" cy="672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170" name="Line 40">
                  <a:extLst>
                    <a:ext uri="{FF2B5EF4-FFF2-40B4-BE49-F238E27FC236}">
                      <a16:creationId xmlns:a16="http://schemas.microsoft.com/office/drawing/2014/main" id="{EEF3D780-742B-4989-A06B-6C96C167742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816" y="1824"/>
                  <a:ext cx="0" cy="672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171" name="Line 41">
                  <a:extLst>
                    <a:ext uri="{FF2B5EF4-FFF2-40B4-BE49-F238E27FC236}">
                      <a16:creationId xmlns:a16="http://schemas.microsoft.com/office/drawing/2014/main" id="{4F5AAF6D-CB23-4D87-BFFE-A7E747448E2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08" y="1824"/>
                  <a:ext cx="0" cy="672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172" name="Line 42">
                  <a:extLst>
                    <a:ext uri="{FF2B5EF4-FFF2-40B4-BE49-F238E27FC236}">
                      <a16:creationId xmlns:a16="http://schemas.microsoft.com/office/drawing/2014/main" id="{E1398AC4-7CBD-4718-B0A6-64FF448CCF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200" y="1824"/>
                  <a:ext cx="0" cy="672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173" name="Line 43">
                  <a:extLst>
                    <a:ext uri="{FF2B5EF4-FFF2-40B4-BE49-F238E27FC236}">
                      <a16:creationId xmlns:a16="http://schemas.microsoft.com/office/drawing/2014/main" id="{FD5A9D9A-3569-4E29-AE65-DB1009E5943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392" y="1824"/>
                  <a:ext cx="0" cy="672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174" name="Line 44">
                  <a:extLst>
                    <a:ext uri="{FF2B5EF4-FFF2-40B4-BE49-F238E27FC236}">
                      <a16:creationId xmlns:a16="http://schemas.microsoft.com/office/drawing/2014/main" id="{EF3FD649-4A82-46FE-92AB-D9216E231EC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84" y="1824"/>
                  <a:ext cx="0" cy="672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175" name="Line 45">
                  <a:extLst>
                    <a:ext uri="{FF2B5EF4-FFF2-40B4-BE49-F238E27FC236}">
                      <a16:creationId xmlns:a16="http://schemas.microsoft.com/office/drawing/2014/main" id="{BEBC16D7-A95B-47F1-80A8-97B31CD523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776" y="1824"/>
                  <a:ext cx="0" cy="672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176" name="Line 46">
                  <a:extLst>
                    <a:ext uri="{FF2B5EF4-FFF2-40B4-BE49-F238E27FC236}">
                      <a16:creationId xmlns:a16="http://schemas.microsoft.com/office/drawing/2014/main" id="{1EED1519-8D4B-430A-8EB0-9B9FA2407D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68" y="1824"/>
                  <a:ext cx="0" cy="672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177" name="Line 47">
                  <a:extLst>
                    <a:ext uri="{FF2B5EF4-FFF2-40B4-BE49-F238E27FC236}">
                      <a16:creationId xmlns:a16="http://schemas.microsoft.com/office/drawing/2014/main" id="{350CE91A-5541-4442-9710-B6FFE25316D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160" y="1824"/>
                  <a:ext cx="0" cy="672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178" name="Line 48">
                  <a:extLst>
                    <a:ext uri="{FF2B5EF4-FFF2-40B4-BE49-F238E27FC236}">
                      <a16:creationId xmlns:a16="http://schemas.microsoft.com/office/drawing/2014/main" id="{05AFABBB-B776-47F0-B8F1-29B7B837EA4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352" y="1824"/>
                  <a:ext cx="0" cy="672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179" name="Line 49">
                  <a:extLst>
                    <a:ext uri="{FF2B5EF4-FFF2-40B4-BE49-F238E27FC236}">
                      <a16:creationId xmlns:a16="http://schemas.microsoft.com/office/drawing/2014/main" id="{B89C14B0-EC49-4850-B104-59DBBFD87F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5544" y="1824"/>
                  <a:ext cx="0" cy="672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180" name="Line 50">
                  <a:extLst>
                    <a:ext uri="{FF2B5EF4-FFF2-40B4-BE49-F238E27FC236}">
                      <a16:creationId xmlns:a16="http://schemas.microsoft.com/office/drawing/2014/main" id="{C108EBC6-97C0-41E0-92CB-E8A1FCCB23A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664" y="1824"/>
                  <a:ext cx="0" cy="672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181" name="Line 51">
                  <a:extLst>
                    <a:ext uri="{FF2B5EF4-FFF2-40B4-BE49-F238E27FC236}">
                      <a16:creationId xmlns:a16="http://schemas.microsoft.com/office/drawing/2014/main" id="{EBEF3F71-C5D7-4EA4-8B21-B536947C2A3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472" y="1824"/>
                  <a:ext cx="0" cy="672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182" name="Line 52">
                  <a:extLst>
                    <a:ext uri="{FF2B5EF4-FFF2-40B4-BE49-F238E27FC236}">
                      <a16:creationId xmlns:a16="http://schemas.microsoft.com/office/drawing/2014/main" id="{D4B41CB7-6276-40C9-832D-9588B205915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280" y="1824"/>
                  <a:ext cx="0" cy="672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183" name="Line 53">
                  <a:extLst>
                    <a:ext uri="{FF2B5EF4-FFF2-40B4-BE49-F238E27FC236}">
                      <a16:creationId xmlns:a16="http://schemas.microsoft.com/office/drawing/2014/main" id="{C2BECCF4-AD74-4931-B370-6CF6588504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088" y="1824"/>
                  <a:ext cx="0" cy="672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184" name="Line 54">
                  <a:extLst>
                    <a:ext uri="{FF2B5EF4-FFF2-40B4-BE49-F238E27FC236}">
                      <a16:creationId xmlns:a16="http://schemas.microsoft.com/office/drawing/2014/main" id="{8B649EBF-7802-4A5A-BFF9-55B88E96CA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896" y="1824"/>
                  <a:ext cx="0" cy="672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185" name="Line 55">
                  <a:extLst>
                    <a:ext uri="{FF2B5EF4-FFF2-40B4-BE49-F238E27FC236}">
                      <a16:creationId xmlns:a16="http://schemas.microsoft.com/office/drawing/2014/main" id="{5C59500E-604C-46DC-A37C-23EEBD0B44A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704" y="1824"/>
                  <a:ext cx="0" cy="672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186" name="Line 56">
                  <a:extLst>
                    <a:ext uri="{FF2B5EF4-FFF2-40B4-BE49-F238E27FC236}">
                      <a16:creationId xmlns:a16="http://schemas.microsoft.com/office/drawing/2014/main" id="{B6847D19-563A-4540-BC04-D7EC5EADB31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512" y="1824"/>
                  <a:ext cx="0" cy="672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187" name="Line 57">
                  <a:extLst>
                    <a:ext uri="{FF2B5EF4-FFF2-40B4-BE49-F238E27FC236}">
                      <a16:creationId xmlns:a16="http://schemas.microsoft.com/office/drawing/2014/main" id="{361F1D4A-76E1-4714-B17D-4135D7744FF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320" y="1824"/>
                  <a:ext cx="0" cy="672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188" name="Line 58">
                  <a:extLst>
                    <a:ext uri="{FF2B5EF4-FFF2-40B4-BE49-F238E27FC236}">
                      <a16:creationId xmlns:a16="http://schemas.microsoft.com/office/drawing/2014/main" id="{E36E8DA3-3111-4460-95B5-7B8E9F5A7A6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1128" y="1824"/>
                  <a:ext cx="0" cy="672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49189" name="Line 59">
                  <a:extLst>
                    <a:ext uri="{FF2B5EF4-FFF2-40B4-BE49-F238E27FC236}">
                      <a16:creationId xmlns:a16="http://schemas.microsoft.com/office/drawing/2014/main" id="{8DD6EEA4-4819-4D6E-958C-EEE40DBDB53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216" y="1824"/>
                  <a:ext cx="0" cy="672"/>
                </a:xfrm>
                <a:prstGeom prst="line">
                  <a:avLst/>
                </a:prstGeom>
                <a:noFill/>
                <a:ln w="12700">
                  <a:solidFill>
                    <a:srgbClr val="FF0000"/>
                  </a:solidFill>
                  <a:round/>
                  <a:headEnd type="none" w="sm" len="sm"/>
                  <a:tailEnd type="none" w="sm" len="sm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49162" name="Rectangle 67">
                <a:extLst>
                  <a:ext uri="{FF2B5EF4-FFF2-40B4-BE49-F238E27FC236}">
                    <a16:creationId xmlns:a16="http://schemas.microsoft.com/office/drawing/2014/main" id="{FE003458-3A7C-421F-9631-BD86636F9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424" y="768"/>
                <a:ext cx="192" cy="864"/>
              </a:xfrm>
              <a:prstGeom prst="rect">
                <a:avLst/>
              </a:prstGeom>
              <a:solidFill>
                <a:schemeClr val="accent1"/>
              </a:solidFill>
              <a:ln w="12700">
                <a:solidFill>
                  <a:srgbClr val="FF0000"/>
                </a:solidFill>
                <a:miter lim="800000"/>
                <a:headEnd type="none" w="sm" len="sm"/>
                <a:tailEnd type="none" w="sm" len="sm"/>
              </a:ln>
            </p:spPr>
            <p:txBody>
              <a:bodyPr wrap="none" anchor="ctr"/>
              <a:lstStyle>
                <a:lvl1pPr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32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Font typeface="Arial" panose="020B0604020202020204" pitchFamily="34" charset="0"/>
                  <a:buChar char="•"/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Font typeface="Arial" panose="020B0604020202020204" pitchFamily="34" charset="0"/>
                  <a:buChar char="–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Font typeface="Arial" panose="020B0604020202020204" pitchFamily="34" charset="0"/>
                  <a:buChar char="»"/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FontTx/>
                  <a:buNone/>
                </a:pPr>
                <a:endParaRPr lang="th-TH" altLang="en-US" sz="2400">
                  <a:latin typeface="Times New Roman" panose="02020603050405020304" pitchFamily="18" charset="0"/>
                </a:endParaRPr>
              </a:p>
            </p:txBody>
          </p:sp>
        </p:grpSp>
        <p:sp>
          <p:nvSpPr>
            <p:cNvPr id="49158" name="Line 68">
              <a:extLst>
                <a:ext uri="{FF2B5EF4-FFF2-40B4-BE49-F238E27FC236}">
                  <a16:creationId xmlns:a16="http://schemas.microsoft.com/office/drawing/2014/main" id="{D4BF7719-A72A-41F8-BAA9-CA33AE04EF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24" y="1200"/>
              <a:ext cx="192" cy="0"/>
            </a:xfrm>
            <a:prstGeom prst="line">
              <a:avLst/>
            </a:prstGeom>
            <a:noFill/>
            <a:ln w="12700">
              <a:solidFill>
                <a:srgbClr val="FF0000"/>
              </a:solidFill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49159" name="Text Box 71">
              <a:extLst>
                <a:ext uri="{FF2B5EF4-FFF2-40B4-BE49-F238E27FC236}">
                  <a16:creationId xmlns:a16="http://schemas.microsoft.com/office/drawing/2014/main" id="{4C589F01-672B-4128-A445-B4577C05E2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76" y="768"/>
              <a:ext cx="28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2400" b="1">
                  <a:solidFill>
                    <a:schemeClr val="bg2"/>
                  </a:solidFill>
                  <a:latin typeface="Times New Roman" panose="02020603050405020304" pitchFamily="18" charset="0"/>
                </a:rPr>
                <a:t>_</a:t>
              </a:r>
            </a:p>
          </p:txBody>
        </p:sp>
        <p:sp>
          <p:nvSpPr>
            <p:cNvPr id="49160" name="Text Box 72">
              <a:extLst>
                <a:ext uri="{FF2B5EF4-FFF2-40B4-BE49-F238E27FC236}">
                  <a16:creationId xmlns:a16="http://schemas.microsoft.com/office/drawing/2014/main" id="{F179F711-79C5-4D60-8AC6-FE8FA466DD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4" y="1296"/>
              <a:ext cx="192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800000"/>
                  <a:headEnd type="none" w="sm" len="sm"/>
                  <a:tailEnd type="none" w="sm" len="sm"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Font typeface="Arial" panose="020B0604020202020204" pitchFamily="34" charset="0"/>
                <a:buChar char="•"/>
                <a:defRPr sz="3200">
                  <a:solidFill>
                    <a:schemeClr val="tx1"/>
                  </a:solidFill>
                  <a:latin typeface="Calibri" panose="020F0502020204030204" pitchFamily="34" charset="0"/>
                </a:defRPr>
              </a:lvl1pPr>
              <a:lvl2pPr marL="742950" indent="-285750">
                <a:spcBef>
                  <a:spcPct val="20000"/>
                </a:spcBef>
                <a:buFont typeface="Arial" panose="020B0604020202020204" pitchFamily="34" charset="0"/>
                <a:buChar char="–"/>
                <a:defRPr sz="2800">
                  <a:solidFill>
                    <a:schemeClr val="tx1"/>
                  </a:solidFill>
                  <a:latin typeface="Calibri" panose="020F0502020204030204" pitchFamily="34" charset="0"/>
                </a:defRPr>
              </a:lvl2pPr>
              <a:lvl3pPr marL="1143000" indent="-228600">
                <a:spcBef>
                  <a:spcPct val="20000"/>
                </a:spcBef>
                <a:buFont typeface="Arial" panose="020B0604020202020204" pitchFamily="34" charset="0"/>
                <a:buChar char="•"/>
                <a:defRPr sz="2400">
                  <a:solidFill>
                    <a:schemeClr val="tx1"/>
                  </a:solidFill>
                  <a:latin typeface="Calibri" panose="020F0502020204030204" pitchFamily="34" charset="0"/>
                </a:defRPr>
              </a:lvl3pPr>
              <a:lvl4pPr marL="1600200" indent="-228600">
                <a:spcBef>
                  <a:spcPct val="20000"/>
                </a:spcBef>
                <a:buFont typeface="Arial" panose="020B0604020202020204" pitchFamily="34" charset="0"/>
                <a:buChar char="–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4pPr>
              <a:lvl5pPr marL="2057400" indent="-228600">
                <a:spcBef>
                  <a:spcPct val="20000"/>
                </a:spcBef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Font typeface="Arial" panose="020B0604020202020204" pitchFamily="34" charset="0"/>
                <a:buChar char="»"/>
                <a:defRPr sz="2000">
                  <a:solidFill>
                    <a:schemeClr val="tx1"/>
                  </a:solidFill>
                  <a:latin typeface="Calibri" panose="020F0502020204030204" pitchFamily="34" charset="0"/>
                </a:defRPr>
              </a:lvl9pPr>
            </a:lstStyle>
            <a:p>
              <a:pPr algn="ctr">
                <a:spcBef>
                  <a:spcPct val="50000"/>
                </a:spcBef>
                <a:buFontTx/>
                <a:buNone/>
              </a:pPr>
              <a:r>
                <a:rPr lang="en-US" altLang="en-US" sz="2000" b="1">
                  <a:solidFill>
                    <a:schemeClr val="bg2"/>
                  </a:solidFill>
                  <a:latin typeface="Courier New" panose="02070309020205020404" pitchFamily="49" charset="0"/>
                </a:rPr>
                <a:t>6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02" name="Picture 4" descr="7_2a">
            <a:extLst>
              <a:ext uri="{FF2B5EF4-FFF2-40B4-BE49-F238E27FC236}">
                <a16:creationId xmlns:a16="http://schemas.microsoft.com/office/drawing/2014/main" id="{63DB8B91-6C44-489F-BAAA-20DEABF04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1971675"/>
            <a:ext cx="8572500" cy="2914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1203" name="Title 2">
            <a:extLst>
              <a:ext uri="{FF2B5EF4-FFF2-40B4-BE49-F238E27FC236}">
                <a16:creationId xmlns:a16="http://schemas.microsoft.com/office/drawing/2014/main" id="{9913344C-078E-4FB9-9DDE-239BAFB38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Horspool’s Algorithm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226" name="Picture 4" descr="7_2b">
            <a:extLst>
              <a:ext uri="{FF2B5EF4-FFF2-40B4-BE49-F238E27FC236}">
                <a16:creationId xmlns:a16="http://schemas.microsoft.com/office/drawing/2014/main" id="{2490827F-0CE7-44C5-AA57-AA0D178FF3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1143000"/>
            <a:ext cx="7991475" cy="525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581925A-DC24-4E53-A7B6-A20147925913}"/>
              </a:ext>
            </a:extLst>
          </p:cNvPr>
          <p:cNvSpPr txBox="1">
            <a:spLocks/>
          </p:cNvSpPr>
          <p:nvPr/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r>
              <a:rPr lang="en-US" sz="4400" dirty="0">
                <a:latin typeface="+mj-lt"/>
                <a:ea typeface="+mj-ea"/>
                <a:cs typeface="+mj-cs"/>
              </a:rPr>
              <a:t>Horspool’s Algorithm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3">
            <a:extLst>
              <a:ext uri="{FF2B5EF4-FFF2-40B4-BE49-F238E27FC236}">
                <a16:creationId xmlns:a16="http://schemas.microsoft.com/office/drawing/2014/main" id="{81A833DA-C972-4226-9C65-86219BB57F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buFont typeface="Monotype Sorts" pitchFamily="2" charset="2"/>
              <a:buNone/>
            </a:pPr>
            <a:r>
              <a:rPr lang="en-US" altLang="en-US"/>
              <a:t>Efficiency of Horspool’s algorithm</a:t>
            </a:r>
          </a:p>
          <a:p>
            <a:pPr eaLnBrk="1" hangingPunct="1">
              <a:buFont typeface="Monotype Sorts" pitchFamily="2" charset="2"/>
              <a:buNone/>
            </a:pPr>
            <a:r>
              <a:rPr lang="en-US" altLang="en-US"/>
              <a:t>- Worst-case efficiency is </a:t>
            </a:r>
            <a:r>
              <a:rPr lang="en-US" altLang="en-US">
                <a:sym typeface="Symbol" panose="05050102010706020507" pitchFamily="18" charset="2"/>
              </a:rPr>
              <a:t>(nm)</a:t>
            </a:r>
          </a:p>
          <a:p>
            <a:pPr eaLnBrk="1" hangingPunct="1">
              <a:buFontTx/>
              <a:buChar char="-"/>
            </a:pPr>
            <a:r>
              <a:rPr lang="en-US" altLang="en-US"/>
              <a:t>Efficiency is </a:t>
            </a:r>
            <a:r>
              <a:rPr lang="en-US" altLang="en-US">
                <a:sym typeface="Symbol" panose="05050102010706020507" pitchFamily="18" charset="2"/>
              </a:rPr>
              <a:t>(n) for r</a:t>
            </a:r>
            <a:r>
              <a:rPr lang="en-US" altLang="en-US"/>
              <a:t>andom texts.</a:t>
            </a:r>
          </a:p>
          <a:p>
            <a:pPr eaLnBrk="1" hangingPunct="1">
              <a:buFontTx/>
              <a:buChar char="-"/>
            </a:pPr>
            <a:r>
              <a:rPr lang="en-US" altLang="en-US"/>
              <a:t>Faster than Brute Force due to skip text.</a:t>
            </a:r>
          </a:p>
          <a:p>
            <a:pPr eaLnBrk="1" hangingPunct="1">
              <a:buFontTx/>
              <a:buChar char="-"/>
            </a:pPr>
            <a:r>
              <a:rPr lang="en-US" altLang="en-US"/>
              <a:t>More space than Brute Force which is varied by the size of shift table.</a:t>
            </a:r>
          </a:p>
          <a:p>
            <a:pPr eaLnBrk="1" hangingPunct="1">
              <a:buFont typeface="Monotype Sorts" pitchFamily="2" charset="2"/>
              <a:buNone/>
            </a:pPr>
            <a:endParaRPr lang="en-US" altLang="en-US"/>
          </a:p>
        </p:txBody>
      </p:sp>
      <p:sp>
        <p:nvSpPr>
          <p:cNvPr id="53251" name="Title 2">
            <a:extLst>
              <a:ext uri="{FF2B5EF4-FFF2-40B4-BE49-F238E27FC236}">
                <a16:creationId xmlns:a16="http://schemas.microsoft.com/office/drawing/2014/main" id="{36AAEDD3-C2F2-440A-B591-6E443562E4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Horspool’s Algorithm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2276A-27F9-416C-B250-57568BCD04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6B95B-546E-4249-B34E-70AD0D03DB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628713-8731-4451-8AAD-AB3B66D8FB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DE629DCD-E71A-452A-803A-EBD4AA168D8E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1543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EAB55D-06FE-434E-8D3D-3792C88E3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D6F8E-9F16-4F2B-9F75-EDDCBB7C4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BBF9C-5A45-483B-B4C9-0CBAD8C7050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DE629DCD-E71A-452A-803A-EBD4AA168D8E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07604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CADE63-4CDF-4CF1-A5E1-F67119DDBD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6C8167-E047-47FA-97C2-D158D89C7F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40057D-D4E0-46A5-9E19-E402208684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DE629DCD-E71A-452A-803A-EBD4AA168D8E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248727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98557-BE53-40E9-BDFA-7DCBB46C6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DDCAF-7F1D-4E14-B9B5-1F192F2C47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0E1A26-B2F7-4C2F-8ABF-93FBE5474B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</a:t>
            </a:r>
            <a:fld id="{DE629DCD-E71A-452A-803A-EBD4AA168D8E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92188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Number Placeholder 3">
            <a:extLst>
              <a:ext uri="{FF2B5EF4-FFF2-40B4-BE49-F238E27FC236}">
                <a16:creationId xmlns:a16="http://schemas.microsoft.com/office/drawing/2014/main" id="{E3B66F02-A84E-4A57-BBE1-036E0764C11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BBA5FAF5-0255-46B2-8AFE-0601B23470DA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43</a:t>
            </a:fld>
            <a:endParaRPr lang="en-US" altLang="en-US" sz="1600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8926D931-73F9-465A-A9BA-9CCB1F9358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Hashing</a:t>
            </a:r>
          </a:p>
        </p:txBody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CE6ED4AB-CE73-49BB-8799-894A9C0D80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05800" cy="4525963"/>
          </a:xfrm>
        </p:spPr>
        <p:txBody>
          <a:bodyPr/>
          <a:lstStyle/>
          <a:p>
            <a:pPr eaLnBrk="1" hangingPunct="1">
              <a:lnSpc>
                <a:spcPct val="95000"/>
              </a:lnSpc>
            </a:pPr>
            <a:r>
              <a:rPr lang="en-US" altLang="en-US"/>
              <a:t>Finding elements in a record is, mostly, done by searching its key.</a:t>
            </a:r>
          </a:p>
          <a:p>
            <a:pPr eaLnBrk="1" hangingPunct="1">
              <a:lnSpc>
                <a:spcPct val="95000"/>
              </a:lnSpc>
            </a:pPr>
            <a:r>
              <a:rPr lang="en-US" altLang="en-US"/>
              <a:t>Key comparison determines whether an element has found. If it is not found, the search continues.</a:t>
            </a:r>
          </a:p>
          <a:p>
            <a:pPr eaLnBrk="1" hangingPunct="1">
              <a:lnSpc>
                <a:spcPct val="95000"/>
              </a:lnSpc>
            </a:pPr>
            <a:r>
              <a:rPr lang="en-US" altLang="en-US"/>
              <a:t>Hashing uses a different approach.</a:t>
            </a:r>
          </a:p>
          <a:p>
            <a:pPr lvl="1" eaLnBrk="1" hangingPunct="1">
              <a:lnSpc>
                <a:spcPct val="95000"/>
              </a:lnSpc>
            </a:pPr>
            <a:r>
              <a:rPr lang="en-US" altLang="en-US" sz="3200" b="1"/>
              <a:t>The value of the key indicates the position in the structure (or table).</a:t>
            </a:r>
          </a:p>
          <a:p>
            <a:pPr lvl="1" eaLnBrk="1" hangingPunct="1">
              <a:lnSpc>
                <a:spcPct val="95000"/>
              </a:lnSpc>
            </a:pPr>
            <a:r>
              <a:rPr lang="en-US" altLang="en-US" sz="3200" b="1"/>
              <a:t>h(K) is a hash function returning the position.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E79A7A5A-E310-441E-8A6F-4C0E62DEE2E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09600" y="152400"/>
            <a:ext cx="7772400" cy="762000"/>
          </a:xfr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eaLnBrk="1" hangingPunct="1"/>
            <a:r>
              <a:rPr lang="en-US" altLang="en-US" sz="4000" b="1"/>
              <a:t>Hash function</a:t>
            </a:r>
          </a:p>
        </p:txBody>
      </p:sp>
      <p:sp>
        <p:nvSpPr>
          <p:cNvPr id="9219" name="Text Box 5">
            <a:extLst>
              <a:ext uri="{FF2B5EF4-FFF2-40B4-BE49-F238E27FC236}">
                <a16:creationId xmlns:a16="http://schemas.microsoft.com/office/drawing/2014/main" id="{45A5A2F5-E84C-4F2C-80A9-786C8310E5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91000" y="2895600"/>
            <a:ext cx="838200" cy="476250"/>
          </a:xfrm>
          <a:prstGeom prst="rect">
            <a:avLst/>
          </a:prstGeom>
          <a:noFill/>
          <a:ln w="19050">
            <a:solidFill>
              <a:srgbClr val="000000"/>
            </a:solidFill>
            <a:miter lim="800000"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Arial Unicode MS" pitchFamily="34" charset="-128"/>
              </a:rPr>
              <a:t>h(K)</a:t>
            </a:r>
          </a:p>
        </p:txBody>
      </p:sp>
      <p:sp>
        <p:nvSpPr>
          <p:cNvPr id="9220" name="Line 6">
            <a:extLst>
              <a:ext uri="{FF2B5EF4-FFF2-40B4-BE49-F238E27FC236}">
                <a16:creationId xmlns:a16="http://schemas.microsoft.com/office/drawing/2014/main" id="{276218F8-33A4-4E41-9434-25316346D2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124200" y="3124200"/>
            <a:ext cx="10668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1" name="Text Box 7">
            <a:extLst>
              <a:ext uri="{FF2B5EF4-FFF2-40B4-BE49-F238E27FC236}">
                <a16:creationId xmlns:a16="http://schemas.microsoft.com/office/drawing/2014/main" id="{C234EB8E-9029-48B4-8AFF-61F1E8891D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2895600"/>
            <a:ext cx="990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Arial Unicode MS" pitchFamily="34" charset="-128"/>
              </a:rPr>
              <a:t>key K</a:t>
            </a:r>
          </a:p>
        </p:txBody>
      </p:sp>
      <p:graphicFrame>
        <p:nvGraphicFramePr>
          <p:cNvPr id="5160" name="Group 40">
            <a:extLst>
              <a:ext uri="{FF2B5EF4-FFF2-40B4-BE49-F238E27FC236}">
                <a16:creationId xmlns:a16="http://schemas.microsoft.com/office/drawing/2014/main" id="{DEC30929-0D87-4F83-B22A-B1883F50BE93}"/>
              </a:ext>
            </a:extLst>
          </p:cNvPr>
          <p:cNvGraphicFramePr>
            <a:graphicFrameLocks noGrp="1"/>
          </p:cNvGraphicFramePr>
          <p:nvPr/>
        </p:nvGraphicFramePr>
        <p:xfrm>
          <a:off x="7010400" y="1225550"/>
          <a:ext cx="609600" cy="4145072"/>
        </p:xfrm>
        <a:graphic>
          <a:graphicData uri="http://schemas.openxmlformats.org/drawingml/2006/table">
            <a:tbl>
              <a:tblPr/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81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2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K</a:t>
                      </a: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1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1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1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1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1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812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45707" marB="4570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240" name="Line 41">
            <a:extLst>
              <a:ext uri="{FF2B5EF4-FFF2-40B4-BE49-F238E27FC236}">
                <a16:creationId xmlns:a16="http://schemas.microsoft.com/office/drawing/2014/main" id="{2350AE1E-5B25-45A4-983E-92E3F90CE52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29200" y="1981200"/>
            <a:ext cx="1981200" cy="114300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41" name="Text Box 42">
            <a:extLst>
              <a:ext uri="{FF2B5EF4-FFF2-40B4-BE49-F238E27FC236}">
                <a16:creationId xmlns:a16="http://schemas.microsoft.com/office/drawing/2014/main" id="{767B7BBA-1D96-42F9-BD92-1CF1836F6F0A}"/>
              </a:ext>
            </a:extLst>
          </p:cNvPr>
          <p:cNvSpPr txBox="1">
            <a:spLocks noChangeArrowheads="1"/>
          </p:cNvSpPr>
          <p:nvPr/>
        </p:nvSpPr>
        <p:spPr bwMode="auto">
          <a:xfrm rot="-1752633">
            <a:off x="5540375" y="2595563"/>
            <a:ext cx="9906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 Unicode MS" pitchFamily="34" charset="-128"/>
              </a:rPr>
              <a:t>index</a:t>
            </a:r>
          </a:p>
        </p:txBody>
      </p:sp>
      <p:sp>
        <p:nvSpPr>
          <p:cNvPr id="9242" name="Date Placeholder 3">
            <a:extLst>
              <a:ext uri="{FF2B5EF4-FFF2-40B4-BE49-F238E27FC236}">
                <a16:creationId xmlns:a16="http://schemas.microsoft.com/office/drawing/2014/main" id="{9A28E5ED-6212-484E-9B65-91FD12E46DC8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228600" y="6381750"/>
            <a:ext cx="8686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Comic Sans MS" panose="030F0702030302020204" pitchFamily="66" charset="0"/>
              </a:rPr>
              <a:t>Data Structures and Algorithms in Java, Third Edition			Ch10</a:t>
            </a:r>
            <a:r>
              <a:rPr lang="en-US" altLang="en-US" sz="1400" b="1">
                <a:latin typeface="Calibri" panose="020F0502020204030204" pitchFamily="34" charset="0"/>
              </a:rPr>
              <a:t>–</a:t>
            </a:r>
            <a:fld id="{D1F050F9-520B-4BB7-8E2E-5B7D6A7BD506}" type="slidenum">
              <a:rPr lang="en-US" altLang="en-US" sz="1400" b="1">
                <a:latin typeface="Comic Sans MS" panose="030F0702030302020204" pitchFamily="66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44</a:t>
            </a:fld>
            <a:endParaRPr lang="en-US" altLang="en-US" sz="1400" b="1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Slide Number Placeholder 3">
            <a:extLst>
              <a:ext uri="{FF2B5EF4-FFF2-40B4-BE49-F238E27FC236}">
                <a16:creationId xmlns:a16="http://schemas.microsoft.com/office/drawing/2014/main" id="{653421F8-8135-40BD-8B93-EF7C909A305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E29EC215-890F-43E0-8CA5-C7F0BCD047BE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45</a:t>
            </a:fld>
            <a:endParaRPr lang="en-US" altLang="en-US" sz="1600"/>
          </a:p>
        </p:txBody>
      </p:sp>
      <p:sp>
        <p:nvSpPr>
          <p:cNvPr id="11267" name="Rectangle 2">
            <a:extLst>
              <a:ext uri="{FF2B5EF4-FFF2-40B4-BE49-F238E27FC236}">
                <a16:creationId xmlns:a16="http://schemas.microsoft.com/office/drawing/2014/main" id="{2B440C83-3BE8-4E5B-9A10-D2651C08A08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Hashing</a:t>
            </a:r>
          </a:p>
        </p:txBody>
      </p:sp>
      <p:sp>
        <p:nvSpPr>
          <p:cNvPr id="11268" name="Rectangle 3">
            <a:extLst>
              <a:ext uri="{FF2B5EF4-FFF2-40B4-BE49-F238E27FC236}">
                <a16:creationId xmlns:a16="http://schemas.microsoft.com/office/drawing/2014/main" id="{277A10B3-9032-4E13-8B8E-8911D4FEC42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5000"/>
              </a:lnSpc>
            </a:pPr>
            <a:r>
              <a:rPr lang="en-US" altLang="en-US"/>
              <a:t>To find a function (</a:t>
            </a:r>
            <a:r>
              <a:rPr lang="en-US" altLang="en-US" i="1"/>
              <a:t>h</a:t>
            </a:r>
            <a:r>
              <a:rPr lang="en-US" altLang="en-US"/>
              <a:t>)</a:t>
            </a:r>
            <a:r>
              <a:rPr lang="en-US" altLang="en-US" i="1"/>
              <a:t> </a:t>
            </a:r>
            <a:r>
              <a:rPr lang="en-US" altLang="en-US"/>
              <a:t>that can transform a particular key (</a:t>
            </a:r>
            <a:r>
              <a:rPr lang="en-US" altLang="en-US" i="1"/>
              <a:t>K</a:t>
            </a:r>
            <a:r>
              <a:rPr lang="en-US" altLang="en-US"/>
              <a:t>)</a:t>
            </a:r>
            <a:r>
              <a:rPr lang="en-US" altLang="en-US" i="1"/>
              <a:t> </a:t>
            </a:r>
            <a:r>
              <a:rPr lang="en-US" altLang="en-US"/>
              <a:t>(a string, number or record) into an index in the table used for storing items of the same type as </a:t>
            </a:r>
            <a:r>
              <a:rPr lang="en-US" altLang="en-US" i="1"/>
              <a:t>K, </a:t>
            </a:r>
            <a:r>
              <a:rPr lang="en-US" altLang="en-US"/>
              <a:t>the function </a:t>
            </a:r>
            <a:r>
              <a:rPr lang="en-US" altLang="en-US" i="1"/>
              <a:t>h </a:t>
            </a:r>
            <a:r>
              <a:rPr lang="en-US" altLang="en-US"/>
              <a:t>is called a </a:t>
            </a:r>
            <a:r>
              <a:rPr lang="en-US" altLang="en-US" b="1"/>
              <a:t>hash function</a:t>
            </a:r>
          </a:p>
          <a:p>
            <a:pPr eaLnBrk="1" hangingPunct="1">
              <a:lnSpc>
                <a:spcPct val="95000"/>
              </a:lnSpc>
            </a:pPr>
            <a:r>
              <a:rPr lang="en-US" altLang="en-US"/>
              <a:t>If </a:t>
            </a:r>
            <a:r>
              <a:rPr lang="en-US" altLang="en-US" i="1"/>
              <a:t>h </a:t>
            </a:r>
            <a:r>
              <a:rPr lang="en-US" altLang="en-US"/>
              <a:t>transforms different keys into different numbers, it is called a </a:t>
            </a:r>
            <a:r>
              <a:rPr lang="en-US" altLang="en-US" b="1"/>
              <a:t>perfect hash function</a:t>
            </a:r>
          </a:p>
          <a:p>
            <a:pPr eaLnBrk="1" hangingPunct="1">
              <a:lnSpc>
                <a:spcPct val="95000"/>
              </a:lnSpc>
            </a:pPr>
            <a:r>
              <a:rPr lang="en-US" altLang="en-US"/>
              <a:t>To create a perfect hash function, the table has to contain at least the same number of positions as the number of elements being hashed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Slide Number Placeholder 3">
            <a:extLst>
              <a:ext uri="{FF2B5EF4-FFF2-40B4-BE49-F238E27FC236}">
                <a16:creationId xmlns:a16="http://schemas.microsoft.com/office/drawing/2014/main" id="{B6626EAB-86FE-420E-9E67-3DFB6FFEEE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0BBFD402-3C0E-45C6-A84A-4CEA3F4519CF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46</a:t>
            </a:fld>
            <a:endParaRPr lang="en-US" altLang="en-US" sz="1600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6D022B27-F686-4FC9-A1C2-AB7D92B47D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Hash Functions</a:t>
            </a:r>
          </a:p>
        </p:txBody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31BEE581-C5E5-43D6-9738-A37E8A5AAB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lvl="1" eaLnBrk="1" hangingPunct="1"/>
            <a:r>
              <a:rPr lang="en-US" altLang="en-US" sz="2800" b="1"/>
              <a:t>Division</a:t>
            </a:r>
          </a:p>
          <a:p>
            <a:pPr lvl="1" eaLnBrk="1" hangingPunct="1"/>
            <a:r>
              <a:rPr lang="en-US" altLang="en-US" sz="2800" b="1"/>
              <a:t>Folding</a:t>
            </a:r>
          </a:p>
          <a:p>
            <a:pPr lvl="1" eaLnBrk="1" hangingPunct="1"/>
            <a:r>
              <a:rPr lang="en-US" altLang="en-US" sz="2800" b="1"/>
              <a:t>Mid-Square</a:t>
            </a:r>
          </a:p>
          <a:p>
            <a:pPr lvl="1" eaLnBrk="1" hangingPunct="1"/>
            <a:r>
              <a:rPr lang="en-US" altLang="en-US" sz="2800" b="1"/>
              <a:t>Extraction</a:t>
            </a:r>
          </a:p>
          <a:p>
            <a:pPr lvl="1" eaLnBrk="1" hangingPunct="1"/>
            <a:r>
              <a:rPr lang="en-US" altLang="en-US" sz="2800" b="1"/>
              <a:t>Radix Transformation</a:t>
            </a:r>
            <a:endParaRPr lang="en-US" altLang="en-US" sz="2800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>
              <a:buFontTx/>
              <a:buNone/>
            </a:pPr>
            <a:endParaRPr lang="en-US" alt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Number Placeholder 3">
            <a:extLst>
              <a:ext uri="{FF2B5EF4-FFF2-40B4-BE49-F238E27FC236}">
                <a16:creationId xmlns:a16="http://schemas.microsoft.com/office/drawing/2014/main" id="{80787ECE-426B-4F0A-BF92-7AF5C1F957D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F3ECC7E2-DBC1-415E-8BD5-7BB76B043AEE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47</a:t>
            </a:fld>
            <a:endParaRPr lang="en-US" altLang="en-US" sz="1600"/>
          </a:p>
        </p:txBody>
      </p:sp>
      <p:sp>
        <p:nvSpPr>
          <p:cNvPr id="13315" name="Rectangle 2">
            <a:extLst>
              <a:ext uri="{FF2B5EF4-FFF2-40B4-BE49-F238E27FC236}">
                <a16:creationId xmlns:a16="http://schemas.microsoft.com/office/drawing/2014/main" id="{3AE2E87D-39B5-4F93-BD07-F7E28AFAF3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Hash Functions</a:t>
            </a:r>
          </a:p>
        </p:txBody>
      </p:sp>
      <p:sp>
        <p:nvSpPr>
          <p:cNvPr id="13316" name="Rectangle 3">
            <a:extLst>
              <a:ext uri="{FF2B5EF4-FFF2-40B4-BE49-F238E27FC236}">
                <a16:creationId xmlns:a16="http://schemas.microsoft.com/office/drawing/2014/main" id="{E59A0BB1-CA37-4E34-8522-54511EC06E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The </a:t>
            </a:r>
            <a:r>
              <a:rPr lang="en-US" altLang="en-US" b="1"/>
              <a:t>division</a:t>
            </a:r>
            <a:r>
              <a:rPr lang="en-US" altLang="en-US"/>
              <a:t> method is the preferred choice for the hash function if very little is known about the keys</a:t>
            </a:r>
          </a:p>
          <a:p>
            <a:pPr eaLnBrk="1" hangingPunct="1">
              <a:buFontTx/>
              <a:buNone/>
            </a:pPr>
            <a:r>
              <a:rPr lang="en-US" altLang="en-US" i="1"/>
              <a:t>	TSize </a:t>
            </a:r>
            <a:r>
              <a:rPr lang="en-US" altLang="en-US"/>
              <a:t>=</a:t>
            </a:r>
            <a:r>
              <a:rPr lang="en-US" altLang="en-US" i="1"/>
              <a:t>sizeof</a:t>
            </a:r>
            <a:r>
              <a:rPr lang="en-US" altLang="en-US"/>
              <a:t>(</a:t>
            </a:r>
            <a:r>
              <a:rPr lang="en-US" altLang="en-US" i="1"/>
              <a:t>table</a:t>
            </a:r>
            <a:r>
              <a:rPr lang="en-US" altLang="en-US"/>
              <a:t>), as in </a:t>
            </a:r>
            <a:r>
              <a:rPr lang="en-US" altLang="en-US" i="1"/>
              <a:t>h</a:t>
            </a:r>
            <a:r>
              <a:rPr lang="en-US" altLang="en-US"/>
              <a:t>(</a:t>
            </a:r>
            <a:r>
              <a:rPr lang="en-US" altLang="en-US" i="1"/>
              <a:t>K</a:t>
            </a:r>
            <a:r>
              <a:rPr lang="en-US" altLang="en-US"/>
              <a:t>) = </a:t>
            </a:r>
            <a:r>
              <a:rPr lang="en-US" altLang="en-US" i="1"/>
              <a:t>K </a:t>
            </a:r>
            <a:r>
              <a:rPr lang="en-US" altLang="en-US"/>
              <a:t>mod </a:t>
            </a:r>
            <a:r>
              <a:rPr lang="en-US" altLang="en-US" i="1"/>
              <a:t>TSize</a:t>
            </a:r>
          </a:p>
          <a:p>
            <a:pPr eaLnBrk="1" hangingPunct="1">
              <a:buFontTx/>
              <a:buNone/>
            </a:pPr>
            <a:endParaRPr lang="en-US" altLang="en-US"/>
          </a:p>
          <a:p>
            <a:pPr eaLnBrk="1" hangingPunct="1">
              <a:buFontTx/>
              <a:buNone/>
            </a:pPr>
            <a:r>
              <a:rPr lang="en-US" altLang="en-US"/>
              <a:t>    </a:t>
            </a:r>
            <a:r>
              <a:rPr lang="en-US" altLang="en-US" u="sng"/>
              <a:t>Example</a:t>
            </a:r>
            <a:r>
              <a:rPr lang="en-US" altLang="en-US"/>
              <a:t> key = 243      Table size = 10</a:t>
            </a:r>
          </a:p>
          <a:p>
            <a:pPr eaLnBrk="1" hangingPunct="1">
              <a:buFontTx/>
              <a:buNone/>
            </a:pPr>
            <a:r>
              <a:rPr lang="en-US" altLang="en-US"/>
              <a:t>     		h(243) = 243 mod 10 = 3.</a:t>
            </a:r>
          </a:p>
          <a:p>
            <a:pPr eaLnBrk="1" hangingPunct="1">
              <a:buFontTx/>
              <a:buNone/>
            </a:pPr>
            <a:endParaRPr lang="en-US" altLang="en-US"/>
          </a:p>
          <a:p>
            <a:pPr eaLnBrk="1" hangingPunct="1"/>
            <a:endParaRPr lang="en-US" altLang="en-US"/>
          </a:p>
          <a:p>
            <a:pPr eaLnBrk="1" hangingPunct="1">
              <a:buFontTx/>
              <a:buNone/>
            </a:pPr>
            <a:endParaRPr lang="en-US" altLang="en-US"/>
          </a:p>
        </p:txBody>
      </p:sp>
      <p:graphicFrame>
        <p:nvGraphicFramePr>
          <p:cNvPr id="223270" name="Group 38">
            <a:extLst>
              <a:ext uri="{FF2B5EF4-FFF2-40B4-BE49-F238E27FC236}">
                <a16:creationId xmlns:a16="http://schemas.microsoft.com/office/drawing/2014/main" id="{561F6A25-05B2-4E48-B7FC-98E85A87A84A}"/>
              </a:ext>
            </a:extLst>
          </p:cNvPr>
          <p:cNvGraphicFramePr>
            <a:graphicFrameLocks noGrp="1"/>
          </p:cNvGraphicFramePr>
          <p:nvPr/>
        </p:nvGraphicFramePr>
        <p:xfrm>
          <a:off x="1143000" y="5105400"/>
          <a:ext cx="6553200" cy="533400"/>
        </p:xfrm>
        <a:graphic>
          <a:graphicData uri="http://schemas.openxmlformats.org/drawingml/2006/table">
            <a:tbl>
              <a:tblPr/>
              <a:tblGrid>
                <a:gridCol w="6556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80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32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56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72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40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563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243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Slide Number Placeholder 3">
            <a:extLst>
              <a:ext uri="{FF2B5EF4-FFF2-40B4-BE49-F238E27FC236}">
                <a16:creationId xmlns:a16="http://schemas.microsoft.com/office/drawing/2014/main" id="{7CF35544-BC3E-4D64-987A-8F99C98600F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04B3F79D-513D-4203-AA45-4350C360D8EC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48</a:t>
            </a:fld>
            <a:endParaRPr lang="en-US" altLang="en-US" sz="1600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FBF338DE-420B-409A-8836-365E4996566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Hash Functions</a:t>
            </a:r>
          </a:p>
        </p:txBody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7AFFB6F1-CDD5-4214-B39F-9FF20575E7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/>
              <a:t>In the </a:t>
            </a:r>
            <a:r>
              <a:rPr lang="en-US" altLang="en-US" b="1" dirty="0"/>
              <a:t>folding</a:t>
            </a:r>
            <a:r>
              <a:rPr lang="en-US" altLang="en-US" dirty="0"/>
              <a:t> method, the key is divided into several parts which are combined or folded together and are often transformed in a certain way to create the target address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endParaRPr lang="en-US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dirty="0"/>
              <a:t>	</a:t>
            </a:r>
            <a:r>
              <a:rPr lang="en-US" altLang="en-US" u="sng" dirty="0"/>
              <a:t>Example</a:t>
            </a:r>
            <a:r>
              <a:rPr lang="en-US" altLang="en-US" dirty="0"/>
              <a:t> key = 281-739-405    table size = 100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u="sng" dirty="0"/>
              <a:t>Shift Folding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 dirty="0"/>
              <a:t>h(k) = 281 + 739 + 405  = 1425 mod 100 = 25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u="sng" dirty="0"/>
              <a:t>Boundary Folding</a:t>
            </a:r>
          </a:p>
          <a:p>
            <a:pPr lvl="2" eaLnBrk="1" hangingPunct="1">
              <a:lnSpc>
                <a:spcPct val="90000"/>
              </a:lnSpc>
              <a:buFontTx/>
              <a:buNone/>
            </a:pPr>
            <a:r>
              <a:rPr lang="en-US" altLang="en-US" dirty="0"/>
              <a:t>h(k) = 281 + 937 + 405  = 1623 mod 100 = 23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dirty="0"/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en-US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Slide Number Placeholder 4">
            <a:extLst>
              <a:ext uri="{FF2B5EF4-FFF2-40B4-BE49-F238E27FC236}">
                <a16:creationId xmlns:a16="http://schemas.microsoft.com/office/drawing/2014/main" id="{07EE58C7-36F7-4E2C-8D11-E6D3AE53438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5FA8650B-AD7A-4FD6-8BDF-5D9659032EC3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49</a:t>
            </a:fld>
            <a:endParaRPr lang="en-US" altLang="en-US" sz="1600"/>
          </a:p>
        </p:txBody>
      </p:sp>
      <p:sp>
        <p:nvSpPr>
          <p:cNvPr id="15363" name="Rectangle 2">
            <a:extLst>
              <a:ext uri="{FF2B5EF4-FFF2-40B4-BE49-F238E27FC236}">
                <a16:creationId xmlns:a16="http://schemas.microsoft.com/office/drawing/2014/main" id="{FF2DA035-7950-48C9-8F8F-0A1331258D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Hash Functions (continued)</a:t>
            </a:r>
          </a:p>
        </p:txBody>
      </p:sp>
      <p:sp>
        <p:nvSpPr>
          <p:cNvPr id="15364" name="Rectangle 3">
            <a:extLst>
              <a:ext uri="{FF2B5EF4-FFF2-40B4-BE49-F238E27FC236}">
                <a16:creationId xmlns:a16="http://schemas.microsoft.com/office/drawing/2014/main" id="{89FFFE95-8362-40E2-8B61-93796558549C}"/>
              </a:ext>
            </a:extLst>
          </p:cNvPr>
          <p:cNvSpPr>
            <a:spLocks noGrp="1" noChangeArrowheads="1"/>
          </p:cNvSpPr>
          <p:nvPr>
            <p:ph type="body" sz="half"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 eaLnBrk="1" hangingPunct="1"/>
            <a:r>
              <a:rPr lang="en-US" altLang="en-US"/>
              <a:t>In the </a:t>
            </a:r>
            <a:r>
              <a:rPr lang="en-US" altLang="en-US" b="1"/>
              <a:t>mid-square</a:t>
            </a:r>
            <a:r>
              <a:rPr lang="en-US" altLang="en-US"/>
              <a:t> method, the key is </a:t>
            </a:r>
            <a:r>
              <a:rPr lang="en-US" altLang="en-US" i="1"/>
              <a:t>squared </a:t>
            </a:r>
            <a:r>
              <a:rPr lang="en-US" altLang="en-US"/>
              <a:t>and the middle or </a:t>
            </a:r>
            <a:r>
              <a:rPr lang="en-US" altLang="en-US" i="1"/>
              <a:t>mid </a:t>
            </a:r>
            <a:r>
              <a:rPr lang="en-US" altLang="en-US"/>
              <a:t>part of the result is used as the address</a:t>
            </a:r>
          </a:p>
          <a:p>
            <a:pPr eaLnBrk="1" hangingPunct="1"/>
            <a:endParaRPr lang="en-US" altLang="en-US"/>
          </a:p>
          <a:p>
            <a:pPr eaLnBrk="1" hangingPunct="1">
              <a:buFontTx/>
              <a:buNone/>
            </a:pPr>
            <a:r>
              <a:rPr lang="en-US" altLang="en-US"/>
              <a:t>	</a:t>
            </a:r>
            <a:r>
              <a:rPr lang="en-US" altLang="en-US" u="sng"/>
              <a:t>Example</a:t>
            </a:r>
            <a:r>
              <a:rPr lang="en-US" altLang="en-US"/>
              <a:t> key = 4218    table size = 100</a:t>
            </a:r>
          </a:p>
          <a:p>
            <a:pPr eaLnBrk="1" hangingPunct="1">
              <a:buFontTx/>
              <a:buNone/>
            </a:pPr>
            <a:r>
              <a:rPr lang="en-US" altLang="en-US"/>
              <a:t>       h(k) = mid( 4218</a:t>
            </a:r>
            <a:r>
              <a:rPr lang="en-US" altLang="en-US" baseline="30000"/>
              <a:t>2 </a:t>
            </a:r>
            <a:r>
              <a:rPr lang="en-US" altLang="en-US"/>
              <a:t>) = mid (177</a:t>
            </a:r>
            <a:r>
              <a:rPr lang="en-US" altLang="en-US" b="1"/>
              <a:t>91</a:t>
            </a:r>
            <a:r>
              <a:rPr lang="en-US" altLang="en-US"/>
              <a:t>524) =  91</a:t>
            </a:r>
          </a:p>
          <a:p>
            <a:pPr eaLnBrk="1" hangingPunct="1">
              <a:buFontTx/>
              <a:buNone/>
            </a:pPr>
            <a:endParaRPr lang="en-US" altLang="en-US" sz="2000"/>
          </a:p>
          <a:p>
            <a:pPr eaLnBrk="1" hangingPunct="1">
              <a:buFontTx/>
              <a:buNone/>
            </a:pPr>
            <a:r>
              <a:rPr lang="en-US" altLang="en-US" sz="2000"/>
              <a:t>	  0			…		        91		  …	99</a:t>
            </a:r>
          </a:p>
        </p:txBody>
      </p:sp>
      <p:graphicFrame>
        <p:nvGraphicFramePr>
          <p:cNvPr id="301193" name="Group 137">
            <a:extLst>
              <a:ext uri="{FF2B5EF4-FFF2-40B4-BE49-F238E27FC236}">
                <a16:creationId xmlns:a16="http://schemas.microsoft.com/office/drawing/2014/main" id="{9F4E059B-BB76-4C7B-8165-157798469DAB}"/>
              </a:ext>
            </a:extLst>
          </p:cNvPr>
          <p:cNvGraphicFramePr>
            <a:graphicFrameLocks noGrp="1"/>
          </p:cNvGraphicFramePr>
          <p:nvPr>
            <p:ph sz="half" idx="2"/>
          </p:nvPr>
        </p:nvGraphicFramePr>
        <p:xfrm>
          <a:off x="838200" y="5334000"/>
          <a:ext cx="7543800" cy="457200"/>
        </p:xfrm>
        <a:graphic>
          <a:graphicData uri="http://schemas.openxmlformats.org/drawingml/2006/table">
            <a:tbl>
              <a:tblPr/>
              <a:tblGrid>
                <a:gridCol w="755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00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9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82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70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5088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5565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111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4218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</a:rPr>
                        <a:t>…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Slide Number Placeholder 3">
            <a:extLst>
              <a:ext uri="{FF2B5EF4-FFF2-40B4-BE49-F238E27FC236}">
                <a16:creationId xmlns:a16="http://schemas.microsoft.com/office/drawing/2014/main" id="{29E26D44-C759-4F75-BC84-F68ED5D54AD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4EA5E64A-77BB-4DF0-A8F2-7BCF0D073F4A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50</a:t>
            </a:fld>
            <a:endParaRPr lang="en-US" altLang="en-US" sz="1600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26F4A885-FA8B-4FA8-B8A7-B36E8EE1F9A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Hash Functions (continued)</a:t>
            </a:r>
          </a:p>
        </p:txBody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D323292D-9EE1-4BBE-9418-E8A0B326B0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 the </a:t>
            </a:r>
            <a:r>
              <a:rPr lang="en-US" altLang="en-US" b="1"/>
              <a:t>extraction</a:t>
            </a:r>
            <a:r>
              <a:rPr lang="en-US" altLang="en-US"/>
              <a:t> method, only a part of the key is used to compute the address</a:t>
            </a:r>
          </a:p>
          <a:p>
            <a:pPr eaLnBrk="1" hangingPunct="1"/>
            <a:endParaRPr lang="en-US" altLang="en-US"/>
          </a:p>
          <a:p>
            <a:pPr eaLnBrk="1" hangingPunct="1">
              <a:buFontTx/>
              <a:buNone/>
            </a:pPr>
            <a:r>
              <a:rPr lang="en-US" altLang="en-US"/>
              <a:t>	</a:t>
            </a:r>
            <a:r>
              <a:rPr lang="en-US" altLang="en-US" u="sng"/>
              <a:t>Example</a:t>
            </a:r>
            <a:r>
              <a:rPr lang="en-US" altLang="en-US"/>
              <a:t> key = 281-739-405   table size = 10000</a:t>
            </a:r>
          </a:p>
          <a:p>
            <a:pPr eaLnBrk="1" hangingPunct="1">
              <a:buFontTx/>
              <a:buNone/>
            </a:pPr>
            <a:r>
              <a:rPr lang="en-US" altLang="en-US"/>
              <a:t>	h1(k) = 2817</a:t>
            </a:r>
          </a:p>
          <a:p>
            <a:pPr eaLnBrk="1" hangingPunct="1">
              <a:buFontTx/>
              <a:buNone/>
            </a:pPr>
            <a:r>
              <a:rPr lang="en-US" altLang="en-US"/>
              <a:t>   h2(k)  = 9405</a:t>
            </a:r>
          </a:p>
          <a:p>
            <a:pPr eaLnBrk="1" hangingPunct="1">
              <a:buFontTx/>
              <a:buNone/>
            </a:pPr>
            <a:r>
              <a:rPr lang="en-US" altLang="en-US"/>
              <a:t>   h3(k)  = 2805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Title 1">
            <a:extLst>
              <a:ext uri="{FF2B5EF4-FFF2-40B4-BE49-F238E27FC236}">
                <a16:creationId xmlns:a16="http://schemas.microsoft.com/office/drawing/2014/main" id="{535E57E8-23CB-4F72-9009-ECCF66419C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7411" name="Content Placeholder 2">
            <a:extLst>
              <a:ext uri="{FF2B5EF4-FFF2-40B4-BE49-F238E27FC236}">
                <a16:creationId xmlns:a16="http://schemas.microsoft.com/office/drawing/2014/main" id="{FC951EB4-F020-430D-A059-3CC4E97CEB0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7412" name="Slide Number Placeholder 3">
            <a:extLst>
              <a:ext uri="{FF2B5EF4-FFF2-40B4-BE49-F238E27FC236}">
                <a16:creationId xmlns:a16="http://schemas.microsoft.com/office/drawing/2014/main" id="{C85404D5-DCA1-4EAE-8F2A-D742E03074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D3E6D274-4DAC-496A-9D2E-EBACDA7C4848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51</a:t>
            </a:fld>
            <a:endParaRPr lang="en-US" altLang="en-US" sz="160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>
            <a:extLst>
              <a:ext uri="{FF2B5EF4-FFF2-40B4-BE49-F238E27FC236}">
                <a16:creationId xmlns:a16="http://schemas.microsoft.com/office/drawing/2014/main" id="{E4C38F3A-A44B-4457-81BA-A257AD0E1A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8435" name="Content Placeholder 2">
            <a:extLst>
              <a:ext uri="{FF2B5EF4-FFF2-40B4-BE49-F238E27FC236}">
                <a16:creationId xmlns:a16="http://schemas.microsoft.com/office/drawing/2014/main" id="{AF60DFA5-16C5-4C7A-B1FF-6505CBA00A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8436" name="Slide Number Placeholder 3">
            <a:extLst>
              <a:ext uri="{FF2B5EF4-FFF2-40B4-BE49-F238E27FC236}">
                <a16:creationId xmlns:a16="http://schemas.microsoft.com/office/drawing/2014/main" id="{18948AD8-DED6-4215-A31B-D979575933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525C9342-9188-4D48-8700-E57E31DE7422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52</a:t>
            </a:fld>
            <a:endParaRPr lang="en-US" altLang="en-US" sz="160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Title 1">
            <a:extLst>
              <a:ext uri="{FF2B5EF4-FFF2-40B4-BE49-F238E27FC236}">
                <a16:creationId xmlns:a16="http://schemas.microsoft.com/office/drawing/2014/main" id="{D6FFE2D2-7F92-42AC-A52D-3945D2DB69A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9459" name="Content Placeholder 2">
            <a:extLst>
              <a:ext uri="{FF2B5EF4-FFF2-40B4-BE49-F238E27FC236}">
                <a16:creationId xmlns:a16="http://schemas.microsoft.com/office/drawing/2014/main" id="{FDB61E1B-0B33-47EC-B58A-8BB6F7939C6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9460" name="Slide Number Placeholder 3">
            <a:extLst>
              <a:ext uri="{FF2B5EF4-FFF2-40B4-BE49-F238E27FC236}">
                <a16:creationId xmlns:a16="http://schemas.microsoft.com/office/drawing/2014/main" id="{95A75FFD-6312-4F3C-9978-08B2FF0CEF8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EB185A55-AC55-4EF1-A493-FD6A3CA6C7A2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53</a:t>
            </a:fld>
            <a:endParaRPr lang="en-US" altLang="en-US" sz="160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593759D7-4C37-4E65-9AA3-11DE8303EA5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42293046-7047-4AD1-8FDB-3A9B67743F7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0484" name="Slide Number Placeholder 3">
            <a:extLst>
              <a:ext uri="{FF2B5EF4-FFF2-40B4-BE49-F238E27FC236}">
                <a16:creationId xmlns:a16="http://schemas.microsoft.com/office/drawing/2014/main" id="{0AE9D882-95DD-48B2-9DE6-F012AD19485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12669CA0-6AFA-4EFD-A706-ADE3693ADBB4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54</a:t>
            </a:fld>
            <a:endParaRPr lang="en-US" altLang="en-US" sz="160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itle 1">
            <a:extLst>
              <a:ext uri="{FF2B5EF4-FFF2-40B4-BE49-F238E27FC236}">
                <a16:creationId xmlns:a16="http://schemas.microsoft.com/office/drawing/2014/main" id="{E07E8EC8-B8D3-4900-BA4A-DC4A60FB80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1507" name="Content Placeholder 2">
            <a:extLst>
              <a:ext uri="{FF2B5EF4-FFF2-40B4-BE49-F238E27FC236}">
                <a16:creationId xmlns:a16="http://schemas.microsoft.com/office/drawing/2014/main" id="{A2DC5EF5-6609-4E04-B1B4-A0497D09EBA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832F8316-1BC9-43E6-8D13-83C23A7803B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1ADC6479-B7D5-48B4-BDDD-9F0FB3A992B0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55</a:t>
            </a:fld>
            <a:endParaRPr lang="en-US" altLang="en-US" sz="160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B744A07E-C9E3-406D-A07B-54C34C5B5F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2531" name="Content Placeholder 2">
            <a:extLst>
              <a:ext uri="{FF2B5EF4-FFF2-40B4-BE49-F238E27FC236}">
                <a16:creationId xmlns:a16="http://schemas.microsoft.com/office/drawing/2014/main" id="{6B63599F-5A18-48FD-B64F-2512E2BC60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2532" name="Slide Number Placeholder 3">
            <a:extLst>
              <a:ext uri="{FF2B5EF4-FFF2-40B4-BE49-F238E27FC236}">
                <a16:creationId xmlns:a16="http://schemas.microsoft.com/office/drawing/2014/main" id="{F92E500C-D4E4-4BED-B832-2C9BD7DF00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587B6C69-4397-46E0-A7FA-9C6352C180C1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56</a:t>
            </a:fld>
            <a:endParaRPr lang="en-US" altLang="en-US" sz="160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564FA31C-7BC3-4D58-9568-871DE9660C6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582B5CD9-AD64-4042-9F82-873271694EB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3556" name="Slide Number Placeholder 3">
            <a:extLst>
              <a:ext uri="{FF2B5EF4-FFF2-40B4-BE49-F238E27FC236}">
                <a16:creationId xmlns:a16="http://schemas.microsoft.com/office/drawing/2014/main" id="{5AA89CE5-C336-403F-ADC0-6CD6B9F41F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3849608E-D3E4-4E4C-93E6-3D913E6A199C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57</a:t>
            </a:fld>
            <a:endParaRPr lang="en-US" altLang="en-US" sz="160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B1BFE32C-6B06-4DD6-91CE-EEB1F18A22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2A719623-63EB-485E-8BB4-435717250F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45EEC63B-DED3-47E6-A38C-5281C5EE3E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F394D13E-FF70-49D5-9BDF-2FCC6FE4E06F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58</a:t>
            </a:fld>
            <a:endParaRPr lang="en-US" altLang="en-US" sz="160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B8324720-F51A-435F-8FB4-CAFEE403141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2A899E5E-C566-4C70-893C-6E075D15F2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5604" name="Slide Number Placeholder 3">
            <a:extLst>
              <a:ext uri="{FF2B5EF4-FFF2-40B4-BE49-F238E27FC236}">
                <a16:creationId xmlns:a16="http://schemas.microsoft.com/office/drawing/2014/main" id="{547C0B3C-2153-4D9A-887E-BC847A683BA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C1EB85BD-47B5-49DE-8DB4-A672E24F5291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59</a:t>
            </a:fld>
            <a:endParaRPr lang="en-US" altLang="en-US" sz="160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FD455259-55D5-47F8-95E9-76FA2973104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6627" name="Content Placeholder 2">
            <a:extLst>
              <a:ext uri="{FF2B5EF4-FFF2-40B4-BE49-F238E27FC236}">
                <a16:creationId xmlns:a16="http://schemas.microsoft.com/office/drawing/2014/main" id="{561EE782-5875-4812-849B-18E88A7954F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6628" name="Slide Number Placeholder 3">
            <a:extLst>
              <a:ext uri="{FF2B5EF4-FFF2-40B4-BE49-F238E27FC236}">
                <a16:creationId xmlns:a16="http://schemas.microsoft.com/office/drawing/2014/main" id="{6AABA6A8-B539-47A5-BAFA-14188F65B9B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C396E2B0-2A9F-4F16-BBD9-B5BF4AEBAF3A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60</a:t>
            </a:fld>
            <a:endParaRPr lang="en-US" altLang="en-US" sz="160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57498401-6CAB-4F94-B5B9-40900D83C7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0EFD58FC-95DA-4428-878C-95CEBD480E3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7652" name="Slide Number Placeholder 3">
            <a:extLst>
              <a:ext uri="{FF2B5EF4-FFF2-40B4-BE49-F238E27FC236}">
                <a16:creationId xmlns:a16="http://schemas.microsoft.com/office/drawing/2014/main" id="{51F41FA4-CBCE-4A0E-90FD-55D171473B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57CF829F-E711-43BD-8854-D7D2578324CF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61</a:t>
            </a:fld>
            <a:endParaRPr lang="en-US" altLang="en-US" sz="160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Number Placeholder 3">
            <a:extLst>
              <a:ext uri="{FF2B5EF4-FFF2-40B4-BE49-F238E27FC236}">
                <a16:creationId xmlns:a16="http://schemas.microsoft.com/office/drawing/2014/main" id="{96ADC108-DB37-49BF-BAFD-2E8AD34D8E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E543A49C-34CC-4D93-987B-946A2CEC9A79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62</a:t>
            </a:fld>
            <a:endParaRPr lang="en-US" altLang="en-US" sz="1600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2ABFBAE0-BBC0-437B-9E79-AF54F500B6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Hash Functions (continued)</a:t>
            </a:r>
          </a:p>
        </p:txBody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9F3FA6E6-D703-4A8E-8452-39253EE86C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Using the </a:t>
            </a:r>
            <a:r>
              <a:rPr lang="en-US" altLang="en-US" b="1"/>
              <a:t>radix transformation</a:t>
            </a:r>
            <a:r>
              <a:rPr lang="en-US" altLang="en-US"/>
              <a:t>, the key </a:t>
            </a:r>
            <a:r>
              <a:rPr lang="en-US" altLang="en-US" i="1"/>
              <a:t>K </a:t>
            </a:r>
            <a:r>
              <a:rPr lang="en-US" altLang="en-US"/>
              <a:t>is transformed into another number base; </a:t>
            </a:r>
            <a:r>
              <a:rPr lang="en-US" altLang="en-US" i="1"/>
              <a:t>K </a:t>
            </a:r>
            <a:r>
              <a:rPr lang="en-US" altLang="en-US"/>
              <a:t>is expressed in a numerical system using a different radix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149">
            <a:extLst>
              <a:ext uri="{FF2B5EF4-FFF2-40B4-BE49-F238E27FC236}">
                <a16:creationId xmlns:a16="http://schemas.microsoft.com/office/drawing/2014/main" id="{CEFB3B9D-FE36-417B-A2AF-F44672B7A4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381000"/>
            <a:ext cx="7772400" cy="609600"/>
          </a:xfr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eaLnBrk="1" hangingPunct="1"/>
            <a:r>
              <a:rPr lang="en-US" altLang="en-US" sz="4000" b="1"/>
              <a:t>Hash functions</a:t>
            </a:r>
          </a:p>
        </p:txBody>
      </p:sp>
      <p:sp>
        <p:nvSpPr>
          <p:cNvPr id="29699" name="Text Box 223">
            <a:extLst>
              <a:ext uri="{FF2B5EF4-FFF2-40B4-BE49-F238E27FC236}">
                <a16:creationId xmlns:a16="http://schemas.microsoft.com/office/drawing/2014/main" id="{F184E7C9-57DC-4792-A56F-5A38F0BA9E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2209800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Arial Unicode MS" pitchFamily="34" charset="-128"/>
              </a:rPr>
              <a:t>123456789 % TSize</a:t>
            </a:r>
          </a:p>
        </p:txBody>
      </p:sp>
      <p:sp>
        <p:nvSpPr>
          <p:cNvPr id="29700" name="Text Box 224">
            <a:extLst>
              <a:ext uri="{FF2B5EF4-FFF2-40B4-BE49-F238E27FC236}">
                <a16:creationId xmlns:a16="http://schemas.microsoft.com/office/drawing/2014/main" id="{BD1FBC61-D09E-43C2-863A-3EF60CAAF3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209800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Arial Unicode MS" pitchFamily="34" charset="-128"/>
              </a:rPr>
              <a:t>division</a:t>
            </a:r>
          </a:p>
        </p:txBody>
      </p:sp>
      <p:sp>
        <p:nvSpPr>
          <p:cNvPr id="29701" name="Text Box 225">
            <a:extLst>
              <a:ext uri="{FF2B5EF4-FFF2-40B4-BE49-F238E27FC236}">
                <a16:creationId xmlns:a16="http://schemas.microsoft.com/office/drawing/2014/main" id="{307A6168-9927-4BC4-8FEC-9C6D42232B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2971800"/>
            <a:ext cx="449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Arial Unicode MS" pitchFamily="34" charset="-128"/>
              </a:rPr>
              <a:t>(123 + 456 + 789) % TSize</a:t>
            </a:r>
          </a:p>
        </p:txBody>
      </p:sp>
      <p:sp>
        <p:nvSpPr>
          <p:cNvPr id="29702" name="Text Box 226">
            <a:extLst>
              <a:ext uri="{FF2B5EF4-FFF2-40B4-BE49-F238E27FC236}">
                <a16:creationId xmlns:a16="http://schemas.microsoft.com/office/drawing/2014/main" id="{C5D25E72-A206-4C90-ACCA-8D8CE36830F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2971800"/>
            <a:ext cx="1828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Arial Unicode MS" pitchFamily="34" charset="-128"/>
              </a:rPr>
              <a:t>shift folding</a:t>
            </a:r>
          </a:p>
        </p:txBody>
      </p:sp>
      <p:sp>
        <p:nvSpPr>
          <p:cNvPr id="29703" name="Text Box 227">
            <a:extLst>
              <a:ext uri="{FF2B5EF4-FFF2-40B4-BE49-F238E27FC236}">
                <a16:creationId xmlns:a16="http://schemas.microsoft.com/office/drawing/2014/main" id="{37DC1CDC-0A49-44E3-A91D-FF01E071FD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3810000"/>
            <a:ext cx="449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Arial Unicode MS" pitchFamily="34" charset="-128"/>
              </a:rPr>
              <a:t>(123 + 654 + 789) % TSize</a:t>
            </a:r>
          </a:p>
        </p:txBody>
      </p:sp>
      <p:sp>
        <p:nvSpPr>
          <p:cNvPr id="29704" name="Text Box 228">
            <a:extLst>
              <a:ext uri="{FF2B5EF4-FFF2-40B4-BE49-F238E27FC236}">
                <a16:creationId xmlns:a16="http://schemas.microsoft.com/office/drawing/2014/main" id="{3F9161B4-9C45-4B2E-B155-211BDBF04A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10000"/>
            <a:ext cx="259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Arial Unicode MS" pitchFamily="34" charset="-128"/>
              </a:rPr>
              <a:t>boundary folding</a:t>
            </a:r>
          </a:p>
        </p:txBody>
      </p:sp>
      <p:sp>
        <p:nvSpPr>
          <p:cNvPr id="29705" name="Text Box 229">
            <a:extLst>
              <a:ext uri="{FF2B5EF4-FFF2-40B4-BE49-F238E27FC236}">
                <a16:creationId xmlns:a16="http://schemas.microsoft.com/office/drawing/2014/main" id="{CF0D8F98-9F0A-4484-9879-FE5CF16923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4800" y="4648200"/>
            <a:ext cx="4495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Arial Unicode MS" pitchFamily="34" charset="-128"/>
              </a:rPr>
              <a:t>5478 % TSize</a:t>
            </a:r>
          </a:p>
        </p:txBody>
      </p:sp>
      <p:sp>
        <p:nvSpPr>
          <p:cNvPr id="29706" name="Text Box 230">
            <a:extLst>
              <a:ext uri="{FF2B5EF4-FFF2-40B4-BE49-F238E27FC236}">
                <a16:creationId xmlns:a16="http://schemas.microsoft.com/office/drawing/2014/main" id="{4084FDA3-7D3F-4D05-85E6-21EC1A5A9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4648200"/>
            <a:ext cx="259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Arial Unicode MS" pitchFamily="34" charset="-128"/>
              </a:rPr>
              <a:t>extraction</a:t>
            </a:r>
          </a:p>
        </p:txBody>
      </p:sp>
      <p:sp>
        <p:nvSpPr>
          <p:cNvPr id="29707" name="Text Box 248">
            <a:extLst>
              <a:ext uri="{FF2B5EF4-FFF2-40B4-BE49-F238E27FC236}">
                <a16:creationId xmlns:a16="http://schemas.microsoft.com/office/drawing/2014/main" id="{3D7BEE7B-7C45-494E-BC31-7E61ACE263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1800" y="1447800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2400">
                <a:latin typeface="Arial Unicode MS" pitchFamily="34" charset="-128"/>
              </a:rPr>
              <a:t>K = 123456789</a:t>
            </a:r>
          </a:p>
        </p:txBody>
      </p:sp>
      <p:sp>
        <p:nvSpPr>
          <p:cNvPr id="29708" name="Date Placeholder 3">
            <a:extLst>
              <a:ext uri="{FF2B5EF4-FFF2-40B4-BE49-F238E27FC236}">
                <a16:creationId xmlns:a16="http://schemas.microsoft.com/office/drawing/2014/main" id="{A4F1E137-55B3-4B08-9276-9CE66A43F13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228600" y="6381750"/>
            <a:ext cx="86868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Comic Sans MS" panose="030F0702030302020204" pitchFamily="66" charset="0"/>
              </a:rPr>
              <a:t>Data Structures and Algorithms in Java, Third Edition			Ch10</a:t>
            </a:r>
            <a:r>
              <a:rPr lang="en-US" altLang="en-US" sz="1400" b="1">
                <a:latin typeface="Calibri" panose="020F0502020204030204" pitchFamily="34" charset="0"/>
              </a:rPr>
              <a:t>–</a:t>
            </a:r>
            <a:fld id="{BF753516-7E56-47F9-BB32-723442CAD77E}" type="slidenum">
              <a:rPr lang="en-US" altLang="en-US" sz="1400" b="1" smtClean="0">
                <a:latin typeface="Comic Sans MS" panose="030F0702030302020204" pitchFamily="66" charset="0"/>
              </a:rPr>
              <a:pPr>
                <a:spcBef>
                  <a:spcPct val="0"/>
                </a:spcBef>
                <a:buFontTx/>
                <a:buNone/>
              </a:pPr>
              <a:t>63</a:t>
            </a:fld>
            <a:endParaRPr lang="en-US" altLang="en-US" sz="1400" b="1">
              <a:latin typeface="Comic Sans MS" panose="030F0702030302020204" pitchFamily="66" charset="0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Number Placeholder 3">
            <a:extLst>
              <a:ext uri="{FF2B5EF4-FFF2-40B4-BE49-F238E27FC236}">
                <a16:creationId xmlns:a16="http://schemas.microsoft.com/office/drawing/2014/main" id="{3066B944-AA93-48DD-A781-C5167D56FFD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80C0D54B-E008-468B-A0DA-520300DC03FF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64</a:t>
            </a:fld>
            <a:endParaRPr lang="en-US" altLang="en-US" sz="1600"/>
          </a:p>
        </p:txBody>
      </p:sp>
      <p:sp>
        <p:nvSpPr>
          <p:cNvPr id="31747" name="Rectangle 2">
            <a:extLst>
              <a:ext uri="{FF2B5EF4-FFF2-40B4-BE49-F238E27FC236}">
                <a16:creationId xmlns:a16="http://schemas.microsoft.com/office/drawing/2014/main" id="{83378E53-DC11-48E9-AA5E-B27F9164562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Collision Resolution</a:t>
            </a:r>
          </a:p>
        </p:txBody>
      </p:sp>
      <p:sp>
        <p:nvSpPr>
          <p:cNvPr id="31748" name="Rectangle 3">
            <a:extLst>
              <a:ext uri="{FF2B5EF4-FFF2-40B4-BE49-F238E27FC236}">
                <a16:creationId xmlns:a16="http://schemas.microsoft.com/office/drawing/2014/main" id="{CEF77165-D87E-4877-9EE2-1696DEA7BC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 the </a:t>
            </a:r>
            <a:r>
              <a:rPr lang="en-US" altLang="en-US" b="1"/>
              <a:t>open addressing</a:t>
            </a:r>
            <a:r>
              <a:rPr lang="en-US" altLang="en-US"/>
              <a:t> method, when a key collides with another key, the collision is resolved by finding an available table entry other than the position (address) to which the colliding key is originally hashed</a:t>
            </a:r>
          </a:p>
          <a:p>
            <a:pPr eaLnBrk="1" hangingPunct="1"/>
            <a:r>
              <a:rPr lang="en-US" altLang="en-US"/>
              <a:t>The simplest method is </a:t>
            </a:r>
            <a:r>
              <a:rPr lang="en-US" altLang="en-US" b="1"/>
              <a:t>linear probing</a:t>
            </a:r>
            <a:r>
              <a:rPr lang="en-US" altLang="en-US" i="1"/>
              <a:t>, </a:t>
            </a:r>
            <a:r>
              <a:rPr lang="en-US" altLang="en-US"/>
              <a:t>for which </a:t>
            </a:r>
            <a:r>
              <a:rPr lang="en-US" altLang="en-US" i="1"/>
              <a:t>p</a:t>
            </a:r>
            <a:r>
              <a:rPr lang="en-US" altLang="en-US"/>
              <a:t>(</a:t>
            </a:r>
            <a:r>
              <a:rPr lang="en-US" altLang="en-US" i="1"/>
              <a:t>i</a:t>
            </a:r>
            <a:r>
              <a:rPr lang="en-US" altLang="en-US"/>
              <a:t>) = </a:t>
            </a:r>
            <a:r>
              <a:rPr lang="en-US" altLang="en-US" i="1"/>
              <a:t>i, </a:t>
            </a:r>
            <a:r>
              <a:rPr lang="en-US" altLang="en-US"/>
              <a:t>and for the </a:t>
            </a:r>
            <a:r>
              <a:rPr lang="en-US" altLang="en-US" i="1"/>
              <a:t>i</a:t>
            </a:r>
            <a:r>
              <a:rPr lang="en-US" altLang="en-US"/>
              <a:t>th probe, the position to be tried is (</a:t>
            </a:r>
            <a:r>
              <a:rPr lang="en-US" altLang="en-US" i="1"/>
              <a:t>h</a:t>
            </a:r>
            <a:r>
              <a:rPr lang="en-US" altLang="en-US"/>
              <a:t>(</a:t>
            </a:r>
            <a:r>
              <a:rPr lang="en-US" altLang="en-US" i="1"/>
              <a:t>K</a:t>
            </a:r>
            <a:r>
              <a:rPr lang="en-US" altLang="en-US"/>
              <a:t>) + </a:t>
            </a:r>
            <a:r>
              <a:rPr lang="en-US" altLang="en-US" i="1"/>
              <a:t>i</a:t>
            </a:r>
            <a:r>
              <a:rPr lang="en-US" altLang="en-US"/>
              <a:t>) mod </a:t>
            </a:r>
            <a:r>
              <a:rPr lang="en-US" altLang="en-US" i="1"/>
              <a:t>TSize</a:t>
            </a:r>
            <a:endParaRPr lang="en-US" altLang="en-US"/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8F8294DF-C5F2-4AB0-96A1-8EDF0F43E4A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457200" y="228600"/>
            <a:ext cx="8153400" cy="533400"/>
          </a:xfrm>
          <a:noFill/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 lIns="92075" tIns="46038" rIns="92075" bIns="46038"/>
          <a:lstStyle/>
          <a:p>
            <a:pPr eaLnBrk="1" hangingPunct="1"/>
            <a:r>
              <a:rPr lang="en-US" altLang="en-US" sz="3600" b="1"/>
              <a:t>Collision resolution: linear probing</a:t>
            </a:r>
          </a:p>
        </p:txBody>
      </p:sp>
      <p:sp>
        <p:nvSpPr>
          <p:cNvPr id="32771" name="Rectangle 6">
            <a:extLst>
              <a:ext uri="{FF2B5EF4-FFF2-40B4-BE49-F238E27FC236}">
                <a16:creationId xmlns:a16="http://schemas.microsoft.com/office/drawing/2014/main" id="{DC5388BE-3AAC-4DA2-B4CE-739639DEFDB2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3429000" y="990600"/>
            <a:ext cx="1981200" cy="3048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US" sz="2000">
                <a:latin typeface="Arial Unicode MS" pitchFamily="34" charset="-128"/>
              </a:rPr>
              <a:t>h(K) = K % 10</a:t>
            </a:r>
          </a:p>
        </p:txBody>
      </p:sp>
      <p:graphicFrame>
        <p:nvGraphicFramePr>
          <p:cNvPr id="9248" name="Group 32">
            <a:extLst>
              <a:ext uri="{FF2B5EF4-FFF2-40B4-BE49-F238E27FC236}">
                <a16:creationId xmlns:a16="http://schemas.microsoft.com/office/drawing/2014/main" id="{3CB98F96-5E90-46A8-8E60-005A2E03DCF9}"/>
              </a:ext>
            </a:extLst>
          </p:cNvPr>
          <p:cNvGraphicFramePr>
            <a:graphicFrameLocks noGrp="1"/>
          </p:cNvGraphicFramePr>
          <p:nvPr/>
        </p:nvGraphicFramePr>
        <p:xfrm>
          <a:off x="2895600" y="2286000"/>
          <a:ext cx="457200" cy="40640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9292" name="Group 76">
            <a:extLst>
              <a:ext uri="{FF2B5EF4-FFF2-40B4-BE49-F238E27FC236}">
                <a16:creationId xmlns:a16="http://schemas.microsoft.com/office/drawing/2014/main" id="{5FF12944-6C1C-4CB7-A023-CA720719D9B1}"/>
              </a:ext>
            </a:extLst>
          </p:cNvPr>
          <p:cNvGraphicFramePr>
            <a:graphicFrameLocks noGrp="1"/>
          </p:cNvGraphicFramePr>
          <p:nvPr/>
        </p:nvGraphicFramePr>
        <p:xfrm>
          <a:off x="2438400" y="2286000"/>
          <a:ext cx="457200" cy="40640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6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7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9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317" name="Rectangle 101">
            <a:extLst>
              <a:ext uri="{FF2B5EF4-FFF2-40B4-BE49-F238E27FC236}">
                <a16:creationId xmlns:a16="http://schemas.microsoft.com/office/drawing/2014/main" id="{1FF2C46D-9AB3-4FBC-8331-2C68B0E79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1600200"/>
            <a:ext cx="457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1800">
                <a:latin typeface="Arial Unicode MS" pitchFamily="34" charset="-128"/>
              </a:rPr>
              <a:t>33</a:t>
            </a:r>
          </a:p>
        </p:txBody>
      </p:sp>
      <p:sp>
        <p:nvSpPr>
          <p:cNvPr id="9318" name="Rectangle 102">
            <a:extLst>
              <a:ext uri="{FF2B5EF4-FFF2-40B4-BE49-F238E27FC236}">
                <a16:creationId xmlns:a16="http://schemas.microsoft.com/office/drawing/2014/main" id="{5E850465-A954-4B4C-9043-3CB956191B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1600200"/>
            <a:ext cx="457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1800">
                <a:latin typeface="Arial Unicode MS" pitchFamily="34" charset="-128"/>
              </a:rPr>
              <a:t>16</a:t>
            </a:r>
          </a:p>
        </p:txBody>
      </p:sp>
      <p:sp>
        <p:nvSpPr>
          <p:cNvPr id="9319" name="Rectangle 103">
            <a:extLst>
              <a:ext uri="{FF2B5EF4-FFF2-40B4-BE49-F238E27FC236}">
                <a16:creationId xmlns:a16="http://schemas.microsoft.com/office/drawing/2014/main" id="{A8102217-53C3-4852-9BC8-2C680467D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1600200"/>
            <a:ext cx="457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1800">
                <a:latin typeface="Arial Unicode MS" pitchFamily="34" charset="-128"/>
              </a:rPr>
              <a:t>23</a:t>
            </a:r>
          </a:p>
        </p:txBody>
      </p:sp>
      <p:sp>
        <p:nvSpPr>
          <p:cNvPr id="9320" name="Rectangle 104">
            <a:extLst>
              <a:ext uri="{FF2B5EF4-FFF2-40B4-BE49-F238E27FC236}">
                <a16:creationId xmlns:a16="http://schemas.microsoft.com/office/drawing/2014/main" id="{D2F9C647-55EA-47E4-BB70-5E5B910243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1600200"/>
            <a:ext cx="457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1800">
                <a:latin typeface="Arial Unicode MS" pitchFamily="34" charset="-128"/>
              </a:rPr>
              <a:t>27</a:t>
            </a:r>
          </a:p>
        </p:txBody>
      </p:sp>
      <p:sp>
        <p:nvSpPr>
          <p:cNvPr id="9321" name="Rectangle 105">
            <a:extLst>
              <a:ext uri="{FF2B5EF4-FFF2-40B4-BE49-F238E27FC236}">
                <a16:creationId xmlns:a16="http://schemas.microsoft.com/office/drawing/2014/main" id="{2D7E2768-EDFC-47A1-881B-0B198ABF4B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1600200"/>
            <a:ext cx="457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1800">
                <a:latin typeface="Arial Unicode MS" pitchFamily="34" charset="-128"/>
              </a:rPr>
              <a:t>26</a:t>
            </a:r>
          </a:p>
        </p:txBody>
      </p:sp>
      <p:sp>
        <p:nvSpPr>
          <p:cNvPr id="9322" name="Rectangle 106">
            <a:extLst>
              <a:ext uri="{FF2B5EF4-FFF2-40B4-BE49-F238E27FC236}">
                <a16:creationId xmlns:a16="http://schemas.microsoft.com/office/drawing/2014/main" id="{B1CB224B-EEB0-4536-A0F9-38E2BDEA89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1600200"/>
            <a:ext cx="457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1800">
                <a:latin typeface="Arial Unicode MS" pitchFamily="34" charset="-128"/>
              </a:rPr>
              <a:t>79</a:t>
            </a:r>
          </a:p>
        </p:txBody>
      </p:sp>
      <p:sp>
        <p:nvSpPr>
          <p:cNvPr id="9323" name="Rectangle 107">
            <a:extLst>
              <a:ext uri="{FF2B5EF4-FFF2-40B4-BE49-F238E27FC236}">
                <a16:creationId xmlns:a16="http://schemas.microsoft.com/office/drawing/2014/main" id="{81A74EF1-DB84-4CE9-9DBA-D9315C9A1D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1600200"/>
            <a:ext cx="457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1800">
                <a:latin typeface="Arial Unicode MS" pitchFamily="34" charset="-128"/>
              </a:rPr>
              <a:t>88</a:t>
            </a:r>
          </a:p>
        </p:txBody>
      </p:sp>
      <p:sp>
        <p:nvSpPr>
          <p:cNvPr id="32814" name="Date Placeholder 3">
            <a:extLst>
              <a:ext uri="{FF2B5EF4-FFF2-40B4-BE49-F238E27FC236}">
                <a16:creationId xmlns:a16="http://schemas.microsoft.com/office/drawing/2014/main" id="{60B2C1D8-B24D-4511-85BB-27AC7DEAE215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228600" y="6381750"/>
            <a:ext cx="8686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Comic Sans MS" panose="030F0702030302020204" pitchFamily="66" charset="0"/>
              </a:rPr>
              <a:t>Data Structures and Algorithms in Java, Third Edition			Ch10</a:t>
            </a:r>
            <a:r>
              <a:rPr lang="en-US" altLang="en-US" sz="1400" b="1">
                <a:latin typeface="Calibri" panose="020F0502020204030204" pitchFamily="34" charset="0"/>
              </a:rPr>
              <a:t>–</a:t>
            </a:r>
            <a:fld id="{75EB016A-2F32-418C-98C2-2B5C987E7919}" type="slidenum">
              <a:rPr lang="en-US" altLang="en-US" sz="1400" b="1">
                <a:latin typeface="Comic Sans MS" panose="030F0702030302020204" pitchFamily="66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65</a:t>
            </a:fld>
            <a:endParaRPr lang="en-US" altLang="en-US" sz="1400" b="1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7.51445E-7 C 0.00348 0.0837 0.00695 0.16786 -0.00434 0.2148 C -0.01545 0.2615 -0.04791 0.26844 -0.06666 0.28116 C -0.08541 0.2941 -0.10121 0.29179 -0.11666 0.29017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93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03" y="147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7.51445E-7 C -0.00816 0.15838 -0.01615 0.31699 -0.03108 0.39537 C -0.04601 0.47376 -0.06875 0.45757 -0.0901 0.47006 C -0.11128 0.48277 -0.1467 0.47006 -0.15833 0.47006 " pathEditMode="relative" rAng="0" ptsTypes="aaaA">
                                      <p:cBhvr>
                                        <p:cTn id="10" dur="2000" fill="hold"/>
                                        <p:tgtEl>
                                          <p:spTgt spid="93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17" y="24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7.51445E-7 C -0.00729 0.15561 -0.01459 0.31121 -0.03334 0.39722 C -0.05209 0.48324 -0.08507 0.4941 -0.11285 0.51607 C -0.14063 0.53827 -0.17032 0.53364 -0.2 0.52925 " pathEditMode="relative" rAng="0" ptsTypes="aaaA">
                                      <p:cBhvr>
                                        <p:cTn id="14" dur="2000" fill="hold"/>
                                        <p:tgtEl>
                                          <p:spTgt spid="93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00" y="269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7.51445E-7 C 0.00313 0.07306 0.00625 0.14659 -0.01406 0.19329 C -0.03437 0.23977 -0.08836 0.2622 -0.1217 0.27907 C -0.1552 0.29595 -0.2085 0.28879 -0.2151 0.29457 C -0.22187 0.30011 -0.16475 0.30613 -0.16215 0.31422 C -0.15955 0.32208 -0.18628 0.33711 -0.19965 0.34289 C -0.21302 0.34867 -0.22743 0.3489 -0.24166 0.34959 " pathEditMode="relative" rAng="0" ptsTypes="aaaaaaA">
                                      <p:cBhvr>
                                        <p:cTn id="18" dur="3000" fill="hold"/>
                                        <p:tgtEl>
                                          <p:spTgt spid="93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71" y="174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7.51445E-7 C -0.00764 0.13272 -0.0151 0.26543 -0.04132 0.34104 C -0.06771 0.41642 -0.12222 0.43468 -0.15851 0.45341 C -0.19479 0.47191 -0.25122 0.44855 -0.25833 0.45341 C -0.26528 0.45803 -0.2 0.46983 -0.19965 0.48139 C -0.19948 0.49295 -0.25747 0.51052 -0.2566 0.52231 C -0.25573 0.5341 -0.19028 0.54081 -0.19479 0.5526 C -0.19931 0.56439 -0.24149 0.57896 -0.28333 0.59376 " pathEditMode="relative" rAng="0" ptsTypes="aaaaaaaA">
                                      <p:cBhvr>
                                        <p:cTn id="22" dur="3000" fill="hold"/>
                                        <p:tgtEl>
                                          <p:spTgt spid="93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167" y="296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7.51445E-7 C -0.00278 0.18451 -0.00556 0.36971 -0.03802 0.47468 C -0.07049 0.57988 -0.14723 0.60162 -0.19497 0.63098 C -0.24289 0.66035 -0.28403 0.65503 -0.325 0.64994 " pathEditMode="relative" rAng="0" ptsTypes="aaaA">
                                      <p:cBhvr>
                                        <p:cTn id="26" dur="2000" fill="hold"/>
                                        <p:tgtEl>
                                          <p:spTgt spid="93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50" y="330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7.22222E-6 -4.9711E-6 C 0.00122 0.17781 0.00261 0.35584 -0.0302 0.45018 C -0.06301 0.54451 -0.14496 0.54613 -0.19687 0.56648 C -0.24878 0.58683 -0.32725 0.56671 -0.34131 0.57272 C -0.35538 0.57873 -0.28107 0.59145 -0.28107 0.60232 C -0.28107 0.61318 -0.35729 0.64833 -0.34131 0.63839 C -0.32534 0.62844 -0.21614 0.62382 -0.18576 0.54313 C -0.15538 0.46243 -0.12847 0.22544 -0.15885 0.15422 C -0.18923 0.08301 -0.27881 0.09966 -0.36822 0.1163 " pathEditMode="relative" ptsTypes="aaaaaaaaA">
                                      <p:cBhvr>
                                        <p:cTn id="30" dur="3000" fill="hold"/>
                                        <p:tgtEl>
                                          <p:spTgt spid="93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317" grpId="0"/>
      <p:bldP spid="9318" grpId="0"/>
      <p:bldP spid="9319" grpId="0"/>
      <p:bldP spid="9320" grpId="0"/>
      <p:bldP spid="9321" grpId="0"/>
      <p:bldP spid="9322" grpId="0"/>
      <p:bldP spid="9323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Slide Number Placeholder 3">
            <a:extLst>
              <a:ext uri="{FF2B5EF4-FFF2-40B4-BE49-F238E27FC236}">
                <a16:creationId xmlns:a16="http://schemas.microsoft.com/office/drawing/2014/main" id="{563C2A55-1383-4D7C-B5C8-72476501D96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ECD59B1A-9D2A-4C74-9721-AE82A90B06AA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66</a:t>
            </a:fld>
            <a:endParaRPr lang="en-US" altLang="en-US" sz="1600"/>
          </a:p>
        </p:txBody>
      </p:sp>
      <p:sp>
        <p:nvSpPr>
          <p:cNvPr id="34819" name="Rectangle 2">
            <a:extLst>
              <a:ext uri="{FF2B5EF4-FFF2-40B4-BE49-F238E27FC236}">
                <a16:creationId xmlns:a16="http://schemas.microsoft.com/office/drawing/2014/main" id="{74CED7E7-73D2-4511-ACC4-D4FB91A171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Collision Resolution (continued)</a:t>
            </a:r>
          </a:p>
        </p:txBody>
      </p:sp>
      <p:sp>
        <p:nvSpPr>
          <p:cNvPr id="34820" name="Text Box 4">
            <a:extLst>
              <a:ext uri="{FF2B5EF4-FFF2-40B4-BE49-F238E27FC236}">
                <a16:creationId xmlns:a16="http://schemas.microsoft.com/office/drawing/2014/main" id="{CA9EF2CB-18DE-467E-B3A0-5A7F8DB0DA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3400" y="5089525"/>
            <a:ext cx="797877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/>
              <a:t>Figure 10-1 Resolving collisions with the linear probing method. </a:t>
            </a:r>
            <a:br>
              <a:rPr lang="en-US" altLang="en-US" sz="2000" b="1"/>
            </a:br>
            <a:r>
              <a:rPr lang="en-US" altLang="en-US" sz="2000" b="1"/>
              <a:t>                     Subscripts indicate the home positions of the keys </a:t>
            </a:r>
            <a:br>
              <a:rPr lang="en-US" altLang="en-US" sz="2000" b="1"/>
            </a:br>
            <a:r>
              <a:rPr lang="en-US" altLang="en-US" sz="2000" b="1"/>
              <a:t>                     being hashed.</a:t>
            </a:r>
          </a:p>
        </p:txBody>
      </p:sp>
      <p:pic>
        <p:nvPicPr>
          <p:cNvPr id="34821" name="Picture 5">
            <a:extLst>
              <a:ext uri="{FF2B5EF4-FFF2-40B4-BE49-F238E27FC236}">
                <a16:creationId xmlns:a16="http://schemas.microsoft.com/office/drawing/2014/main" id="{21D45589-A579-4089-8C4C-9634A4BC65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1371600"/>
            <a:ext cx="6283325" cy="3629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Number Placeholder 3">
            <a:extLst>
              <a:ext uri="{FF2B5EF4-FFF2-40B4-BE49-F238E27FC236}">
                <a16:creationId xmlns:a16="http://schemas.microsoft.com/office/drawing/2014/main" id="{3D912DBF-0958-4226-AD2D-81BE4494AE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9B8F0B23-9650-4E22-B5F3-86790B8E39CA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67</a:t>
            </a:fld>
            <a:endParaRPr lang="en-US" altLang="en-US" sz="1600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36610DBD-81A4-4D70-AF35-914F53F118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Collision Resolution</a:t>
            </a:r>
          </a:p>
        </p:txBody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06B58007-3C0E-473C-A7E4-3E7A813C59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To avoid clustering, one choice is </a:t>
            </a:r>
            <a:r>
              <a:rPr lang="en-US" altLang="en-US" b="1"/>
              <a:t>quadratic probing</a:t>
            </a:r>
            <a:r>
              <a:rPr lang="en-US" altLang="en-US" i="1"/>
              <a:t>, </a:t>
            </a:r>
          </a:p>
          <a:p>
            <a:pPr lvl="1" eaLnBrk="1" hangingPunct="1"/>
            <a:r>
              <a:rPr lang="en-US" altLang="en-US"/>
              <a:t>p(i) = (-1)</a:t>
            </a:r>
            <a:r>
              <a:rPr lang="en-US" altLang="en-US" baseline="30000"/>
              <a:t>i+1</a:t>
            </a:r>
            <a:r>
              <a:rPr lang="en-US" altLang="en-US"/>
              <a:t>(i</a:t>
            </a:r>
            <a:r>
              <a:rPr lang="en-US" altLang="en-US" baseline="30000"/>
              <a:t>2</a:t>
            </a:r>
            <a:r>
              <a:rPr lang="en-US" altLang="en-US"/>
              <a:t>),</a:t>
            </a:r>
          </a:p>
          <a:p>
            <a:pPr lvl="1" eaLnBrk="1" hangingPunct="1"/>
            <a:r>
              <a:rPr lang="en-US" altLang="en-US"/>
              <a:t>h(K) + i</a:t>
            </a:r>
            <a:r>
              <a:rPr lang="en-US" altLang="en-US" baseline="30000"/>
              <a:t>2</a:t>
            </a:r>
            <a:r>
              <a:rPr lang="en-US" altLang="en-US"/>
              <a:t>, h(K) – i</a:t>
            </a:r>
            <a:r>
              <a:rPr lang="en-US" altLang="en-US" baseline="30000"/>
              <a:t>2</a:t>
            </a:r>
            <a:endParaRPr lang="en-US" altLang="en-US"/>
          </a:p>
          <a:p>
            <a:pPr lvl="1" eaLnBrk="1" hangingPunct="1"/>
            <a:r>
              <a:rPr lang="en-US" altLang="en-US"/>
              <a:t>h(K), h(K)+1, h(K)-1, h(K)+4, h(K)-4, …,</a:t>
            </a:r>
          </a:p>
          <a:p>
            <a:pPr lvl="2" eaLnBrk="1" hangingPunct="1">
              <a:buFontTx/>
              <a:buNone/>
            </a:pPr>
            <a:r>
              <a:rPr lang="en-US" altLang="en-US"/>
              <a:t>			h(K) + (Tsize-1)</a:t>
            </a:r>
            <a:r>
              <a:rPr lang="en-US" altLang="en-US" baseline="30000"/>
              <a:t>2</a:t>
            </a:r>
            <a:r>
              <a:rPr lang="en-US" altLang="en-US"/>
              <a:t>, h(K) - (Tsize-1)</a:t>
            </a:r>
            <a:r>
              <a:rPr lang="en-US" altLang="en-US" baseline="30000"/>
              <a:t>2</a:t>
            </a:r>
            <a:r>
              <a:rPr lang="en-US" altLang="en-US"/>
              <a:t>,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Slide Number Placeholder 3">
            <a:extLst>
              <a:ext uri="{FF2B5EF4-FFF2-40B4-BE49-F238E27FC236}">
                <a16:creationId xmlns:a16="http://schemas.microsoft.com/office/drawing/2014/main" id="{09CCE01F-5FC6-463F-8E69-E55B0E46A2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0D302B65-B3CA-4BEA-B744-0228358FF1AE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68</a:t>
            </a:fld>
            <a:endParaRPr lang="en-US" altLang="en-US" sz="1600"/>
          </a:p>
        </p:txBody>
      </p:sp>
      <p:sp>
        <p:nvSpPr>
          <p:cNvPr id="36867" name="Rectangle 2">
            <a:extLst>
              <a:ext uri="{FF2B5EF4-FFF2-40B4-BE49-F238E27FC236}">
                <a16:creationId xmlns:a16="http://schemas.microsoft.com/office/drawing/2014/main" id="{8F51AADD-12E3-4CCE-B85F-03714E3A0F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Collision Resolution (continued)</a:t>
            </a:r>
          </a:p>
        </p:txBody>
      </p:sp>
      <p:sp>
        <p:nvSpPr>
          <p:cNvPr id="36868" name="Text Box 4">
            <a:extLst>
              <a:ext uri="{FF2B5EF4-FFF2-40B4-BE49-F238E27FC236}">
                <a16:creationId xmlns:a16="http://schemas.microsoft.com/office/drawing/2014/main" id="{3115D42C-47C0-4E60-94BA-3A60D0C82B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5410200"/>
            <a:ext cx="73469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/>
              <a:t>Figure 10-2 Using quadratic probing for collision resolution</a:t>
            </a:r>
          </a:p>
        </p:txBody>
      </p:sp>
      <p:pic>
        <p:nvPicPr>
          <p:cNvPr id="36869" name="Picture 5">
            <a:extLst>
              <a:ext uri="{FF2B5EF4-FFF2-40B4-BE49-F238E27FC236}">
                <a16:creationId xmlns:a16="http://schemas.microsoft.com/office/drawing/2014/main" id="{5291F8D8-C39B-4AAA-BD23-C31DF4F7AB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4788" y="1624013"/>
            <a:ext cx="6194425" cy="3609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Number Placeholder 3">
            <a:extLst>
              <a:ext uri="{FF2B5EF4-FFF2-40B4-BE49-F238E27FC236}">
                <a16:creationId xmlns:a16="http://schemas.microsoft.com/office/drawing/2014/main" id="{F1754FF9-9F25-4E09-9BC9-F89909CF20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711FF98B-A497-4DB6-9715-6F55D497F85B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69</a:t>
            </a:fld>
            <a:endParaRPr lang="en-US" altLang="en-US" sz="1600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22FCC353-4F63-4794-94D8-442AA83D4D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382000" cy="4525963"/>
          </a:xfrm>
        </p:spPr>
        <p:txBody>
          <a:bodyPr/>
          <a:lstStyle/>
          <a:p>
            <a:pPr eaLnBrk="1" hangingPunct="1"/>
            <a:r>
              <a:rPr lang="en-US" altLang="en-US"/>
              <a:t>Quadratic probing may lead to </a:t>
            </a:r>
            <a:r>
              <a:rPr lang="en-US" altLang="en-US" b="1"/>
              <a:t>secondary clusters </a:t>
            </a:r>
            <a:r>
              <a:rPr lang="en-US" altLang="en-US"/>
              <a:t>because keys may hash to the same location when the same probe sequence is used.</a:t>
            </a:r>
          </a:p>
          <a:p>
            <a:pPr eaLnBrk="1" hangingPunct="1"/>
            <a:r>
              <a:rPr lang="en-US" altLang="en-US"/>
              <a:t>A possibility is a random number generator. But the generator must initialize the same seed. </a:t>
            </a:r>
            <a:endParaRPr lang="en-US" altLang="en-US" b="1"/>
          </a:p>
          <a:p>
            <a:pPr eaLnBrk="1" hangingPunct="1"/>
            <a:r>
              <a:rPr lang="en-US" altLang="en-US" b="1"/>
              <a:t>Double hashing </a:t>
            </a:r>
            <a:r>
              <a:rPr lang="en-US" altLang="en-US"/>
              <a:t>is another approach by using another hash function for the collision</a:t>
            </a:r>
          </a:p>
          <a:p>
            <a:pPr lvl="1" eaLnBrk="1" hangingPunct="1"/>
            <a:r>
              <a:rPr lang="en-US" altLang="en-US"/>
              <a:t>h(K), h(K) + h</a:t>
            </a:r>
            <a:r>
              <a:rPr lang="en-US" altLang="en-US" baseline="-25000"/>
              <a:t>2</a:t>
            </a:r>
            <a:r>
              <a:rPr lang="en-US" altLang="en-US"/>
              <a:t>(K),  …,  h(K) +  i.h</a:t>
            </a:r>
            <a:r>
              <a:rPr lang="en-US" altLang="en-US" baseline="-25000"/>
              <a:t>2</a:t>
            </a:r>
            <a:r>
              <a:rPr lang="en-US" altLang="en-US"/>
              <a:t>(K)</a:t>
            </a:r>
          </a:p>
          <a:p>
            <a:pPr eaLnBrk="1" hangingPunct="1"/>
            <a:endParaRPr lang="en-US" altLang="en-US"/>
          </a:p>
        </p:txBody>
      </p:sp>
      <p:sp>
        <p:nvSpPr>
          <p:cNvPr id="37892" name="Rectangle 4">
            <a:extLst>
              <a:ext uri="{FF2B5EF4-FFF2-40B4-BE49-F238E27FC236}">
                <a16:creationId xmlns:a16="http://schemas.microsoft.com/office/drawing/2014/main" id="{A16E1A99-6798-4674-9CE7-43970AD032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eaLnBrk="1" hangingPunct="1"/>
            <a:r>
              <a:rPr lang="en-US" altLang="en-US"/>
              <a:t>Collision Resolution (continued)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019D5C3A-9E17-4D39-979C-C1CD397F80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1219200"/>
          </a:xfrm>
          <a:ln w="12700">
            <a:solidFill>
              <a:schemeClr val="tx1"/>
            </a:solidFill>
            <a:miter lim="800000"/>
            <a:headEnd/>
            <a:tailEnd/>
          </a:ln>
        </p:spPr>
        <p:txBody>
          <a:bodyPr/>
          <a:lstStyle/>
          <a:p>
            <a:pPr eaLnBrk="1" hangingPunct="1"/>
            <a:r>
              <a:rPr lang="en-US" altLang="en-US" sz="4000" b="1"/>
              <a:t>Collision resolution: </a:t>
            </a:r>
            <a:br>
              <a:rPr lang="en-US" altLang="en-US" sz="4000" b="1"/>
            </a:br>
            <a:r>
              <a:rPr lang="en-US" altLang="en-US" sz="4000" b="1"/>
              <a:t>linear probing and clustering</a:t>
            </a:r>
          </a:p>
        </p:txBody>
      </p:sp>
      <p:graphicFrame>
        <p:nvGraphicFramePr>
          <p:cNvPr id="65541" name="Group 5">
            <a:extLst>
              <a:ext uri="{FF2B5EF4-FFF2-40B4-BE49-F238E27FC236}">
                <a16:creationId xmlns:a16="http://schemas.microsoft.com/office/drawing/2014/main" id="{7F09E0D0-73D4-420B-909B-3FF08306A661}"/>
              </a:ext>
            </a:extLst>
          </p:cNvPr>
          <p:cNvGraphicFramePr>
            <a:graphicFrameLocks noGrp="1"/>
          </p:cNvGraphicFramePr>
          <p:nvPr/>
        </p:nvGraphicFramePr>
        <p:xfrm>
          <a:off x="2895600" y="1905000"/>
          <a:ext cx="457200" cy="40640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65565" name="Group 29">
            <a:extLst>
              <a:ext uri="{FF2B5EF4-FFF2-40B4-BE49-F238E27FC236}">
                <a16:creationId xmlns:a16="http://schemas.microsoft.com/office/drawing/2014/main" id="{29AEE3C5-AF37-4DE0-830F-CD03D2873841}"/>
              </a:ext>
            </a:extLst>
          </p:cNvPr>
          <p:cNvGraphicFramePr>
            <a:graphicFrameLocks noGrp="1"/>
          </p:cNvGraphicFramePr>
          <p:nvPr/>
        </p:nvGraphicFramePr>
        <p:xfrm>
          <a:off x="2438400" y="1905000"/>
          <a:ext cx="457200" cy="40640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6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7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9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65742" name="Group 206">
            <a:extLst>
              <a:ext uri="{FF2B5EF4-FFF2-40B4-BE49-F238E27FC236}">
                <a16:creationId xmlns:a16="http://schemas.microsoft.com/office/drawing/2014/main" id="{07A95605-4625-42D5-B63E-EC46D005B9B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352800" y="1905000"/>
          <a:ext cx="685800" cy="4068762"/>
        </p:xfrm>
        <a:graphic>
          <a:graphicData uri="http://schemas.openxmlformats.org/drawingml/2006/table">
            <a:tbl>
              <a:tblPr/>
              <a:tblGrid>
                <a:gridCol w="685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0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0.1</a:t>
                      </a:r>
                    </a:p>
                  </a:txBody>
                  <a:tcPr marT="45712" marB="457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0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0.1</a:t>
                      </a: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marT="45712" marB="457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6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0.1</a:t>
                      </a:r>
                    </a:p>
                  </a:txBody>
                  <a:tcPr marT="45712" marB="457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0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0.1</a:t>
                      </a:r>
                    </a:p>
                  </a:txBody>
                  <a:tcPr marT="45712" marB="457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0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0.1</a:t>
                      </a:r>
                    </a:p>
                  </a:txBody>
                  <a:tcPr marT="45712" marB="457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0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0.1</a:t>
                      </a:r>
                    </a:p>
                  </a:txBody>
                  <a:tcPr marT="45712" marB="457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0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0.1</a:t>
                      </a:r>
                    </a:p>
                  </a:txBody>
                  <a:tcPr marT="45712" marB="457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68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0.1</a:t>
                      </a:r>
                    </a:p>
                  </a:txBody>
                  <a:tcPr marT="45712" marB="457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09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0.1</a:t>
                      </a:r>
                    </a:p>
                  </a:txBody>
                  <a:tcPr marT="45712" marB="457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44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0.1</a:t>
                      </a:r>
                    </a:p>
                  </a:txBody>
                  <a:tcPr marT="45712" marB="457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65651" name="Group 115">
            <a:extLst>
              <a:ext uri="{FF2B5EF4-FFF2-40B4-BE49-F238E27FC236}">
                <a16:creationId xmlns:a16="http://schemas.microsoft.com/office/drawing/2014/main" id="{7916E092-5D67-4142-8B04-78AE777A59E5}"/>
              </a:ext>
            </a:extLst>
          </p:cNvPr>
          <p:cNvGraphicFramePr>
            <a:graphicFrameLocks noGrp="1"/>
          </p:cNvGraphicFramePr>
          <p:nvPr/>
        </p:nvGraphicFramePr>
        <p:xfrm>
          <a:off x="5410200" y="1905000"/>
          <a:ext cx="457200" cy="40640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33</a:t>
                      </a: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65675" name="Group 139">
            <a:extLst>
              <a:ext uri="{FF2B5EF4-FFF2-40B4-BE49-F238E27FC236}">
                <a16:creationId xmlns:a16="http://schemas.microsoft.com/office/drawing/2014/main" id="{4FE5AB10-9E7F-4E46-98EC-A424929CE528}"/>
              </a:ext>
            </a:extLst>
          </p:cNvPr>
          <p:cNvGraphicFramePr>
            <a:graphicFrameLocks noGrp="1"/>
          </p:cNvGraphicFramePr>
          <p:nvPr/>
        </p:nvGraphicFramePr>
        <p:xfrm>
          <a:off x="4953000" y="1905000"/>
          <a:ext cx="457200" cy="40640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6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7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9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65745" name="Group 209">
            <a:extLst>
              <a:ext uri="{FF2B5EF4-FFF2-40B4-BE49-F238E27FC236}">
                <a16:creationId xmlns:a16="http://schemas.microsoft.com/office/drawing/2014/main" id="{46D88597-72D6-4C19-B228-4A8726B6B5D4}"/>
              </a:ext>
            </a:extLst>
          </p:cNvPr>
          <p:cNvGraphicFramePr>
            <a:graphicFrameLocks noGrp="1"/>
          </p:cNvGraphicFramePr>
          <p:nvPr/>
        </p:nvGraphicFramePr>
        <p:xfrm>
          <a:off x="5943600" y="1905000"/>
          <a:ext cx="533400" cy="4068762"/>
        </p:xfrm>
        <a:graphic>
          <a:graphicData uri="http://schemas.openxmlformats.org/drawingml/2006/table">
            <a:tbl>
              <a:tblPr/>
              <a:tblGrid>
                <a:gridCol w="53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10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0.1</a:t>
                      </a:r>
                    </a:p>
                  </a:txBody>
                  <a:tcPr marT="45712" marB="457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4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0.1</a:t>
                      </a:r>
                      <a:endParaRPr kumimoji="0" lang="en-US" sz="1800" b="0" i="1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marT="45712" marB="457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2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0.1</a:t>
                      </a:r>
                    </a:p>
                  </a:txBody>
                  <a:tcPr marT="45712" marB="457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0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0</a:t>
                      </a:r>
                    </a:p>
                  </a:txBody>
                  <a:tcPr marT="45712" marB="457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0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0.2</a:t>
                      </a:r>
                    </a:p>
                  </a:txBody>
                  <a:tcPr marT="45712" marB="457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0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0.1</a:t>
                      </a:r>
                    </a:p>
                  </a:txBody>
                  <a:tcPr marT="45712" marB="457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0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0.1</a:t>
                      </a:r>
                    </a:p>
                  </a:txBody>
                  <a:tcPr marT="45712" marB="457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268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0.1</a:t>
                      </a:r>
                    </a:p>
                  </a:txBody>
                  <a:tcPr marT="45712" marB="457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10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0.1</a:t>
                      </a:r>
                    </a:p>
                  </a:txBody>
                  <a:tcPr marT="45712" marB="457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109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0.1</a:t>
                      </a:r>
                    </a:p>
                  </a:txBody>
                  <a:tcPr marT="45712" marB="45712"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39007" name="Date Placeholder 3">
            <a:extLst>
              <a:ext uri="{FF2B5EF4-FFF2-40B4-BE49-F238E27FC236}">
                <a16:creationId xmlns:a16="http://schemas.microsoft.com/office/drawing/2014/main" id="{59CA55C6-C7BE-4599-9760-F765448E544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 bwMode="auto">
          <a:xfrm>
            <a:off x="228600" y="6381750"/>
            <a:ext cx="8686800" cy="476250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Comic Sans MS" panose="030F0702030302020204" pitchFamily="66" charset="0"/>
              </a:rPr>
              <a:t>Data Structures and Algorithms in Java, Third Edition			Ch10</a:t>
            </a:r>
            <a:r>
              <a:rPr lang="en-US" altLang="en-US" sz="1400" b="1">
                <a:latin typeface="Calibri" panose="020F0502020204030204" pitchFamily="34" charset="0"/>
              </a:rPr>
              <a:t>–</a:t>
            </a:r>
            <a:fld id="{BC4DDAC3-CDD0-4779-AF83-2423D09FAA4D}" type="slidenum">
              <a:rPr lang="en-US" altLang="en-US" sz="1400" b="1" smtClean="0">
                <a:latin typeface="Comic Sans MS" panose="030F0702030302020204" pitchFamily="66" charset="0"/>
              </a:rPr>
              <a:pPr>
                <a:spcBef>
                  <a:spcPct val="0"/>
                </a:spcBef>
                <a:buFontTx/>
                <a:buNone/>
              </a:pPr>
              <a:t>70</a:t>
            </a:fld>
            <a:endParaRPr lang="en-US" altLang="en-US" sz="1400" b="1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Slide Number Placeholder 3">
            <a:extLst>
              <a:ext uri="{FF2B5EF4-FFF2-40B4-BE49-F238E27FC236}">
                <a16:creationId xmlns:a16="http://schemas.microsoft.com/office/drawing/2014/main" id="{5DE1E097-06D5-4350-A530-DB77E1B259F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CAE29B58-87A2-4211-AE89-E42F466E8677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71</a:t>
            </a:fld>
            <a:endParaRPr lang="en-US" altLang="en-US" sz="1600"/>
          </a:p>
        </p:txBody>
      </p:sp>
      <p:sp>
        <p:nvSpPr>
          <p:cNvPr id="40963" name="Rectangle 2">
            <a:extLst>
              <a:ext uri="{FF2B5EF4-FFF2-40B4-BE49-F238E27FC236}">
                <a16:creationId xmlns:a16="http://schemas.microsoft.com/office/drawing/2014/main" id="{843D0DBB-D391-43C4-8887-D472C84DEA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Collision Resolution (continued)</a:t>
            </a:r>
          </a:p>
        </p:txBody>
      </p:sp>
      <p:sp>
        <p:nvSpPr>
          <p:cNvPr id="40964" name="Text Box 4">
            <a:extLst>
              <a:ext uri="{FF2B5EF4-FFF2-40B4-BE49-F238E27FC236}">
                <a16:creationId xmlns:a16="http://schemas.microsoft.com/office/drawing/2014/main" id="{84137A0E-A0C6-4988-873E-AF471ED7336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4876800"/>
            <a:ext cx="84455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142398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423988" algn="l"/>
              </a:tabLs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42398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423988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4239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239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239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239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239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/>
              <a:t>Figure 10-3 Formulas approximating, for different hashing methods, </a:t>
            </a:r>
            <a:br>
              <a:rPr lang="en-US" altLang="en-US" sz="2000" b="1"/>
            </a:br>
            <a:r>
              <a:rPr lang="en-US" altLang="en-US" sz="2000" b="1"/>
              <a:t>                    	the average numbers of trials for successful and </a:t>
            </a:r>
            <a:br>
              <a:rPr lang="en-US" altLang="en-US" sz="2000" b="1"/>
            </a:br>
            <a:r>
              <a:rPr lang="en-US" altLang="en-US" sz="2000" b="1"/>
              <a:t>	unsuccessful searches (Knuth, 1998)</a:t>
            </a:r>
          </a:p>
        </p:txBody>
      </p:sp>
      <p:pic>
        <p:nvPicPr>
          <p:cNvPr id="40965" name="Picture 5">
            <a:extLst>
              <a:ext uri="{FF2B5EF4-FFF2-40B4-BE49-F238E27FC236}">
                <a16:creationId xmlns:a16="http://schemas.microsoft.com/office/drawing/2014/main" id="{270BC2CA-F7E6-476A-B3A4-FA07E88FD9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3" y="2057400"/>
            <a:ext cx="8067675" cy="2682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Number Placeholder 3">
            <a:extLst>
              <a:ext uri="{FF2B5EF4-FFF2-40B4-BE49-F238E27FC236}">
                <a16:creationId xmlns:a16="http://schemas.microsoft.com/office/drawing/2014/main" id="{F66E7018-38D5-4F71-81C4-07461585C2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CD5031B9-4C24-4681-8B11-8547DAAEA8B8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72</a:t>
            </a:fld>
            <a:endParaRPr lang="en-US" altLang="en-US" sz="1600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6C1CB4D5-447D-4942-8504-44EF43F239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Chaining</a:t>
            </a:r>
          </a:p>
        </p:txBody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57B0502A-07BD-4B78-AF74-A728787267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In </a:t>
            </a:r>
            <a:r>
              <a:rPr lang="en-US" altLang="en-US" b="1"/>
              <a:t>chaining</a:t>
            </a:r>
            <a:r>
              <a:rPr lang="en-US" altLang="en-US" i="1"/>
              <a:t>, </a:t>
            </a:r>
            <a:r>
              <a:rPr lang="en-US" altLang="en-US"/>
              <a:t>each position of the table is associated with a linked list or </a:t>
            </a:r>
            <a:r>
              <a:rPr lang="en-US" altLang="en-US" b="1"/>
              <a:t>chain</a:t>
            </a:r>
            <a:r>
              <a:rPr lang="en-US" altLang="en-US" i="1"/>
              <a:t> </a:t>
            </a:r>
            <a:r>
              <a:rPr lang="en-US" altLang="en-US"/>
              <a:t>of structures whose </a:t>
            </a:r>
            <a:r>
              <a:rPr lang="en-US" altLang="en-US">
                <a:latin typeface="Courier New" panose="02070309020205020404" pitchFamily="49" charset="0"/>
              </a:rPr>
              <a:t>info</a:t>
            </a:r>
            <a:r>
              <a:rPr lang="en-US" altLang="en-US"/>
              <a:t> fields store keys or references to keys </a:t>
            </a:r>
          </a:p>
          <a:p>
            <a:pPr eaLnBrk="1" hangingPunct="1"/>
            <a:r>
              <a:rPr lang="en-US" altLang="en-US"/>
              <a:t>This method is called </a:t>
            </a:r>
            <a:r>
              <a:rPr lang="en-US" altLang="en-US" b="1"/>
              <a:t>separate chaining</a:t>
            </a:r>
            <a:r>
              <a:rPr lang="en-US" altLang="en-US"/>
              <a:t>, and a table of references (pointers) is called a </a:t>
            </a:r>
            <a:r>
              <a:rPr lang="en-US" altLang="en-US" b="1"/>
              <a:t>scatter</a:t>
            </a:r>
            <a:r>
              <a:rPr lang="en-US" altLang="en-US"/>
              <a:t> </a:t>
            </a:r>
            <a:r>
              <a:rPr lang="en-US" altLang="en-US" b="1"/>
              <a:t>table</a:t>
            </a:r>
            <a:endParaRPr lang="en-US" altLang="en-US"/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9">
            <a:extLst>
              <a:ext uri="{FF2B5EF4-FFF2-40B4-BE49-F238E27FC236}">
                <a16:creationId xmlns:a16="http://schemas.microsoft.com/office/drawing/2014/main" id="{71D007B1-6898-4C6B-816A-D28AA65DAC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28600"/>
            <a:ext cx="7772400" cy="533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3600">
                <a:solidFill>
                  <a:schemeClr val="accent2"/>
                </a:solidFill>
              </a:rPr>
              <a:t>Collision Resolution: Chaining</a:t>
            </a:r>
          </a:p>
        </p:txBody>
      </p:sp>
      <p:graphicFrame>
        <p:nvGraphicFramePr>
          <p:cNvPr id="7179" name="Group 11">
            <a:extLst>
              <a:ext uri="{FF2B5EF4-FFF2-40B4-BE49-F238E27FC236}">
                <a16:creationId xmlns:a16="http://schemas.microsoft.com/office/drawing/2014/main" id="{56750372-F287-45B3-9494-1B1B409C65A7}"/>
              </a:ext>
            </a:extLst>
          </p:cNvPr>
          <p:cNvGraphicFramePr>
            <a:graphicFrameLocks noGrp="1"/>
          </p:cNvGraphicFramePr>
          <p:nvPr/>
        </p:nvGraphicFramePr>
        <p:xfrm>
          <a:off x="2895600" y="2362200"/>
          <a:ext cx="457200" cy="40640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7204" name="Group 36">
            <a:extLst>
              <a:ext uri="{FF2B5EF4-FFF2-40B4-BE49-F238E27FC236}">
                <a16:creationId xmlns:a16="http://schemas.microsoft.com/office/drawing/2014/main" id="{FB18DFDC-B1E4-46CA-998F-D193AF377E2E}"/>
              </a:ext>
            </a:extLst>
          </p:cNvPr>
          <p:cNvGraphicFramePr>
            <a:graphicFrameLocks noGrp="1"/>
          </p:cNvGraphicFramePr>
          <p:nvPr/>
        </p:nvGraphicFramePr>
        <p:xfrm>
          <a:off x="2438400" y="2362200"/>
          <a:ext cx="457200" cy="40640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0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1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2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5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6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7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8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9</a:t>
                      </a:r>
                    </a:p>
                  </a:txBody>
                  <a:tcPr anchor="ctr" horzOverflow="overflow">
                    <a:lnL cap="flat">
                      <a:noFill/>
                    </a:lnL>
                    <a:lnR cap="flat">
                      <a:noFill/>
                    </a:lnR>
                    <a:lnT>
                      <a:noFill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7261" name="Rectangle 93">
            <a:extLst>
              <a:ext uri="{FF2B5EF4-FFF2-40B4-BE49-F238E27FC236}">
                <a16:creationId xmlns:a16="http://schemas.microsoft.com/office/drawing/2014/main" id="{5F2E2314-6AB8-4203-8CD4-4FE4BDC6F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2400" y="16002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1800">
                <a:latin typeface="Arial Unicode MS" pitchFamily="34" charset="-128"/>
              </a:rPr>
              <a:t>33</a:t>
            </a:r>
          </a:p>
        </p:txBody>
      </p:sp>
      <p:sp>
        <p:nvSpPr>
          <p:cNvPr id="7262" name="Rectangle 94">
            <a:extLst>
              <a:ext uri="{FF2B5EF4-FFF2-40B4-BE49-F238E27FC236}">
                <a16:creationId xmlns:a16="http://schemas.microsoft.com/office/drawing/2014/main" id="{6500E97F-2C6B-4F98-A0A4-C500FCD82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3400" y="16002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1800">
                <a:latin typeface="Arial Unicode MS" pitchFamily="34" charset="-128"/>
              </a:rPr>
              <a:t>16</a:t>
            </a:r>
          </a:p>
        </p:txBody>
      </p:sp>
      <p:sp>
        <p:nvSpPr>
          <p:cNvPr id="7263" name="Rectangle 95">
            <a:extLst>
              <a:ext uri="{FF2B5EF4-FFF2-40B4-BE49-F238E27FC236}">
                <a16:creationId xmlns:a16="http://schemas.microsoft.com/office/drawing/2014/main" id="{B5DDF3BA-8457-4A20-B98D-F209CBFB8F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05400" y="16002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1800">
                <a:latin typeface="Arial Unicode MS" pitchFamily="34" charset="-128"/>
              </a:rPr>
              <a:t>23</a:t>
            </a:r>
          </a:p>
        </p:txBody>
      </p:sp>
      <p:sp>
        <p:nvSpPr>
          <p:cNvPr id="7264" name="Rectangle 96">
            <a:extLst>
              <a:ext uri="{FF2B5EF4-FFF2-40B4-BE49-F238E27FC236}">
                <a16:creationId xmlns:a16="http://schemas.microsoft.com/office/drawing/2014/main" id="{4A238F62-277C-451F-9A3E-24B01B2E39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24400" y="16002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1800">
                <a:latin typeface="Arial Unicode MS" pitchFamily="34" charset="-128"/>
              </a:rPr>
              <a:t>27</a:t>
            </a:r>
          </a:p>
        </p:txBody>
      </p:sp>
      <p:sp>
        <p:nvSpPr>
          <p:cNvPr id="7265" name="Rectangle 97">
            <a:extLst>
              <a:ext uri="{FF2B5EF4-FFF2-40B4-BE49-F238E27FC236}">
                <a16:creationId xmlns:a16="http://schemas.microsoft.com/office/drawing/2014/main" id="{827C84C9-E310-45C4-A49C-B66A89F7D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86400" y="16002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1800">
                <a:latin typeface="Arial Unicode MS" pitchFamily="34" charset="-128"/>
              </a:rPr>
              <a:t>26</a:t>
            </a:r>
          </a:p>
        </p:txBody>
      </p:sp>
      <p:sp>
        <p:nvSpPr>
          <p:cNvPr id="7266" name="Rectangle 98">
            <a:extLst>
              <a:ext uri="{FF2B5EF4-FFF2-40B4-BE49-F238E27FC236}">
                <a16:creationId xmlns:a16="http://schemas.microsoft.com/office/drawing/2014/main" id="{321444B7-AA0F-4B87-BE9C-E83B098083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67400" y="16002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1800">
                <a:latin typeface="Arial Unicode MS" pitchFamily="34" charset="-128"/>
              </a:rPr>
              <a:t>79</a:t>
            </a:r>
          </a:p>
        </p:txBody>
      </p:sp>
      <p:sp>
        <p:nvSpPr>
          <p:cNvPr id="7267" name="Rectangle 99">
            <a:extLst>
              <a:ext uri="{FF2B5EF4-FFF2-40B4-BE49-F238E27FC236}">
                <a16:creationId xmlns:a16="http://schemas.microsoft.com/office/drawing/2014/main" id="{642109F9-6D9E-4D1C-996C-AD083B4F8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400" y="1600200"/>
            <a:ext cx="4572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1800">
                <a:latin typeface="Arial Unicode MS" pitchFamily="34" charset="-128"/>
              </a:rPr>
              <a:t>88</a:t>
            </a:r>
          </a:p>
        </p:txBody>
      </p:sp>
      <p:sp>
        <p:nvSpPr>
          <p:cNvPr id="43053" name="Rectangle 101">
            <a:extLst>
              <a:ext uri="{FF2B5EF4-FFF2-40B4-BE49-F238E27FC236}">
                <a16:creationId xmlns:a16="http://schemas.microsoft.com/office/drawing/2014/main" id="{1471AA1D-46EB-4E81-AFE3-530D060807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990600"/>
            <a:ext cx="1981200" cy="304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2000">
                <a:latin typeface="Arial Unicode MS" pitchFamily="34" charset="-128"/>
              </a:rPr>
              <a:t>h(K) = K % 10</a:t>
            </a:r>
          </a:p>
        </p:txBody>
      </p:sp>
      <p:graphicFrame>
        <p:nvGraphicFramePr>
          <p:cNvPr id="7359" name="Group 191">
            <a:extLst>
              <a:ext uri="{FF2B5EF4-FFF2-40B4-BE49-F238E27FC236}">
                <a16:creationId xmlns:a16="http://schemas.microsoft.com/office/drawing/2014/main" id="{AE5CACD8-8050-4D8E-AA4F-D672BB78C104}"/>
              </a:ext>
            </a:extLst>
          </p:cNvPr>
          <p:cNvGraphicFramePr>
            <a:graphicFrameLocks noGrp="1"/>
          </p:cNvGraphicFramePr>
          <p:nvPr>
            <p:ph/>
          </p:nvPr>
        </p:nvGraphicFramePr>
        <p:xfrm>
          <a:off x="3733800" y="3657600"/>
          <a:ext cx="762000" cy="311150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1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marT="18303" marB="183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18303" marB="183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60" name="Group 192">
            <a:extLst>
              <a:ext uri="{FF2B5EF4-FFF2-40B4-BE49-F238E27FC236}">
                <a16:creationId xmlns:a16="http://schemas.microsoft.com/office/drawing/2014/main" id="{E5A94A02-DCC3-4D4E-AA39-E4ADAD930D57}"/>
              </a:ext>
            </a:extLst>
          </p:cNvPr>
          <p:cNvGraphicFramePr>
            <a:graphicFrameLocks noGrp="1"/>
          </p:cNvGraphicFramePr>
          <p:nvPr/>
        </p:nvGraphicFramePr>
        <p:xfrm>
          <a:off x="3752850" y="4876800"/>
          <a:ext cx="742950" cy="311150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1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marT="18303" marB="183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18303" marB="183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53" name="Group 185">
            <a:extLst>
              <a:ext uri="{FF2B5EF4-FFF2-40B4-BE49-F238E27FC236}">
                <a16:creationId xmlns:a16="http://schemas.microsoft.com/office/drawing/2014/main" id="{A157B8FD-8F45-422B-A4D6-DFFFFAB1DDDC}"/>
              </a:ext>
            </a:extLst>
          </p:cNvPr>
          <p:cNvGraphicFramePr>
            <a:graphicFrameLocks noGrp="1"/>
          </p:cNvGraphicFramePr>
          <p:nvPr/>
        </p:nvGraphicFramePr>
        <p:xfrm>
          <a:off x="3752850" y="5257800"/>
          <a:ext cx="742950" cy="311150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1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marT="18303" marB="183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18303" marB="183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61" name="Group 193">
            <a:extLst>
              <a:ext uri="{FF2B5EF4-FFF2-40B4-BE49-F238E27FC236}">
                <a16:creationId xmlns:a16="http://schemas.microsoft.com/office/drawing/2014/main" id="{8F61E6E1-F823-4DC3-BD50-B04F26525123}"/>
              </a:ext>
            </a:extLst>
          </p:cNvPr>
          <p:cNvGraphicFramePr>
            <a:graphicFrameLocks noGrp="1"/>
          </p:cNvGraphicFramePr>
          <p:nvPr/>
        </p:nvGraphicFramePr>
        <p:xfrm>
          <a:off x="4876800" y="3657600"/>
          <a:ext cx="762000" cy="311150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1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marT="18303" marB="183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18303" marB="183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62" name="Group 194">
            <a:extLst>
              <a:ext uri="{FF2B5EF4-FFF2-40B4-BE49-F238E27FC236}">
                <a16:creationId xmlns:a16="http://schemas.microsoft.com/office/drawing/2014/main" id="{DF04E4D4-9917-4E03-86C4-FD71DA7110FE}"/>
              </a:ext>
            </a:extLst>
          </p:cNvPr>
          <p:cNvGraphicFramePr>
            <a:graphicFrameLocks noGrp="1"/>
          </p:cNvGraphicFramePr>
          <p:nvPr/>
        </p:nvGraphicFramePr>
        <p:xfrm>
          <a:off x="4876800" y="4876800"/>
          <a:ext cx="762000" cy="311150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1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marT="18303" marB="183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18303" marB="183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55" name="Group 187">
            <a:extLst>
              <a:ext uri="{FF2B5EF4-FFF2-40B4-BE49-F238E27FC236}">
                <a16:creationId xmlns:a16="http://schemas.microsoft.com/office/drawing/2014/main" id="{B627B40D-76C2-4CB0-8353-F73B0D705953}"/>
              </a:ext>
            </a:extLst>
          </p:cNvPr>
          <p:cNvGraphicFramePr>
            <a:graphicFrameLocks noGrp="1"/>
          </p:cNvGraphicFramePr>
          <p:nvPr/>
        </p:nvGraphicFramePr>
        <p:xfrm>
          <a:off x="3752850" y="6019800"/>
          <a:ext cx="742950" cy="311150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1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marT="18303" marB="183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18303" marB="183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354" name="Group 186">
            <a:extLst>
              <a:ext uri="{FF2B5EF4-FFF2-40B4-BE49-F238E27FC236}">
                <a16:creationId xmlns:a16="http://schemas.microsoft.com/office/drawing/2014/main" id="{81673BC1-8045-4BD2-9C3A-9480F087B130}"/>
              </a:ext>
            </a:extLst>
          </p:cNvPr>
          <p:cNvGraphicFramePr>
            <a:graphicFrameLocks noGrp="1"/>
          </p:cNvGraphicFramePr>
          <p:nvPr/>
        </p:nvGraphicFramePr>
        <p:xfrm>
          <a:off x="3752850" y="5638800"/>
          <a:ext cx="742950" cy="311150"/>
        </p:xfrm>
        <a:graphic>
          <a:graphicData uri="http://schemas.openxmlformats.org/drawingml/2006/table">
            <a:tbl>
              <a:tblPr/>
              <a:tblGrid>
                <a:gridCol w="438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11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marT="18303" marB="18303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</a:endParaRPr>
                    </a:p>
                  </a:txBody>
                  <a:tcPr marT="18303" marB="18303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45" name="Line 177">
            <a:extLst>
              <a:ext uri="{FF2B5EF4-FFF2-40B4-BE49-F238E27FC236}">
                <a16:creationId xmlns:a16="http://schemas.microsoft.com/office/drawing/2014/main" id="{3B5EE60E-64A5-43E5-A9C7-0F1F2F62FB8A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3810000"/>
            <a:ext cx="533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46" name="Line 178">
            <a:extLst>
              <a:ext uri="{FF2B5EF4-FFF2-40B4-BE49-F238E27FC236}">
                <a16:creationId xmlns:a16="http://schemas.microsoft.com/office/drawing/2014/main" id="{B3D18A74-D54C-4725-AB35-8B97CB8B750D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5029200"/>
            <a:ext cx="533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47" name="Line 179">
            <a:extLst>
              <a:ext uri="{FF2B5EF4-FFF2-40B4-BE49-F238E27FC236}">
                <a16:creationId xmlns:a16="http://schemas.microsoft.com/office/drawing/2014/main" id="{4375D3F7-A3DD-448C-9E1B-B4E80EDE1C82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5410200"/>
            <a:ext cx="533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48" name="Line 180">
            <a:extLst>
              <a:ext uri="{FF2B5EF4-FFF2-40B4-BE49-F238E27FC236}">
                <a16:creationId xmlns:a16="http://schemas.microsoft.com/office/drawing/2014/main" id="{A3DC5D9C-FD2B-40E8-848D-FCE48DE6A0DE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5791200"/>
            <a:ext cx="533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49" name="Line 181">
            <a:extLst>
              <a:ext uri="{FF2B5EF4-FFF2-40B4-BE49-F238E27FC236}">
                <a16:creationId xmlns:a16="http://schemas.microsoft.com/office/drawing/2014/main" id="{7239795B-925A-4A4D-937E-59B1B7686A44}"/>
              </a:ext>
            </a:extLst>
          </p:cNvPr>
          <p:cNvSpPr>
            <a:spLocks noChangeShapeType="1"/>
          </p:cNvSpPr>
          <p:nvPr/>
        </p:nvSpPr>
        <p:spPr bwMode="auto">
          <a:xfrm>
            <a:off x="3200400" y="6172200"/>
            <a:ext cx="533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50" name="Line 182">
            <a:extLst>
              <a:ext uri="{FF2B5EF4-FFF2-40B4-BE49-F238E27FC236}">
                <a16:creationId xmlns:a16="http://schemas.microsoft.com/office/drawing/2014/main" id="{65D97CC8-6F6A-4D92-AB22-3E5FD9710522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3810000"/>
            <a:ext cx="533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358" name="Line 190">
            <a:extLst>
              <a:ext uri="{FF2B5EF4-FFF2-40B4-BE49-F238E27FC236}">
                <a16:creationId xmlns:a16="http://schemas.microsoft.com/office/drawing/2014/main" id="{2945BEC6-1BBC-4A3B-92E0-2F7C8C5DFEB3}"/>
              </a:ext>
            </a:extLst>
          </p:cNvPr>
          <p:cNvSpPr>
            <a:spLocks noChangeShapeType="1"/>
          </p:cNvSpPr>
          <p:nvPr/>
        </p:nvSpPr>
        <p:spPr bwMode="auto">
          <a:xfrm>
            <a:off x="4343400" y="5029200"/>
            <a:ext cx="533400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7.51445E-7 L -0.025 0.2941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72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" y="147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7.51445E-7 L -0.06667 0.47168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726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33" y="235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7.51445E-7 L -0.10834 0.52717 " pathEditMode="relative" rAng="0" ptsTypes="AA">
                                      <p:cBhvr>
                                        <p:cTn id="26" dur="2000" fill="hold"/>
                                        <p:tgtEl>
                                          <p:spTgt spid="72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417" y="2635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7.51445E-7 L -0.025 0.2941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72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50" y="147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7.51445E-7 L -0.06667 0.47168 " pathEditMode="relative" rAng="0" ptsTypes="AA">
                                      <p:cBhvr>
                                        <p:cTn id="42" dur="2000" fill="hold"/>
                                        <p:tgtEl>
                                          <p:spTgt spid="72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333" y="23584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7.51445E-7 L -0.23334 0.63815 " pathEditMode="relative" rAng="0" ptsTypes="AA">
                                      <p:cBhvr>
                                        <p:cTn id="50" dur="2000" fill="hold"/>
                                        <p:tgtEl>
                                          <p:spTgt spid="72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667" y="3190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7.51445E-7 L -0.275 0.58266 " pathEditMode="relative" rAng="0" ptsTypes="AA">
                                      <p:cBhvr>
                                        <p:cTn id="58" dur="2000" fill="hold"/>
                                        <p:tgtEl>
                                          <p:spTgt spid="72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3750" y="2913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61" grpId="0"/>
      <p:bldP spid="7262" grpId="0"/>
      <p:bldP spid="7263" grpId="0"/>
      <p:bldP spid="7264" grpId="0"/>
      <p:bldP spid="7265" grpId="0"/>
      <p:bldP spid="7266" grpId="0"/>
      <p:bldP spid="7267" grpId="0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Number Placeholder 3">
            <a:extLst>
              <a:ext uri="{FF2B5EF4-FFF2-40B4-BE49-F238E27FC236}">
                <a16:creationId xmlns:a16="http://schemas.microsoft.com/office/drawing/2014/main" id="{513497B0-C311-4AE2-8065-0816DA90A41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0C11B9BD-1E35-4C89-B7E2-157C82A4FBA0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74</a:t>
            </a:fld>
            <a:endParaRPr lang="en-US" altLang="en-US" sz="1600"/>
          </a:p>
        </p:txBody>
      </p:sp>
      <p:sp>
        <p:nvSpPr>
          <p:cNvPr id="45059" name="Rectangle 2">
            <a:extLst>
              <a:ext uri="{FF2B5EF4-FFF2-40B4-BE49-F238E27FC236}">
                <a16:creationId xmlns:a16="http://schemas.microsoft.com/office/drawing/2014/main" id="{5F7699F0-318D-4E2C-8E3F-B9D2B57B8D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Chaining (continued)</a:t>
            </a:r>
          </a:p>
        </p:txBody>
      </p:sp>
      <p:sp>
        <p:nvSpPr>
          <p:cNvPr id="45060" name="Text Box 4">
            <a:extLst>
              <a:ext uri="{FF2B5EF4-FFF2-40B4-BE49-F238E27FC236}">
                <a16:creationId xmlns:a16="http://schemas.microsoft.com/office/drawing/2014/main" id="{5839EC55-C3F9-42B1-84C5-4328F19A1F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9200" y="5257800"/>
            <a:ext cx="606266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1423988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423988" algn="l"/>
              </a:tabLs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423988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423988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4239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239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239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239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423988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/>
              <a:t>Figure 10-5 In chaining, colliding keys are put on</a:t>
            </a:r>
            <a:br>
              <a:rPr lang="en-US" altLang="en-US" sz="2000" b="1"/>
            </a:br>
            <a:r>
              <a:rPr lang="en-US" altLang="en-US" sz="2000" b="1"/>
              <a:t>                 	the same linked list</a:t>
            </a:r>
          </a:p>
        </p:txBody>
      </p:sp>
      <p:pic>
        <p:nvPicPr>
          <p:cNvPr id="45061" name="Picture 5">
            <a:extLst>
              <a:ext uri="{FF2B5EF4-FFF2-40B4-BE49-F238E27FC236}">
                <a16:creationId xmlns:a16="http://schemas.microsoft.com/office/drawing/2014/main" id="{59AD5C68-CEC3-4F05-930D-C7E42B8654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1544638"/>
            <a:ext cx="4238625" cy="3616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Number Placeholder 3">
            <a:extLst>
              <a:ext uri="{FF2B5EF4-FFF2-40B4-BE49-F238E27FC236}">
                <a16:creationId xmlns:a16="http://schemas.microsoft.com/office/drawing/2014/main" id="{E9F2935A-607A-4378-AD23-F7D76A4BD0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E0E442DC-E8AA-4DAB-B99C-47EF839900D3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75</a:t>
            </a:fld>
            <a:endParaRPr lang="en-US" altLang="en-US" sz="1600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41518149-7909-44D3-82A9-421027ACD32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Chaining (continued)</a:t>
            </a:r>
          </a:p>
        </p:txBody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17834912-1F4A-4E7C-90B3-4174CEA499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A version of chaining called </a:t>
            </a:r>
            <a:r>
              <a:rPr lang="en-US" altLang="en-US" b="1"/>
              <a:t>coalesced hashing</a:t>
            </a:r>
            <a:r>
              <a:rPr lang="en-US" altLang="en-US"/>
              <a:t> (or </a:t>
            </a:r>
            <a:r>
              <a:rPr lang="en-US" altLang="en-US" b="1"/>
              <a:t>coalesced chaining</a:t>
            </a:r>
            <a:r>
              <a:rPr lang="en-US" altLang="en-US"/>
              <a:t>) combines linear probing with chaining</a:t>
            </a:r>
          </a:p>
          <a:p>
            <a:pPr eaLnBrk="1" hangingPunct="1"/>
            <a:r>
              <a:rPr lang="en-US" altLang="en-US"/>
              <a:t>An overflow area known as a </a:t>
            </a:r>
            <a:r>
              <a:rPr lang="en-US" altLang="en-US" b="1"/>
              <a:t>cellar</a:t>
            </a:r>
            <a:r>
              <a:rPr lang="en-US" altLang="en-US" i="1"/>
              <a:t> </a:t>
            </a:r>
            <a:r>
              <a:rPr lang="en-US" altLang="en-US"/>
              <a:t>can be allocated to store keys for which there is no room in the table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148">
            <a:extLst>
              <a:ext uri="{FF2B5EF4-FFF2-40B4-BE49-F238E27FC236}">
                <a16:creationId xmlns:a16="http://schemas.microsoft.com/office/drawing/2014/main" id="{ACF82B55-D428-44C7-AAB9-E5F6958526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600" y="228600"/>
            <a:ext cx="8686800" cy="533400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2075" tIns="46038" rIns="92075" bIns="46038" anchor="ctr"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sz="4000" b="1">
                <a:solidFill>
                  <a:schemeClr val="accent2"/>
                </a:solidFill>
              </a:rPr>
              <a:t>Collision resolution: coalesced hashing</a:t>
            </a:r>
          </a:p>
        </p:txBody>
      </p:sp>
      <p:sp>
        <p:nvSpPr>
          <p:cNvPr id="47107" name="Rectangle 149">
            <a:extLst>
              <a:ext uri="{FF2B5EF4-FFF2-40B4-BE49-F238E27FC236}">
                <a16:creationId xmlns:a16="http://schemas.microsoft.com/office/drawing/2014/main" id="{C886BF01-F593-4ABA-BA79-97B5DE993E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29000" y="990600"/>
            <a:ext cx="1981200" cy="3048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8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2000">
                <a:latin typeface="Arial Unicode MS" pitchFamily="34" charset="-128"/>
              </a:rPr>
              <a:t>h(K) = K % 10</a:t>
            </a:r>
          </a:p>
        </p:txBody>
      </p:sp>
      <p:graphicFrame>
        <p:nvGraphicFramePr>
          <p:cNvPr id="8644" name="Group 452">
            <a:extLst>
              <a:ext uri="{FF2B5EF4-FFF2-40B4-BE49-F238E27FC236}">
                <a16:creationId xmlns:a16="http://schemas.microsoft.com/office/drawing/2014/main" id="{8A756BA1-5921-424D-84FE-0FA4A0F28A57}"/>
              </a:ext>
            </a:extLst>
          </p:cNvPr>
          <p:cNvGraphicFramePr>
            <a:graphicFrameLocks noGrp="1"/>
          </p:cNvGraphicFramePr>
          <p:nvPr/>
        </p:nvGraphicFramePr>
        <p:xfrm>
          <a:off x="3048000" y="2209800"/>
          <a:ext cx="914400" cy="40386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0" lang="en-US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 Unicode MS" pitchFamily="34" charset="-128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8514" name="Group 322">
            <a:extLst>
              <a:ext uri="{FF2B5EF4-FFF2-40B4-BE49-F238E27FC236}">
                <a16:creationId xmlns:a16="http://schemas.microsoft.com/office/drawing/2014/main" id="{12AD8FA8-3B74-431A-B316-9F02C8D56DCF}"/>
              </a:ext>
            </a:extLst>
          </p:cNvPr>
          <p:cNvGraphicFramePr>
            <a:graphicFrameLocks noGrp="1"/>
          </p:cNvGraphicFramePr>
          <p:nvPr/>
        </p:nvGraphicFramePr>
        <p:xfrm>
          <a:off x="2590800" y="2209800"/>
          <a:ext cx="457200" cy="40640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0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1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2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3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4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5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6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7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8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6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 Unicode MS" pitchFamily="34" charset="-128"/>
                        </a:rPr>
                        <a:t>9</a:t>
                      </a:r>
                    </a:p>
                  </a:txBody>
                  <a:tcPr anchor="ctr"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8547" name="Rectangle 355">
            <a:extLst>
              <a:ext uri="{FF2B5EF4-FFF2-40B4-BE49-F238E27FC236}">
                <a16:creationId xmlns:a16="http://schemas.microsoft.com/office/drawing/2014/main" id="{3771A89F-D249-4106-BDD6-C063052EE9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1447800"/>
            <a:ext cx="457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1800">
                <a:latin typeface="Arial Unicode MS" pitchFamily="34" charset="-128"/>
              </a:rPr>
              <a:t>33</a:t>
            </a:r>
          </a:p>
        </p:txBody>
      </p:sp>
      <p:sp>
        <p:nvSpPr>
          <p:cNvPr id="8548" name="Rectangle 356">
            <a:extLst>
              <a:ext uri="{FF2B5EF4-FFF2-40B4-BE49-F238E27FC236}">
                <a16:creationId xmlns:a16="http://schemas.microsoft.com/office/drawing/2014/main" id="{CD73CF1E-2313-4105-B121-9BCE51BC1D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95800" y="1447800"/>
            <a:ext cx="457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1800">
                <a:latin typeface="Arial Unicode MS" pitchFamily="34" charset="-128"/>
              </a:rPr>
              <a:t>16</a:t>
            </a:r>
          </a:p>
        </p:txBody>
      </p:sp>
      <p:sp>
        <p:nvSpPr>
          <p:cNvPr id="8549" name="Rectangle 357">
            <a:extLst>
              <a:ext uri="{FF2B5EF4-FFF2-40B4-BE49-F238E27FC236}">
                <a16:creationId xmlns:a16="http://schemas.microsoft.com/office/drawing/2014/main" id="{A3571A10-5B97-4FCC-8E10-5145C79B5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1447800"/>
            <a:ext cx="457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1800">
                <a:latin typeface="Arial Unicode MS" pitchFamily="34" charset="-128"/>
              </a:rPr>
              <a:t>23</a:t>
            </a:r>
          </a:p>
        </p:txBody>
      </p:sp>
      <p:sp>
        <p:nvSpPr>
          <p:cNvPr id="8550" name="Rectangle 358">
            <a:extLst>
              <a:ext uri="{FF2B5EF4-FFF2-40B4-BE49-F238E27FC236}">
                <a16:creationId xmlns:a16="http://schemas.microsoft.com/office/drawing/2014/main" id="{956CAEB4-3731-4CF8-AFDB-7E23E3553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6800" y="1447800"/>
            <a:ext cx="457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1800">
                <a:latin typeface="Arial Unicode MS" pitchFamily="34" charset="-128"/>
              </a:rPr>
              <a:t>27</a:t>
            </a:r>
          </a:p>
        </p:txBody>
      </p:sp>
      <p:sp>
        <p:nvSpPr>
          <p:cNvPr id="8551" name="Rectangle 359">
            <a:extLst>
              <a:ext uri="{FF2B5EF4-FFF2-40B4-BE49-F238E27FC236}">
                <a16:creationId xmlns:a16="http://schemas.microsoft.com/office/drawing/2014/main" id="{DED71907-1598-4ECD-8B3D-34CADCACA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8800" y="1447800"/>
            <a:ext cx="457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1800">
                <a:latin typeface="Arial Unicode MS" pitchFamily="34" charset="-128"/>
              </a:rPr>
              <a:t>26</a:t>
            </a:r>
          </a:p>
        </p:txBody>
      </p:sp>
      <p:sp>
        <p:nvSpPr>
          <p:cNvPr id="8552" name="Rectangle 360">
            <a:extLst>
              <a:ext uri="{FF2B5EF4-FFF2-40B4-BE49-F238E27FC236}">
                <a16:creationId xmlns:a16="http://schemas.microsoft.com/office/drawing/2014/main" id="{6F52629F-9BCE-4423-8FBD-F20312B608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1447800"/>
            <a:ext cx="457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1800">
                <a:latin typeface="Arial Unicode MS" pitchFamily="34" charset="-128"/>
              </a:rPr>
              <a:t>79</a:t>
            </a:r>
          </a:p>
        </p:txBody>
      </p:sp>
      <p:sp>
        <p:nvSpPr>
          <p:cNvPr id="47160" name="Text Box 453">
            <a:extLst>
              <a:ext uri="{FF2B5EF4-FFF2-40B4-BE49-F238E27FC236}">
                <a16:creationId xmlns:a16="http://schemas.microsoft.com/office/drawing/2014/main" id="{34AFAD67-E4DD-4351-AF4A-C73B15D4AB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2224088"/>
            <a:ext cx="457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 Unicode MS" pitchFamily="34" charset="-128"/>
              </a:rPr>
              <a:t>-1</a:t>
            </a:r>
          </a:p>
        </p:txBody>
      </p:sp>
      <p:sp>
        <p:nvSpPr>
          <p:cNvPr id="47161" name="Text Box 454">
            <a:extLst>
              <a:ext uri="{FF2B5EF4-FFF2-40B4-BE49-F238E27FC236}">
                <a16:creationId xmlns:a16="http://schemas.microsoft.com/office/drawing/2014/main" id="{515AF326-14DA-4960-A4B3-69080FA1F3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2605088"/>
            <a:ext cx="457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 Unicode MS" pitchFamily="34" charset="-128"/>
              </a:rPr>
              <a:t>-1</a:t>
            </a:r>
          </a:p>
        </p:txBody>
      </p:sp>
      <p:sp>
        <p:nvSpPr>
          <p:cNvPr id="47162" name="Text Box 455">
            <a:extLst>
              <a:ext uri="{FF2B5EF4-FFF2-40B4-BE49-F238E27FC236}">
                <a16:creationId xmlns:a16="http://schemas.microsoft.com/office/drawing/2014/main" id="{52C3541A-B537-4898-A8D4-919196C837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0480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 Unicode MS" pitchFamily="34" charset="-128"/>
              </a:rPr>
              <a:t>-1</a:t>
            </a:r>
          </a:p>
        </p:txBody>
      </p:sp>
      <p:sp>
        <p:nvSpPr>
          <p:cNvPr id="8648" name="Text Box 456">
            <a:extLst>
              <a:ext uri="{FF2B5EF4-FFF2-40B4-BE49-F238E27FC236}">
                <a16:creationId xmlns:a16="http://schemas.microsoft.com/office/drawing/2014/main" id="{56723F59-E620-4D06-8CCF-10424C70C6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443288"/>
            <a:ext cx="457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 Unicode MS" pitchFamily="34" charset="-128"/>
              </a:rPr>
              <a:t>-1</a:t>
            </a:r>
          </a:p>
        </p:txBody>
      </p:sp>
      <p:sp>
        <p:nvSpPr>
          <p:cNvPr id="8649" name="Text Box 457">
            <a:extLst>
              <a:ext uri="{FF2B5EF4-FFF2-40B4-BE49-F238E27FC236}">
                <a16:creationId xmlns:a16="http://schemas.microsoft.com/office/drawing/2014/main" id="{494B1198-86EE-4BFA-91CD-E5247B7A18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4290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 Unicode MS" pitchFamily="34" charset="-128"/>
              </a:rPr>
              <a:t>4</a:t>
            </a:r>
          </a:p>
        </p:txBody>
      </p:sp>
      <p:sp>
        <p:nvSpPr>
          <p:cNvPr id="47165" name="Text Box 458">
            <a:extLst>
              <a:ext uri="{FF2B5EF4-FFF2-40B4-BE49-F238E27FC236}">
                <a16:creationId xmlns:a16="http://schemas.microsoft.com/office/drawing/2014/main" id="{8AE18097-E916-4567-8F5C-E5C1F65339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38100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 Unicode MS" pitchFamily="34" charset="-128"/>
              </a:rPr>
              <a:t>-1</a:t>
            </a:r>
          </a:p>
        </p:txBody>
      </p:sp>
      <p:sp>
        <p:nvSpPr>
          <p:cNvPr id="47166" name="Text Box 459">
            <a:extLst>
              <a:ext uri="{FF2B5EF4-FFF2-40B4-BE49-F238E27FC236}">
                <a16:creationId xmlns:a16="http://schemas.microsoft.com/office/drawing/2014/main" id="{D207DD6C-71A1-4DC3-B069-8A12622CC0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4281488"/>
            <a:ext cx="457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 Unicode MS" pitchFamily="34" charset="-128"/>
              </a:rPr>
              <a:t>-1</a:t>
            </a:r>
          </a:p>
        </p:txBody>
      </p:sp>
      <p:sp>
        <p:nvSpPr>
          <p:cNvPr id="8652" name="Text Box 460">
            <a:extLst>
              <a:ext uri="{FF2B5EF4-FFF2-40B4-BE49-F238E27FC236}">
                <a16:creationId xmlns:a16="http://schemas.microsoft.com/office/drawing/2014/main" id="{878EC437-91D9-4213-B787-2B367AA238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4662488"/>
            <a:ext cx="457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 Unicode MS" pitchFamily="34" charset="-128"/>
              </a:rPr>
              <a:t>-1</a:t>
            </a:r>
          </a:p>
        </p:txBody>
      </p:sp>
      <p:sp>
        <p:nvSpPr>
          <p:cNvPr id="47168" name="Text Box 461">
            <a:extLst>
              <a:ext uri="{FF2B5EF4-FFF2-40B4-BE49-F238E27FC236}">
                <a16:creationId xmlns:a16="http://schemas.microsoft.com/office/drawing/2014/main" id="{6C9127AB-4472-4172-9B67-AD930E8A75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5043488"/>
            <a:ext cx="4572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 Unicode MS" pitchFamily="34" charset="-128"/>
              </a:rPr>
              <a:t>-1</a:t>
            </a:r>
          </a:p>
        </p:txBody>
      </p:sp>
      <p:sp>
        <p:nvSpPr>
          <p:cNvPr id="8654" name="Text Box 462">
            <a:extLst>
              <a:ext uri="{FF2B5EF4-FFF2-40B4-BE49-F238E27FC236}">
                <a16:creationId xmlns:a16="http://schemas.microsoft.com/office/drawing/2014/main" id="{7772C038-AE1C-4554-8577-B3782CB9A4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54864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 Unicode MS" pitchFamily="34" charset="-128"/>
              </a:rPr>
              <a:t>-1</a:t>
            </a:r>
          </a:p>
        </p:txBody>
      </p:sp>
      <p:sp>
        <p:nvSpPr>
          <p:cNvPr id="47170" name="Text Box 463">
            <a:extLst>
              <a:ext uri="{FF2B5EF4-FFF2-40B4-BE49-F238E27FC236}">
                <a16:creationId xmlns:a16="http://schemas.microsoft.com/office/drawing/2014/main" id="{60A5F12F-8E57-4C82-830B-860818B8E9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58674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 Unicode MS" pitchFamily="34" charset="-128"/>
              </a:rPr>
              <a:t>-1</a:t>
            </a:r>
          </a:p>
        </p:txBody>
      </p:sp>
      <p:sp>
        <p:nvSpPr>
          <p:cNvPr id="8657" name="Text Box 465">
            <a:extLst>
              <a:ext uri="{FF2B5EF4-FFF2-40B4-BE49-F238E27FC236}">
                <a16:creationId xmlns:a16="http://schemas.microsoft.com/office/drawing/2014/main" id="{626E442B-D5C4-4AE6-AAFA-B8967DDBED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46482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 Unicode MS" pitchFamily="34" charset="-128"/>
              </a:rPr>
              <a:t>8</a:t>
            </a:r>
          </a:p>
        </p:txBody>
      </p:sp>
      <p:sp>
        <p:nvSpPr>
          <p:cNvPr id="8658" name="Text Box 466">
            <a:extLst>
              <a:ext uri="{FF2B5EF4-FFF2-40B4-BE49-F238E27FC236}">
                <a16:creationId xmlns:a16="http://schemas.microsoft.com/office/drawing/2014/main" id="{57BA57AE-7DAD-4413-837B-3A29997AA4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5200" y="5486400"/>
            <a:ext cx="457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</a:pPr>
            <a:r>
              <a:rPr lang="en-US" altLang="en-US" sz="1800">
                <a:latin typeface="Arial Unicode MS" pitchFamily="34" charset="-128"/>
              </a:rPr>
              <a:t>0</a:t>
            </a:r>
          </a:p>
        </p:txBody>
      </p:sp>
      <p:sp>
        <p:nvSpPr>
          <p:cNvPr id="8661" name="Rectangle 469">
            <a:extLst>
              <a:ext uri="{FF2B5EF4-FFF2-40B4-BE49-F238E27FC236}">
                <a16:creationId xmlns:a16="http://schemas.microsoft.com/office/drawing/2014/main" id="{7AF665AE-8D98-4C97-B27F-98E848F98C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1447800"/>
            <a:ext cx="457200" cy="38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1800">
                <a:latin typeface="Arial Unicode MS" pitchFamily="34" charset="-128"/>
              </a:rPr>
              <a:t>88</a:t>
            </a:r>
          </a:p>
        </p:txBody>
      </p:sp>
      <p:sp>
        <p:nvSpPr>
          <p:cNvPr id="8662" name="Freeform 470">
            <a:extLst>
              <a:ext uri="{FF2B5EF4-FFF2-40B4-BE49-F238E27FC236}">
                <a16:creationId xmlns:a16="http://schemas.microsoft.com/office/drawing/2014/main" id="{95A59B02-E3BB-4AEE-9FEC-342B7AB61584}"/>
              </a:ext>
            </a:extLst>
          </p:cNvPr>
          <p:cNvSpPr>
            <a:spLocks/>
          </p:cNvSpPr>
          <p:nvPr/>
        </p:nvSpPr>
        <p:spPr bwMode="auto">
          <a:xfrm>
            <a:off x="3962400" y="3581400"/>
            <a:ext cx="381000" cy="457200"/>
          </a:xfrm>
          <a:custGeom>
            <a:avLst/>
            <a:gdLst>
              <a:gd name="T0" fmla="*/ 0 w 240"/>
              <a:gd name="T1" fmla="*/ 0 h 288"/>
              <a:gd name="T2" fmla="*/ 2147483646 w 240"/>
              <a:gd name="T3" fmla="*/ 2147483646 h 288"/>
              <a:gd name="T4" fmla="*/ 0 w 240"/>
              <a:gd name="T5" fmla="*/ 2147483646 h 288"/>
              <a:gd name="T6" fmla="*/ 0 60000 65536"/>
              <a:gd name="T7" fmla="*/ 0 60000 65536"/>
              <a:gd name="T8" fmla="*/ 0 60000 65536"/>
              <a:gd name="T9" fmla="*/ 0 w 240"/>
              <a:gd name="T10" fmla="*/ 0 h 288"/>
              <a:gd name="T11" fmla="*/ 240 w 240"/>
              <a:gd name="T12" fmla="*/ 288 h 28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0" h="288">
                <a:moveTo>
                  <a:pt x="0" y="0"/>
                </a:moveTo>
                <a:cubicBezTo>
                  <a:pt x="120" y="48"/>
                  <a:pt x="240" y="96"/>
                  <a:pt x="240" y="144"/>
                </a:cubicBezTo>
                <a:cubicBezTo>
                  <a:pt x="240" y="192"/>
                  <a:pt x="120" y="240"/>
                  <a:pt x="0" y="288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63" name="Freeform 471">
            <a:extLst>
              <a:ext uri="{FF2B5EF4-FFF2-40B4-BE49-F238E27FC236}">
                <a16:creationId xmlns:a16="http://schemas.microsoft.com/office/drawing/2014/main" id="{27DDF9B5-5D9D-4507-8C96-37911818348B}"/>
              </a:ext>
            </a:extLst>
          </p:cNvPr>
          <p:cNvSpPr>
            <a:spLocks/>
          </p:cNvSpPr>
          <p:nvPr/>
        </p:nvSpPr>
        <p:spPr bwMode="auto">
          <a:xfrm>
            <a:off x="3962400" y="4876800"/>
            <a:ext cx="381000" cy="838200"/>
          </a:xfrm>
          <a:custGeom>
            <a:avLst/>
            <a:gdLst>
              <a:gd name="T0" fmla="*/ 0 w 240"/>
              <a:gd name="T1" fmla="*/ 0 h 528"/>
              <a:gd name="T2" fmla="*/ 2147483646 w 240"/>
              <a:gd name="T3" fmla="*/ 2147483646 h 528"/>
              <a:gd name="T4" fmla="*/ 0 w 240"/>
              <a:gd name="T5" fmla="*/ 2147483646 h 528"/>
              <a:gd name="T6" fmla="*/ 0 60000 65536"/>
              <a:gd name="T7" fmla="*/ 0 60000 65536"/>
              <a:gd name="T8" fmla="*/ 0 60000 65536"/>
              <a:gd name="T9" fmla="*/ 0 w 240"/>
              <a:gd name="T10" fmla="*/ 0 h 528"/>
              <a:gd name="T11" fmla="*/ 240 w 240"/>
              <a:gd name="T12" fmla="*/ 528 h 5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40" h="528">
                <a:moveTo>
                  <a:pt x="0" y="0"/>
                </a:moveTo>
                <a:cubicBezTo>
                  <a:pt x="120" y="76"/>
                  <a:pt x="240" y="152"/>
                  <a:pt x="240" y="240"/>
                </a:cubicBezTo>
                <a:cubicBezTo>
                  <a:pt x="240" y="328"/>
                  <a:pt x="120" y="428"/>
                  <a:pt x="0" y="528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664" name="Freeform 472">
            <a:extLst>
              <a:ext uri="{FF2B5EF4-FFF2-40B4-BE49-F238E27FC236}">
                <a16:creationId xmlns:a16="http://schemas.microsoft.com/office/drawing/2014/main" id="{507568D8-18CE-4F14-861B-B45E46FB5704}"/>
              </a:ext>
            </a:extLst>
          </p:cNvPr>
          <p:cNvSpPr>
            <a:spLocks/>
          </p:cNvSpPr>
          <p:nvPr/>
        </p:nvSpPr>
        <p:spPr bwMode="auto">
          <a:xfrm>
            <a:off x="3962400" y="2438400"/>
            <a:ext cx="1143000" cy="3276600"/>
          </a:xfrm>
          <a:custGeom>
            <a:avLst/>
            <a:gdLst>
              <a:gd name="T0" fmla="*/ 0 w 720"/>
              <a:gd name="T1" fmla="*/ 2147483646 h 2064"/>
              <a:gd name="T2" fmla="*/ 2147483646 w 720"/>
              <a:gd name="T3" fmla="*/ 2147483646 h 2064"/>
              <a:gd name="T4" fmla="*/ 0 w 720"/>
              <a:gd name="T5" fmla="*/ 0 h 2064"/>
              <a:gd name="T6" fmla="*/ 0 60000 65536"/>
              <a:gd name="T7" fmla="*/ 0 60000 65536"/>
              <a:gd name="T8" fmla="*/ 0 60000 65536"/>
              <a:gd name="T9" fmla="*/ 0 w 720"/>
              <a:gd name="T10" fmla="*/ 0 h 2064"/>
              <a:gd name="T11" fmla="*/ 720 w 720"/>
              <a:gd name="T12" fmla="*/ 2064 h 2064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720" h="2064">
                <a:moveTo>
                  <a:pt x="0" y="2064"/>
                </a:moveTo>
                <a:cubicBezTo>
                  <a:pt x="360" y="1684"/>
                  <a:pt x="720" y="1304"/>
                  <a:pt x="720" y="960"/>
                </a:cubicBezTo>
                <a:cubicBezTo>
                  <a:pt x="720" y="616"/>
                  <a:pt x="360" y="308"/>
                  <a:pt x="0" y="0"/>
                </a:cubicBezTo>
              </a:path>
            </a:pathLst>
          </a:custGeom>
          <a:noFill/>
          <a:ln w="19050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177" name="Date Placeholder 3">
            <a:extLst>
              <a:ext uri="{FF2B5EF4-FFF2-40B4-BE49-F238E27FC236}">
                <a16:creationId xmlns:a16="http://schemas.microsoft.com/office/drawing/2014/main" id="{D6C9A8BE-E15A-472E-B557-BA7759FEA8DB}"/>
              </a:ext>
            </a:extLst>
          </p:cNvPr>
          <p:cNvSpPr>
            <a:spLocks noGrp="1"/>
          </p:cNvSpPr>
          <p:nvPr>
            <p:ph type="dt" sz="quarter" idx="4294967295"/>
          </p:nvPr>
        </p:nvSpPr>
        <p:spPr bwMode="auto">
          <a:xfrm>
            <a:off x="228600" y="6381750"/>
            <a:ext cx="8686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0"/>
              </a:spcBef>
              <a:buFontTx/>
              <a:buNone/>
            </a:pPr>
            <a:r>
              <a:rPr lang="en-US" altLang="en-US" sz="1400" b="1">
                <a:latin typeface="Comic Sans MS" panose="030F0702030302020204" pitchFamily="66" charset="0"/>
              </a:rPr>
              <a:t>Data Structures and Algorithms in Java, Third Edition			Ch10</a:t>
            </a:r>
            <a:r>
              <a:rPr lang="en-US" altLang="en-US" sz="1400" b="1">
                <a:latin typeface="Calibri" panose="020F0502020204030204" pitchFamily="34" charset="0"/>
              </a:rPr>
              <a:t>–</a:t>
            </a:r>
            <a:fld id="{5986E95E-3F81-4B59-AABA-2366B1C0F6D6}" type="slidenum">
              <a:rPr lang="en-US" altLang="en-US" sz="1400" b="1">
                <a:latin typeface="Comic Sans MS" panose="030F0702030302020204" pitchFamily="66" charset="0"/>
              </a:rPr>
              <a:pPr algn="r" eaLnBrk="1" hangingPunct="1">
                <a:spcBef>
                  <a:spcPct val="0"/>
                </a:spcBef>
                <a:buFontTx/>
                <a:buNone/>
              </a:pPr>
              <a:t>76</a:t>
            </a:fld>
            <a:endParaRPr lang="en-US" altLang="en-US" sz="1400" b="1"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18 7.51445E-7 C 0.00348 0.0837 0.00695 0.16786 -0.00434 0.2148 C -0.01545 0.2615 -0.04791 0.26844 -0.06666 0.28116 C -0.08541 0.2941 -0.10121 0.29179 -0.11666 0.29017 " pathEditMode="relative" rAng="0" ptsTypes="aaaA">
                                      <p:cBhvr>
                                        <p:cTn id="6" dur="2000" fill="hold"/>
                                        <p:tgtEl>
                                          <p:spTgt spid="85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503" y="147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7.51445E-7 C -0.00816 0.15838 -0.01615 0.31699 -0.03108 0.39537 C -0.04601 0.47376 -0.06875 0.45757 -0.0901 0.47006 C -0.11128 0.48277 -0.1467 0.47006 -0.15833 0.47006 " pathEditMode="relative" rAng="0" ptsTypes="aaaA">
                                      <p:cBhvr>
                                        <p:cTn id="10" dur="2000" fill="hold"/>
                                        <p:tgtEl>
                                          <p:spTgt spid="85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17" y="241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7.51445E-7 C -0.00729 0.15561 -0.01459 0.31121 -0.03334 0.39722 C -0.05209 0.48324 -0.08507 0.4941 -0.11285 0.51607 C -0.14063 0.53827 -0.17032 0.53364 -0.2 0.52925 " pathEditMode="relative" rAng="0" ptsTypes="aaaA">
                                      <p:cBhvr>
                                        <p:cTn id="14" dur="2000" fill="hold"/>
                                        <p:tgtEl>
                                          <p:spTgt spid="85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000" y="2691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7.51445E-7 C 0.00313 0.07306 0.00625 0.14659 -0.01406 0.19329 C -0.03437 0.23977 -0.08836 0.2622 -0.1217 0.27907 C -0.1552 0.29595 -0.2085 0.28879 -0.2151 0.29457 C -0.22187 0.30011 -0.16475 0.30613 -0.16215 0.31422 C -0.15955 0.32208 -0.18628 0.33711 -0.19965 0.34289 C -0.21302 0.34867 -0.22743 0.3489 -0.24166 0.34959 " pathEditMode="relative" rAng="0" ptsTypes="aaaaaaA">
                                      <p:cBhvr>
                                        <p:cTn id="18" dur="3000" fill="hold"/>
                                        <p:tgtEl>
                                          <p:spTgt spid="85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1771" y="1748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0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7.51445E-7 C -0.00764 0.13272 -0.0151 0.26543 -0.04132 0.34104 C -0.06771 0.41642 -0.12222 0.43468 -0.15851 0.45341 C -0.19479 0.47191 -0.25122 0.44855 -0.25833 0.45341 C -0.26528 0.45803 -0.2 0.46983 -0.19965 0.48139 C -0.19948 0.49295 -0.25747 0.51052 -0.2566 0.52231 C -0.25573 0.5341 -0.19028 0.54081 -0.19479 0.5526 C -0.19931 0.56439 -0.24149 0.57896 -0.28333 0.59376 " pathEditMode="relative" rAng="0" ptsTypes="aaaaaaaA">
                                      <p:cBhvr>
                                        <p:cTn id="31" dur="3000" fill="hold"/>
                                        <p:tgtEl>
                                          <p:spTgt spid="855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167" y="296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3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33333E-6 7.51445E-7 C -0.00278 0.18451 -0.00556 0.36971 -0.03802 0.47468 C -0.07049 0.57988 -0.14723 0.60162 -0.19497 0.63098 C -0.24289 0.66035 -0.28403 0.65503 -0.325 0.64994 " pathEditMode="relative" rAng="0" ptsTypes="aaaA">
                                      <p:cBhvr>
                                        <p:cTn id="44" dur="2000" fill="hold"/>
                                        <p:tgtEl>
                                          <p:spTgt spid="85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250" y="3301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7.22222E-6 -4.9711E-6 C 0.00122 0.17781 0.00261 0.35584 -0.0302 0.45018 C -0.06301 0.54451 -0.14496 0.54613 -0.19687 0.56648 C -0.24878 0.58683 -0.32725 0.56671 -0.34131 0.57272 C -0.35538 0.57873 -0.28107 0.59145 -0.28107 0.60232 C -0.28107 0.61318 -0.35729 0.64833 -0.34131 0.63839 C -0.32534 0.62844 -0.21614 0.62382 -0.18576 0.54313 C -0.15538 0.46243 -0.12847 0.22544 -0.15885 0.15422 C -0.18923 0.08301 -0.27881 0.09966 -0.36822 0.1163 " pathEditMode="relative" ptsTypes="aaaaaaaaA">
                                      <p:cBhvr>
                                        <p:cTn id="48" dur="3000" fill="hold"/>
                                        <p:tgtEl>
                                          <p:spTgt spid="86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0" presetID="1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47" grpId="0"/>
      <p:bldP spid="8548" grpId="0"/>
      <p:bldP spid="8549" grpId="0"/>
      <p:bldP spid="8550" grpId="0"/>
      <p:bldP spid="8551" grpId="0"/>
      <p:bldP spid="8552" grpId="0"/>
      <p:bldP spid="8648" grpId="0"/>
      <p:bldP spid="8649" grpId="0"/>
      <p:bldP spid="8652" grpId="0"/>
      <p:bldP spid="8654" grpId="0"/>
      <p:bldP spid="8657" grpId="0"/>
      <p:bldP spid="8658" grpId="0"/>
      <p:bldP spid="8661" grpId="0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Slide Number Placeholder 3">
            <a:extLst>
              <a:ext uri="{FF2B5EF4-FFF2-40B4-BE49-F238E27FC236}">
                <a16:creationId xmlns:a16="http://schemas.microsoft.com/office/drawing/2014/main" id="{4DAFC1B0-FD12-4C5A-B6BA-7664D7DE64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97618BD2-8B82-439E-9603-D949A9B267A7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77</a:t>
            </a:fld>
            <a:endParaRPr lang="en-US" altLang="en-US" sz="1600"/>
          </a:p>
        </p:txBody>
      </p:sp>
      <p:sp>
        <p:nvSpPr>
          <p:cNvPr id="49155" name="Rectangle 2">
            <a:extLst>
              <a:ext uri="{FF2B5EF4-FFF2-40B4-BE49-F238E27FC236}">
                <a16:creationId xmlns:a16="http://schemas.microsoft.com/office/drawing/2014/main" id="{234FE055-9BED-47D3-8CE1-E85CAA61BC9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Chaining (continued)</a:t>
            </a:r>
          </a:p>
        </p:txBody>
      </p:sp>
      <p:sp>
        <p:nvSpPr>
          <p:cNvPr id="49156" name="Text Box 4">
            <a:extLst>
              <a:ext uri="{FF2B5EF4-FFF2-40B4-BE49-F238E27FC236}">
                <a16:creationId xmlns:a16="http://schemas.microsoft.com/office/drawing/2014/main" id="{04C62D82-CF38-47AC-A202-6291825CFA7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5334000"/>
            <a:ext cx="767080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/>
              <a:t>Figure 10-6 Coalesced hashing puts a colliding key in the last </a:t>
            </a:r>
            <a:br>
              <a:rPr lang="en-US" altLang="en-US" sz="2000" b="1"/>
            </a:br>
            <a:r>
              <a:rPr lang="en-US" altLang="en-US" sz="2000" b="1"/>
              <a:t>                    available position of the table</a:t>
            </a:r>
            <a:endParaRPr lang="en-US" altLang="en-US" sz="1800"/>
          </a:p>
        </p:txBody>
      </p:sp>
      <p:pic>
        <p:nvPicPr>
          <p:cNvPr id="49157" name="Picture 5">
            <a:extLst>
              <a:ext uri="{FF2B5EF4-FFF2-40B4-BE49-F238E27FC236}">
                <a16:creationId xmlns:a16="http://schemas.microsoft.com/office/drawing/2014/main" id="{D8A5A680-6BB6-45B1-9C1F-B8510EEC13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363" y="1633538"/>
            <a:ext cx="6137275" cy="3590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3">
            <a:extLst>
              <a:ext uri="{FF2B5EF4-FFF2-40B4-BE49-F238E27FC236}">
                <a16:creationId xmlns:a16="http://schemas.microsoft.com/office/drawing/2014/main" id="{8AEF0FED-54FD-4C8C-AAB4-0DE6A750B1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3552C009-B5CA-480C-BC5C-E23DA9AE6875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78</a:t>
            </a:fld>
            <a:endParaRPr lang="en-US" altLang="en-US" sz="1600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01D06716-7A68-42F1-9A13-1ACB43A3E4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Chaining (continued)</a:t>
            </a:r>
          </a:p>
        </p:txBody>
      </p:sp>
      <p:sp>
        <p:nvSpPr>
          <p:cNvPr id="50180" name="Text Box 4">
            <a:extLst>
              <a:ext uri="{FF2B5EF4-FFF2-40B4-BE49-F238E27FC236}">
                <a16:creationId xmlns:a16="http://schemas.microsoft.com/office/drawing/2014/main" id="{29997BB5-0799-4450-A035-144B77F85A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2250" y="5562600"/>
            <a:ext cx="60515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/>
              <a:t>Figure 10-7 Coalesced hashing that uses a cellar</a:t>
            </a:r>
          </a:p>
        </p:txBody>
      </p:sp>
      <p:pic>
        <p:nvPicPr>
          <p:cNvPr id="50181" name="Picture 5">
            <a:extLst>
              <a:ext uri="{FF2B5EF4-FFF2-40B4-BE49-F238E27FC236}">
                <a16:creationId xmlns:a16="http://schemas.microsoft.com/office/drawing/2014/main" id="{98DDDEB9-3B7A-435F-A3E4-DB0DB873DC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0" y="1587500"/>
            <a:ext cx="5365750" cy="3865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Slide Number Placeholder 3">
            <a:extLst>
              <a:ext uri="{FF2B5EF4-FFF2-40B4-BE49-F238E27FC236}">
                <a16:creationId xmlns:a16="http://schemas.microsoft.com/office/drawing/2014/main" id="{95E17A61-C51F-4621-B4DB-DBD008E0BA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0BD9975E-DE1E-4B85-8D8B-B27E7A7A2D30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79</a:t>
            </a:fld>
            <a:endParaRPr lang="en-US" altLang="en-US" sz="1600"/>
          </a:p>
        </p:txBody>
      </p:sp>
      <p:sp>
        <p:nvSpPr>
          <p:cNvPr id="51203" name="Rectangle 2">
            <a:extLst>
              <a:ext uri="{FF2B5EF4-FFF2-40B4-BE49-F238E27FC236}">
                <a16:creationId xmlns:a16="http://schemas.microsoft.com/office/drawing/2014/main" id="{7A2156C8-7683-49A2-A157-67BA2B4108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Bucket Addressing</a:t>
            </a:r>
          </a:p>
        </p:txBody>
      </p:sp>
      <p:sp>
        <p:nvSpPr>
          <p:cNvPr id="51204" name="Rectangle 3">
            <a:extLst>
              <a:ext uri="{FF2B5EF4-FFF2-40B4-BE49-F238E27FC236}">
                <a16:creationId xmlns:a16="http://schemas.microsoft.com/office/drawing/2014/main" id="{EEDF5227-97DD-43CD-9651-16052FF3D46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To store colliding elements in the same position in the table can be achieved by associating a bucket</a:t>
            </a:r>
            <a:r>
              <a:rPr lang="en-US" altLang="en-US" i="1"/>
              <a:t> </a:t>
            </a:r>
            <a:r>
              <a:rPr lang="en-US" altLang="en-US"/>
              <a:t>with each address</a:t>
            </a:r>
          </a:p>
          <a:p>
            <a:pPr eaLnBrk="1" hangingPunct="1"/>
            <a:r>
              <a:rPr lang="en-US" altLang="en-US"/>
              <a:t>A </a:t>
            </a:r>
            <a:r>
              <a:rPr lang="en-US" altLang="en-US" b="1"/>
              <a:t>bucket</a:t>
            </a:r>
            <a:r>
              <a:rPr lang="en-US" altLang="en-US"/>
              <a:t> is a block of space large enough to store multiple items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Number Placeholder 3">
            <a:extLst>
              <a:ext uri="{FF2B5EF4-FFF2-40B4-BE49-F238E27FC236}">
                <a16:creationId xmlns:a16="http://schemas.microsoft.com/office/drawing/2014/main" id="{B335ABAE-DF70-4A4C-8F50-725B0214564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83D9CF14-A97E-457A-B6B0-28814659079C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80</a:t>
            </a:fld>
            <a:endParaRPr lang="en-US" altLang="en-US" sz="1600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B66EE309-3DFA-455C-9E42-1B83CE3A1E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Bucket Addressing (continued)</a:t>
            </a:r>
          </a:p>
        </p:txBody>
      </p:sp>
      <p:sp>
        <p:nvSpPr>
          <p:cNvPr id="52228" name="Text Box 3">
            <a:extLst>
              <a:ext uri="{FF2B5EF4-FFF2-40B4-BE49-F238E27FC236}">
                <a16:creationId xmlns:a16="http://schemas.microsoft.com/office/drawing/2014/main" id="{BDD21835-C210-4484-8660-CB11033B7B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0100" y="5165725"/>
            <a:ext cx="7810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/>
              <a:t>Figure 10-9 Collision resolution with buckets and overflow area</a:t>
            </a:r>
          </a:p>
        </p:txBody>
      </p:sp>
      <p:pic>
        <p:nvPicPr>
          <p:cNvPr id="52229" name="Picture 4">
            <a:extLst>
              <a:ext uri="{FF2B5EF4-FFF2-40B4-BE49-F238E27FC236}">
                <a16:creationId xmlns:a16="http://schemas.microsoft.com/office/drawing/2014/main" id="{5CAA4298-8195-4475-B614-F27943CCC1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25775" y="1852613"/>
            <a:ext cx="3092450" cy="3151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Slide Number Placeholder 3">
            <a:extLst>
              <a:ext uri="{FF2B5EF4-FFF2-40B4-BE49-F238E27FC236}">
                <a16:creationId xmlns:a16="http://schemas.microsoft.com/office/drawing/2014/main" id="{54B23DBF-90F7-46EB-A62B-80D23576B5A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97040E01-F763-4921-8C27-3661B824597B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81</a:t>
            </a:fld>
            <a:endParaRPr lang="en-US" altLang="en-US" sz="1600"/>
          </a:p>
        </p:txBody>
      </p:sp>
      <p:sp>
        <p:nvSpPr>
          <p:cNvPr id="53251" name="Rectangle 2">
            <a:extLst>
              <a:ext uri="{FF2B5EF4-FFF2-40B4-BE49-F238E27FC236}">
                <a16:creationId xmlns:a16="http://schemas.microsoft.com/office/drawing/2014/main" id="{61F72159-F5AE-414C-A179-70710A4746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Bucket Addressing (continued)</a:t>
            </a:r>
          </a:p>
        </p:txBody>
      </p:sp>
      <p:sp>
        <p:nvSpPr>
          <p:cNvPr id="53252" name="Text Box 3">
            <a:extLst>
              <a:ext uri="{FF2B5EF4-FFF2-40B4-BE49-F238E27FC236}">
                <a16:creationId xmlns:a16="http://schemas.microsoft.com/office/drawing/2014/main" id="{4D9B65AB-3F64-43AF-B444-8DC7851B4C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5257800"/>
            <a:ext cx="61753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/>
              <a:t>Figure 10-8 Collision resolution with buckets and </a:t>
            </a:r>
            <a:br>
              <a:rPr lang="en-US" altLang="en-US" sz="2000" b="1"/>
            </a:br>
            <a:r>
              <a:rPr lang="en-US" altLang="en-US" sz="2000" b="1"/>
              <a:t>                     linear probing method</a:t>
            </a:r>
          </a:p>
        </p:txBody>
      </p:sp>
      <p:pic>
        <p:nvPicPr>
          <p:cNvPr id="53253" name="Picture 4">
            <a:extLst>
              <a:ext uri="{FF2B5EF4-FFF2-40B4-BE49-F238E27FC236}">
                <a16:creationId xmlns:a16="http://schemas.microsoft.com/office/drawing/2014/main" id="{7B197FBD-30D6-447A-A0B2-B73FAD895B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32113" y="1741488"/>
            <a:ext cx="3278187" cy="3375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Slide Number Placeholder 3">
            <a:extLst>
              <a:ext uri="{FF2B5EF4-FFF2-40B4-BE49-F238E27FC236}">
                <a16:creationId xmlns:a16="http://schemas.microsoft.com/office/drawing/2014/main" id="{7EFD0174-87ED-4717-A51A-965EF696897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95C778B1-53F2-4D25-9C04-8D9540363EF4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82</a:t>
            </a:fld>
            <a:endParaRPr lang="en-US" altLang="en-US" sz="1600"/>
          </a:p>
        </p:txBody>
      </p:sp>
      <p:sp>
        <p:nvSpPr>
          <p:cNvPr id="54275" name="Rectangle 2">
            <a:extLst>
              <a:ext uri="{FF2B5EF4-FFF2-40B4-BE49-F238E27FC236}">
                <a16:creationId xmlns:a16="http://schemas.microsoft.com/office/drawing/2014/main" id="{4D4B96A7-83E9-4B6A-A515-C003D44C5E4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Deletion</a:t>
            </a:r>
          </a:p>
        </p:txBody>
      </p:sp>
      <p:sp>
        <p:nvSpPr>
          <p:cNvPr id="54276" name="Text Box 3">
            <a:extLst>
              <a:ext uri="{FF2B5EF4-FFF2-40B4-BE49-F238E27FC236}">
                <a16:creationId xmlns:a16="http://schemas.microsoft.com/office/drawing/2014/main" id="{FF2C34F1-18D1-4CF5-AFE4-382D6E3598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5384800"/>
            <a:ext cx="79089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tabLst>
                <a:tab pos="1541463" algn="l"/>
              </a:tabLst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tabLst>
                <a:tab pos="1541463" algn="l"/>
              </a:tabLst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tabLst>
                <a:tab pos="1541463" algn="l"/>
              </a:tabLs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tabLst>
                <a:tab pos="1541463" algn="l"/>
              </a:tabLst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tabLst>
                <a:tab pos="15414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414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414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414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tabLst>
                <a:tab pos="1541463" algn="l"/>
              </a:tabLst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2000" b="1"/>
              <a:t>Figure 10-10 Linear search in the situation where both insertion </a:t>
            </a:r>
            <a:br>
              <a:rPr lang="en-US" altLang="en-US" sz="2000" b="1"/>
            </a:br>
            <a:r>
              <a:rPr lang="en-US" altLang="en-US" sz="2000" b="1"/>
              <a:t>	and deletion of keys are permitted</a:t>
            </a:r>
          </a:p>
        </p:txBody>
      </p:sp>
      <p:pic>
        <p:nvPicPr>
          <p:cNvPr id="54277" name="Picture 4">
            <a:extLst>
              <a:ext uri="{FF2B5EF4-FFF2-40B4-BE49-F238E27FC236}">
                <a16:creationId xmlns:a16="http://schemas.microsoft.com/office/drawing/2014/main" id="{56514C91-E663-4FA5-A0CF-79A6AD20BC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813" y="1614488"/>
            <a:ext cx="7316787" cy="3629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Number Placeholder 3">
            <a:extLst>
              <a:ext uri="{FF2B5EF4-FFF2-40B4-BE49-F238E27FC236}">
                <a16:creationId xmlns:a16="http://schemas.microsoft.com/office/drawing/2014/main" id="{CE7E7DEE-62F2-4CFD-841D-46E72FF6E1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5EA7BD68-A42C-4485-898E-8369F2E7F7CB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83</a:t>
            </a:fld>
            <a:endParaRPr lang="en-US" altLang="en-US" sz="1600"/>
          </a:p>
        </p:txBody>
      </p:sp>
      <p:sp>
        <p:nvSpPr>
          <p:cNvPr id="55299" name="Rectangle 2">
            <a:extLst>
              <a:ext uri="{FF2B5EF4-FFF2-40B4-BE49-F238E27FC236}">
                <a16:creationId xmlns:a16="http://schemas.microsoft.com/office/drawing/2014/main" id="{1D37F401-0471-4FDF-882F-EAF11DF484D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Hashing</a:t>
            </a:r>
          </a:p>
        </p:txBody>
      </p:sp>
      <p:sp>
        <p:nvSpPr>
          <p:cNvPr id="55300" name="Rectangle 3">
            <a:extLst>
              <a:ext uri="{FF2B5EF4-FFF2-40B4-BE49-F238E27FC236}">
                <a16:creationId xmlns:a16="http://schemas.microsoft.com/office/drawing/2014/main" id="{F6380D58-86AF-47A7-8F08-7136429B8B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lnSpc>
                <a:spcPct val="95000"/>
              </a:lnSpc>
            </a:pPr>
            <a:r>
              <a:rPr lang="en-US" altLang="en-US"/>
              <a:t>To find a function (</a:t>
            </a:r>
            <a:r>
              <a:rPr lang="en-US" altLang="en-US" i="1"/>
              <a:t>h</a:t>
            </a:r>
            <a:r>
              <a:rPr lang="en-US" altLang="en-US"/>
              <a:t>)</a:t>
            </a:r>
            <a:r>
              <a:rPr lang="en-US" altLang="en-US" i="1"/>
              <a:t> </a:t>
            </a:r>
            <a:r>
              <a:rPr lang="en-US" altLang="en-US"/>
              <a:t>that can transform a particular key (</a:t>
            </a:r>
            <a:r>
              <a:rPr lang="en-US" altLang="en-US" i="1"/>
              <a:t>K</a:t>
            </a:r>
            <a:r>
              <a:rPr lang="en-US" altLang="en-US"/>
              <a:t>)</a:t>
            </a:r>
            <a:r>
              <a:rPr lang="en-US" altLang="en-US" i="1"/>
              <a:t> </a:t>
            </a:r>
            <a:r>
              <a:rPr lang="en-US" altLang="en-US"/>
              <a:t>(a string, number or record) into an index in the table used for storing items of the same type as </a:t>
            </a:r>
            <a:r>
              <a:rPr lang="en-US" altLang="en-US" i="1"/>
              <a:t>K, </a:t>
            </a:r>
            <a:r>
              <a:rPr lang="en-US" altLang="en-US"/>
              <a:t>the function </a:t>
            </a:r>
            <a:r>
              <a:rPr lang="en-US" altLang="en-US" i="1"/>
              <a:t>h </a:t>
            </a:r>
            <a:r>
              <a:rPr lang="en-US" altLang="en-US"/>
              <a:t>is called a </a:t>
            </a:r>
            <a:r>
              <a:rPr lang="en-US" altLang="en-US" b="1"/>
              <a:t>hash function</a:t>
            </a:r>
          </a:p>
          <a:p>
            <a:pPr eaLnBrk="1" hangingPunct="1">
              <a:lnSpc>
                <a:spcPct val="95000"/>
              </a:lnSpc>
            </a:pPr>
            <a:r>
              <a:rPr lang="en-US" altLang="en-US"/>
              <a:t>If </a:t>
            </a:r>
            <a:r>
              <a:rPr lang="en-US" altLang="en-US" i="1"/>
              <a:t>h </a:t>
            </a:r>
            <a:r>
              <a:rPr lang="en-US" altLang="en-US"/>
              <a:t>transforms different keys into different numbers, it is called a </a:t>
            </a:r>
            <a:r>
              <a:rPr lang="en-US" altLang="en-US" b="1"/>
              <a:t>perfect hash function</a:t>
            </a:r>
          </a:p>
          <a:p>
            <a:pPr eaLnBrk="1" hangingPunct="1">
              <a:lnSpc>
                <a:spcPct val="95000"/>
              </a:lnSpc>
            </a:pPr>
            <a:r>
              <a:rPr lang="en-US" altLang="en-US"/>
              <a:t>To create a perfect hash function, the table has to contain at least the same number of positions as the number of elements being hashed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Number Placeholder 3">
            <a:extLst>
              <a:ext uri="{FF2B5EF4-FFF2-40B4-BE49-F238E27FC236}">
                <a16:creationId xmlns:a16="http://schemas.microsoft.com/office/drawing/2014/main" id="{0D638E7B-4F77-402C-8D08-56122253C7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74AEE06D-9D3B-4FDC-8728-216EA749842F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84</a:t>
            </a:fld>
            <a:endParaRPr lang="en-US" altLang="en-US" sz="1600"/>
          </a:p>
        </p:txBody>
      </p:sp>
      <p:sp>
        <p:nvSpPr>
          <p:cNvPr id="56323" name="Rectangle 2">
            <a:extLst>
              <a:ext uri="{FF2B5EF4-FFF2-40B4-BE49-F238E27FC236}">
                <a16:creationId xmlns:a16="http://schemas.microsoft.com/office/drawing/2014/main" id="{0B3BB2B5-321E-40D8-AD23-2B032B00999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Perfect Hash Functions</a:t>
            </a:r>
          </a:p>
        </p:txBody>
      </p:sp>
      <p:sp>
        <p:nvSpPr>
          <p:cNvPr id="56324" name="Rectangle 3">
            <a:extLst>
              <a:ext uri="{FF2B5EF4-FFF2-40B4-BE49-F238E27FC236}">
                <a16:creationId xmlns:a16="http://schemas.microsoft.com/office/drawing/2014/main" id="{A30D8837-95C4-40D8-B9FE-1F2679116B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If a function requires only as many cells in the table as the number of data so that no empty cell remains after hashing is completed, it is called a </a:t>
            </a:r>
            <a:r>
              <a:rPr lang="en-US" altLang="en-US" b="1"/>
              <a:t>minimal perfect hash function</a:t>
            </a:r>
          </a:p>
          <a:p>
            <a:pPr eaLnBrk="1" hangingPunct="1"/>
            <a:r>
              <a:rPr lang="en-US" altLang="en-US" b="1"/>
              <a:t>Cichelli’s method</a:t>
            </a:r>
            <a:r>
              <a:rPr lang="en-US" altLang="en-US"/>
              <a:t> is an</a:t>
            </a:r>
            <a:r>
              <a:rPr lang="en-US" altLang="en-US" b="1"/>
              <a:t> </a:t>
            </a:r>
            <a:r>
              <a:rPr lang="en-US" altLang="en-US"/>
              <a:t>algorithm to construct a minimal perfect hash function </a:t>
            </a:r>
          </a:p>
          <a:p>
            <a:pPr eaLnBrk="1" hangingPunct="1"/>
            <a:r>
              <a:rPr lang="en-US" altLang="en-US"/>
              <a:t>It is used to hash a relatively small number of reserved words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Number Placeholder 3">
            <a:extLst>
              <a:ext uri="{FF2B5EF4-FFF2-40B4-BE49-F238E27FC236}">
                <a16:creationId xmlns:a16="http://schemas.microsoft.com/office/drawing/2014/main" id="{E03CB7A6-4C65-4496-9939-7174838D0F5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E25EB0B1-D0DA-4137-A589-4D04C3B6285B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85</a:t>
            </a:fld>
            <a:endParaRPr lang="en-US" altLang="en-US" sz="1600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6779F03B-76BC-47D7-ABA7-B8012DAE3F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Cichelli’s Method</a:t>
            </a:r>
          </a:p>
        </p:txBody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3748005C-CB8C-4D7C-84BA-C537DF7897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Where </a:t>
            </a:r>
            <a:r>
              <a:rPr lang="en-US" altLang="en-US" i="1"/>
              <a:t>g </a:t>
            </a:r>
            <a:r>
              <a:rPr lang="en-US" altLang="en-US"/>
              <a:t>is the function to be constructed</a:t>
            </a:r>
            <a:endParaRPr lang="en-US" altLang="en-US" sz="1800" i="1"/>
          </a:p>
          <a:p>
            <a:pPr eaLnBrk="1" hangingPunct="1">
              <a:spcBef>
                <a:spcPct val="65000"/>
              </a:spcBef>
              <a:buFontTx/>
              <a:buNone/>
            </a:pPr>
            <a:r>
              <a:rPr lang="en-US" altLang="en-US" sz="1800" i="1"/>
              <a:t>h</a:t>
            </a:r>
            <a:r>
              <a:rPr lang="en-US" altLang="en-US" sz="1800"/>
              <a:t>(</a:t>
            </a:r>
            <a:r>
              <a:rPr lang="en-US" altLang="en-US" sz="1800" i="1"/>
              <a:t>word</a:t>
            </a:r>
            <a:r>
              <a:rPr lang="en-US" altLang="en-US" sz="1800"/>
              <a:t>) = (</a:t>
            </a:r>
            <a:r>
              <a:rPr lang="en-US" altLang="en-US" sz="1800" i="1"/>
              <a:t>length</a:t>
            </a:r>
            <a:r>
              <a:rPr lang="en-US" altLang="en-US" sz="1800"/>
              <a:t>(</a:t>
            </a:r>
            <a:r>
              <a:rPr lang="en-US" altLang="en-US" sz="1800" i="1"/>
              <a:t>word</a:t>
            </a:r>
            <a:r>
              <a:rPr lang="en-US" altLang="en-US" sz="1800"/>
              <a:t>) + </a:t>
            </a:r>
            <a:r>
              <a:rPr lang="en-US" altLang="en-US" sz="1800" i="1"/>
              <a:t>g</a:t>
            </a:r>
            <a:r>
              <a:rPr lang="en-US" altLang="en-US" sz="1800"/>
              <a:t>(</a:t>
            </a:r>
            <a:r>
              <a:rPr lang="en-US" altLang="en-US" sz="1800" i="1"/>
              <a:t>firstletter</a:t>
            </a:r>
            <a:r>
              <a:rPr lang="en-US" altLang="en-US" sz="1800"/>
              <a:t>(</a:t>
            </a:r>
            <a:r>
              <a:rPr lang="en-US" altLang="en-US" sz="1800" i="1"/>
              <a:t>word</a:t>
            </a:r>
            <a:r>
              <a:rPr lang="en-US" altLang="en-US" sz="1800"/>
              <a:t>)) + </a:t>
            </a:r>
            <a:r>
              <a:rPr lang="en-US" altLang="en-US" sz="1800" i="1"/>
              <a:t>g</a:t>
            </a:r>
            <a:r>
              <a:rPr lang="en-US" altLang="en-US" sz="1800"/>
              <a:t>(</a:t>
            </a:r>
            <a:r>
              <a:rPr lang="en-US" altLang="en-US" sz="1800" i="1"/>
              <a:t>lastletter</a:t>
            </a:r>
            <a:r>
              <a:rPr lang="en-US" altLang="en-US" sz="1800"/>
              <a:t>(</a:t>
            </a:r>
            <a:r>
              <a:rPr lang="en-US" altLang="en-US" sz="1800" i="1"/>
              <a:t>word</a:t>
            </a:r>
            <a:r>
              <a:rPr lang="en-US" altLang="en-US" sz="1800"/>
              <a:t>))) mod </a:t>
            </a:r>
            <a:r>
              <a:rPr lang="en-US" altLang="en-US" sz="1800" i="1"/>
              <a:t>TSize</a:t>
            </a:r>
            <a:br>
              <a:rPr lang="en-US" altLang="en-US" sz="1800" i="1"/>
            </a:br>
            <a:endParaRPr lang="en-US" altLang="en-US" sz="1800"/>
          </a:p>
          <a:p>
            <a:pPr eaLnBrk="1" hangingPunct="1"/>
            <a:r>
              <a:rPr lang="en-US" altLang="en-US"/>
              <a:t>The algorithm has three parts: </a:t>
            </a:r>
          </a:p>
          <a:p>
            <a:pPr lvl="1" eaLnBrk="1" hangingPunct="1"/>
            <a:r>
              <a:rPr lang="en-US" altLang="en-US"/>
              <a:t>Computation of the letter occurrences</a:t>
            </a:r>
          </a:p>
          <a:p>
            <a:pPr lvl="1" eaLnBrk="1" hangingPunct="1"/>
            <a:r>
              <a:rPr lang="en-US" altLang="en-US"/>
              <a:t>Ordering the words</a:t>
            </a:r>
          </a:p>
          <a:p>
            <a:pPr lvl="1" eaLnBrk="1" hangingPunct="1"/>
            <a:r>
              <a:rPr lang="en-US" altLang="en-US"/>
              <a:t>Searching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Slide Number Placeholder 3">
            <a:extLst>
              <a:ext uri="{FF2B5EF4-FFF2-40B4-BE49-F238E27FC236}">
                <a16:creationId xmlns:a16="http://schemas.microsoft.com/office/drawing/2014/main" id="{70272BAF-E73B-45BF-B769-9C5F0C9572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0D739602-0CA5-457A-BADD-2FCA07203E5B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86</a:t>
            </a:fld>
            <a:endParaRPr lang="en-US" altLang="en-US" sz="1600"/>
          </a:p>
        </p:txBody>
      </p:sp>
      <p:sp>
        <p:nvSpPr>
          <p:cNvPr id="58371" name="Rectangle 2">
            <a:extLst>
              <a:ext uri="{FF2B5EF4-FFF2-40B4-BE49-F238E27FC236}">
                <a16:creationId xmlns:a16="http://schemas.microsoft.com/office/drawing/2014/main" id="{459D40C3-0FD7-487D-9A05-B2A5385D99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Cichelli’s Method</a:t>
            </a:r>
          </a:p>
        </p:txBody>
      </p:sp>
      <p:sp>
        <p:nvSpPr>
          <p:cNvPr id="58372" name="Rectangle 3">
            <a:extLst>
              <a:ext uri="{FF2B5EF4-FFF2-40B4-BE49-F238E27FC236}">
                <a16:creationId xmlns:a16="http://schemas.microsoft.com/office/drawing/2014/main" id="{B60DB8D9-322C-4CE6-9CC3-0B5993CBED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u="sng"/>
              <a:t>Example</a:t>
            </a:r>
            <a:r>
              <a:rPr lang="en-US" altLang="en-US"/>
              <a:t>: Build a hash function for 9 Muses:</a:t>
            </a:r>
          </a:p>
          <a:p>
            <a:pPr eaLnBrk="1" hangingPunct="1">
              <a:buFontTx/>
              <a:buNone/>
            </a:pPr>
            <a:r>
              <a:rPr lang="en-US" altLang="en-US"/>
              <a:t>	Calliope, Clio, Erato, Euterpe, Melpomene, Polyhymnia, Terpsichore, Thalia, and Urania</a:t>
            </a:r>
          </a:p>
          <a:p>
            <a:pPr lvl="1" eaLnBrk="1" hangingPunct="1"/>
            <a:r>
              <a:rPr lang="en-US" altLang="en-US"/>
              <a:t>Computation of the letter occurrences at the first or the last character</a:t>
            </a:r>
          </a:p>
          <a:p>
            <a:pPr eaLnBrk="1" hangingPunct="1">
              <a:buFontTx/>
              <a:buNone/>
            </a:pPr>
            <a:r>
              <a:rPr lang="en-US" altLang="en-US"/>
              <a:t>E(6), A(?), ??? </a:t>
            </a:r>
          </a:p>
          <a:p>
            <a:pPr lvl="1" eaLnBrk="1" hangingPunct="1"/>
            <a:r>
              <a:rPr lang="en-US" altLang="en-US"/>
              <a:t>Ordering the words</a:t>
            </a:r>
          </a:p>
          <a:p>
            <a:pPr eaLnBrk="1" hangingPunct="1">
              <a:buFontTx/>
              <a:buNone/>
            </a:pPr>
            <a:r>
              <a:rPr lang="en-US" altLang="en-US"/>
              <a:t>1) Euterpe: 6(first) + 6(last),   2)?   3)?  ???</a:t>
            </a:r>
          </a:p>
          <a:p>
            <a:pPr lvl="1" eaLnBrk="1" hangingPunct="1"/>
            <a:r>
              <a:rPr lang="en-US" altLang="en-US"/>
              <a:t>Searching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3">
            <a:extLst>
              <a:ext uri="{FF2B5EF4-FFF2-40B4-BE49-F238E27FC236}">
                <a16:creationId xmlns:a16="http://schemas.microsoft.com/office/drawing/2014/main" id="{9D105611-1395-4B78-9EE4-C97F9B132F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630F5585-2F2C-4761-86EA-866C73C26C08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87</a:t>
            </a:fld>
            <a:endParaRPr lang="en-US" altLang="en-US" sz="1600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D0949B03-A446-4ED5-A11A-86EF1440CD4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Cichelli’s Method (continued)</a:t>
            </a:r>
          </a:p>
        </p:txBody>
      </p:sp>
      <p:sp>
        <p:nvSpPr>
          <p:cNvPr id="59396" name="Text Box 3">
            <a:extLst>
              <a:ext uri="{FF2B5EF4-FFF2-40B4-BE49-F238E27FC236}">
                <a16:creationId xmlns:a16="http://schemas.microsoft.com/office/drawing/2014/main" id="{DF7E629C-B837-4A1A-B720-4FD3E9837E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5180013"/>
            <a:ext cx="8724900" cy="915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en-US" sz="1800" b="1"/>
              <a:t>Figure 10-11 Subsequent invocations of the searching procedure with </a:t>
            </a:r>
            <a:r>
              <a:rPr lang="en-US" altLang="en-US" sz="1800" b="1" i="1"/>
              <a:t>Max </a:t>
            </a:r>
            <a:r>
              <a:rPr lang="en-US" altLang="en-US" sz="1800" b="1"/>
              <a:t>= 4 </a:t>
            </a:r>
            <a:br>
              <a:rPr lang="en-US" altLang="en-US" sz="1800" b="1"/>
            </a:br>
            <a:r>
              <a:rPr lang="en-US" altLang="en-US" sz="1800" b="1"/>
              <a:t>in Cichelli’s algorithm assign the indicated values to letters and to the list of </a:t>
            </a:r>
            <a:br>
              <a:rPr lang="en-US" altLang="en-US" sz="1800" b="1"/>
            </a:br>
            <a:r>
              <a:rPr lang="en-US" altLang="en-US" sz="1800" b="1"/>
              <a:t>reserved hash values. The asterisks indicate failures.</a:t>
            </a:r>
          </a:p>
        </p:txBody>
      </p:sp>
      <p:pic>
        <p:nvPicPr>
          <p:cNvPr id="59397" name="Picture 4">
            <a:extLst>
              <a:ext uri="{FF2B5EF4-FFF2-40B4-BE49-F238E27FC236}">
                <a16:creationId xmlns:a16="http://schemas.microsoft.com/office/drawing/2014/main" id="{46234373-C6FF-4F5F-A228-2C9293E18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9800" y="1371600"/>
            <a:ext cx="4830763" cy="3689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3">
            <a:extLst>
              <a:ext uri="{FF2B5EF4-FFF2-40B4-BE49-F238E27FC236}">
                <a16:creationId xmlns:a16="http://schemas.microsoft.com/office/drawing/2014/main" id="{D80F8EF6-0201-4B13-9886-DFF2A2A23C0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176A801C-9CF3-4F0E-9D5B-2CAC99B09C0C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88</a:t>
            </a:fld>
            <a:endParaRPr lang="en-US" altLang="en-US" sz="1600"/>
          </a:p>
        </p:txBody>
      </p:sp>
      <p:pic>
        <p:nvPicPr>
          <p:cNvPr id="60419" name="Picture 2">
            <a:extLst>
              <a:ext uri="{FF2B5EF4-FFF2-40B4-BE49-F238E27FC236}">
                <a16:creationId xmlns:a16="http://schemas.microsoft.com/office/drawing/2014/main" id="{DDBF7988-EF2B-481D-9657-ECF24CDAE7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0"/>
            <a:ext cx="8001000" cy="61102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3">
            <a:extLst>
              <a:ext uri="{FF2B5EF4-FFF2-40B4-BE49-F238E27FC236}">
                <a16:creationId xmlns:a16="http://schemas.microsoft.com/office/drawing/2014/main" id="{B6A8F6F0-ACDB-4687-900E-E07980FF57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E52814E5-6571-4CA3-98A1-409396DA2BDC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89</a:t>
            </a:fld>
            <a:endParaRPr lang="en-US" altLang="en-US" sz="1600"/>
          </a:p>
        </p:txBody>
      </p:sp>
      <p:sp>
        <p:nvSpPr>
          <p:cNvPr id="61443" name="Rectangle 2">
            <a:extLst>
              <a:ext uri="{FF2B5EF4-FFF2-40B4-BE49-F238E27FC236}">
                <a16:creationId xmlns:a16="http://schemas.microsoft.com/office/drawing/2014/main" id="{760EB596-41C6-470A-BDD6-EDA7F11B81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4000"/>
              <a:t>Cichelli’s Method</a:t>
            </a:r>
          </a:p>
        </p:txBody>
      </p:sp>
      <p:sp>
        <p:nvSpPr>
          <p:cNvPr id="61444" name="Rectangle 3">
            <a:extLst>
              <a:ext uri="{FF2B5EF4-FFF2-40B4-BE49-F238E27FC236}">
                <a16:creationId xmlns:a16="http://schemas.microsoft.com/office/drawing/2014/main" id="{F46B4F22-D557-4203-9D81-F2E7351489A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Tx/>
              <a:buNone/>
            </a:pPr>
            <a:r>
              <a:rPr lang="en-US" altLang="en-US" u="sng"/>
              <a:t>Therefore</a:t>
            </a:r>
            <a:r>
              <a:rPr lang="en-US" altLang="en-US"/>
              <a:t>: h(word) function</a:t>
            </a:r>
          </a:p>
          <a:p>
            <a:pPr eaLnBrk="1" hangingPunct="1">
              <a:buFontTx/>
              <a:buNone/>
            </a:pPr>
            <a:r>
              <a:rPr lang="en-US" altLang="en-US" sz="2100"/>
              <a:t>= (</a:t>
            </a:r>
            <a:r>
              <a:rPr lang="en-US" altLang="en-US" sz="2100" i="1"/>
              <a:t>length</a:t>
            </a:r>
            <a:r>
              <a:rPr lang="en-US" altLang="en-US" sz="2100"/>
              <a:t>(</a:t>
            </a:r>
            <a:r>
              <a:rPr lang="en-US" altLang="en-US" sz="2100" i="1"/>
              <a:t>word</a:t>
            </a:r>
            <a:r>
              <a:rPr lang="en-US" altLang="en-US" sz="2100"/>
              <a:t>) + </a:t>
            </a:r>
            <a:r>
              <a:rPr lang="en-US" altLang="en-US" sz="2100" i="1"/>
              <a:t>g</a:t>
            </a:r>
            <a:r>
              <a:rPr lang="en-US" altLang="en-US" sz="2100"/>
              <a:t>(</a:t>
            </a:r>
            <a:r>
              <a:rPr lang="en-US" altLang="en-US" sz="2100" i="1"/>
              <a:t>firstletter</a:t>
            </a:r>
            <a:r>
              <a:rPr lang="en-US" altLang="en-US" sz="2100"/>
              <a:t>(</a:t>
            </a:r>
            <a:r>
              <a:rPr lang="en-US" altLang="en-US" sz="2100" i="1"/>
              <a:t>word</a:t>
            </a:r>
            <a:r>
              <a:rPr lang="en-US" altLang="en-US" sz="2100"/>
              <a:t>)) + </a:t>
            </a:r>
            <a:r>
              <a:rPr lang="en-US" altLang="en-US" sz="2100" i="1"/>
              <a:t>g</a:t>
            </a:r>
            <a:r>
              <a:rPr lang="en-US" altLang="en-US" sz="2100"/>
              <a:t>(</a:t>
            </a:r>
            <a:r>
              <a:rPr lang="en-US" altLang="en-US" sz="2100" i="1"/>
              <a:t>lastletter</a:t>
            </a:r>
            <a:r>
              <a:rPr lang="en-US" altLang="en-US" sz="2100"/>
              <a:t>(</a:t>
            </a:r>
            <a:r>
              <a:rPr lang="en-US" altLang="en-US" sz="2100" i="1"/>
              <a:t>word</a:t>
            </a:r>
            <a:r>
              <a:rPr lang="en-US" altLang="en-US" sz="2100"/>
              <a:t>))) mod </a:t>
            </a:r>
            <a:r>
              <a:rPr lang="en-US" altLang="en-US" sz="2100" i="1"/>
              <a:t>TSize</a:t>
            </a:r>
            <a:br>
              <a:rPr lang="en-US" altLang="en-US" sz="2100" i="1"/>
            </a:br>
            <a:endParaRPr lang="en-US" altLang="en-US" sz="2100"/>
          </a:p>
          <a:p>
            <a:pPr eaLnBrk="1" hangingPunct="1">
              <a:buFontTx/>
              <a:buNone/>
            </a:pPr>
            <a:r>
              <a:rPr lang="en-US" altLang="en-US"/>
              <a:t> g function</a:t>
            </a:r>
          </a:p>
          <a:p>
            <a:pPr eaLnBrk="1" hangingPunct="1"/>
            <a:r>
              <a:rPr lang="en-US" altLang="en-US"/>
              <a:t>g(A) = g(C) = g(E) = g(O) = g(M) = g(T) = 0</a:t>
            </a:r>
          </a:p>
          <a:p>
            <a:pPr eaLnBrk="1" hangingPunct="1"/>
            <a:r>
              <a:rPr lang="en-US" altLang="en-US"/>
              <a:t>g(P) = 2</a:t>
            </a:r>
          </a:p>
          <a:p>
            <a:pPr eaLnBrk="1" hangingPunct="1"/>
            <a:r>
              <a:rPr lang="en-US" altLang="en-US"/>
              <a:t>g(U) = 4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Content Placeholder 2">
            <a:extLst>
              <a:ext uri="{FF2B5EF4-FFF2-40B4-BE49-F238E27FC236}">
                <a16:creationId xmlns:a16="http://schemas.microsoft.com/office/drawing/2014/main" id="{C85CE9A8-09FF-4507-9F8D-2DA2A41581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04800" y="381000"/>
            <a:ext cx="5791200" cy="4525963"/>
          </a:xfrm>
        </p:spPr>
        <p:txBody>
          <a:bodyPr/>
          <a:lstStyle/>
          <a:p>
            <a:pPr marL="514350" indent="-514350">
              <a:buFontTx/>
              <a:buAutoNum type="arabicPeriod"/>
            </a:pPr>
            <a:r>
              <a:rPr lang="en-US" altLang="en-US"/>
              <a:t>What is hash?</a:t>
            </a:r>
          </a:p>
          <a:p>
            <a:pPr marL="514350" indent="-514350">
              <a:buFontTx/>
              <a:buAutoNum type="arabicPeriod"/>
            </a:pPr>
            <a:r>
              <a:rPr lang="en-US" altLang="en-US"/>
              <a:t>What is hash function?</a:t>
            </a:r>
          </a:p>
          <a:p>
            <a:pPr marL="514350" indent="-514350">
              <a:buFontTx/>
              <a:buAutoNum type="arabicPeriod"/>
            </a:pPr>
            <a:r>
              <a:rPr lang="en-US" altLang="en-US"/>
              <a:t>What is a good hash function, [Hint: perfect hash]?</a:t>
            </a:r>
          </a:p>
          <a:p>
            <a:pPr marL="514350" indent="-514350">
              <a:buFontTx/>
              <a:buAutoNum type="arabicPeriod"/>
            </a:pPr>
            <a:r>
              <a:rPr lang="en-US" altLang="en-US"/>
              <a:t>Give four examples of hash function for the given sample -&gt; on the left.</a:t>
            </a:r>
          </a:p>
          <a:p>
            <a:pPr marL="514350" indent="-514350">
              <a:buFontTx/>
              <a:buAutoNum type="arabicPeriod"/>
            </a:pPr>
            <a:endParaRPr lang="en-US" altLang="en-US"/>
          </a:p>
        </p:txBody>
      </p:sp>
      <p:sp>
        <p:nvSpPr>
          <p:cNvPr id="67587" name="Slide Number Placeholder 3">
            <a:extLst>
              <a:ext uri="{FF2B5EF4-FFF2-40B4-BE49-F238E27FC236}">
                <a16:creationId xmlns:a16="http://schemas.microsoft.com/office/drawing/2014/main" id="{D079BED3-F203-4E77-BC1C-D0BB1D39DA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>
            <a:lvl1pPr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har char="–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en-US" sz="1600"/>
              <a:t> </a:t>
            </a:r>
            <a:fld id="{B9A948FF-2C60-4730-B9EB-D8DB585A15F6}" type="slidenum">
              <a:rPr lang="en-US" altLang="en-US" sz="1600" smtClean="0"/>
              <a:pPr>
                <a:spcBef>
                  <a:spcPct val="0"/>
                </a:spcBef>
                <a:buFontTx/>
                <a:buNone/>
              </a:pPr>
              <a:t>90</a:t>
            </a:fld>
            <a:endParaRPr lang="en-US" altLang="en-US" sz="160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1A42512-48BB-4F0A-BE03-AD061179A7AF}"/>
              </a:ext>
            </a:extLst>
          </p:cNvPr>
          <p:cNvGraphicFramePr>
            <a:graphicFrameLocks noGrp="1"/>
          </p:cNvGraphicFramePr>
          <p:nvPr/>
        </p:nvGraphicFramePr>
        <p:xfrm>
          <a:off x="6626225" y="209550"/>
          <a:ext cx="2089150" cy="654367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89150">
                  <a:extLst>
                    <a:ext uri="{9D8B030D-6E8A-4147-A177-3AD203B41FA5}">
                      <a16:colId xmlns:a16="http://schemas.microsoft.com/office/drawing/2014/main" val="108645080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119544538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35583353"/>
                  </a:ext>
                </a:extLst>
              </a:tr>
              <a:tr h="278130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129554544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0355457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139564556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3313818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149574566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1863353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159584573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3340502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effectLst/>
                        </a:rPr>
                        <a:t>169594583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754550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effectLst/>
                        </a:rPr>
                        <a:t>179604598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0081133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effectLst/>
                        </a:rPr>
                        <a:t>189614602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380780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199624615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374090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209634625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723003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219644637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0158025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229654644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241063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239664655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1893300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>
                          <a:effectLst/>
                        </a:rPr>
                        <a:t>249674666</a:t>
                      </a:r>
                      <a:endParaRPr lang="en-US" sz="2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9491857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/>
                      <a:r>
                        <a:rPr lang="en-US" sz="2800" u="none" strike="noStrike" dirty="0">
                          <a:effectLst/>
                        </a:rPr>
                        <a:t>259684679</a:t>
                      </a:r>
                      <a:endParaRPr lang="en-US" sz="2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835947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2380</TotalTime>
  <Words>3111</Words>
  <Application>Microsoft Office PowerPoint</Application>
  <PresentationFormat>On-screen Show (4:3)</PresentationFormat>
  <Paragraphs>505</Paragraphs>
  <Slides>90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90</vt:i4>
      </vt:variant>
    </vt:vector>
  </HeadingPairs>
  <TitlesOfParts>
    <vt:vector size="103" baseType="lpstr">
      <vt:lpstr>Arial</vt:lpstr>
      <vt:lpstr>Arial Narrow</vt:lpstr>
      <vt:lpstr>Arial Unicode MS</vt:lpstr>
      <vt:lpstr>Calibri</vt:lpstr>
      <vt:lpstr>Comic Sans MS</vt:lpstr>
      <vt:lpstr>Cordia New</vt:lpstr>
      <vt:lpstr>Courier New</vt:lpstr>
      <vt:lpstr>Monotype Sorts</vt:lpstr>
      <vt:lpstr>Symbol</vt:lpstr>
      <vt:lpstr>Times New Roman</vt:lpstr>
      <vt:lpstr>Wingdings</vt:lpstr>
      <vt:lpstr>ヒラギノ角ゴ Pro W3</vt:lpstr>
      <vt:lpstr>Default Design</vt:lpstr>
      <vt:lpstr>PowerPoint Presentation</vt:lpstr>
      <vt:lpstr>Space-for-time tradeoffs</vt:lpstr>
      <vt:lpstr>Sorting by Counting</vt:lpstr>
      <vt:lpstr>Sorting by Counting</vt:lpstr>
      <vt:lpstr>Sorting by Counting</vt:lpstr>
      <vt:lpstr>Sorting by Counting</vt:lpstr>
      <vt:lpstr>Distribution Count</vt:lpstr>
      <vt:lpstr>Distribution Count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Distribution Count</vt:lpstr>
      <vt:lpstr>PowerPoint Presentation</vt:lpstr>
      <vt:lpstr>Review: String searching by brute force</vt:lpstr>
      <vt:lpstr>PowerPoint Presentation</vt:lpstr>
      <vt:lpstr>PowerPoint Presentation</vt:lpstr>
      <vt:lpstr>String searching by preprocessing</vt:lpstr>
      <vt:lpstr>PowerPoint Presentation</vt:lpstr>
      <vt:lpstr>PowerPoint Presentation</vt:lpstr>
      <vt:lpstr>PowerPoint Presentation</vt:lpstr>
      <vt:lpstr>Horspool’s Algorithm</vt:lpstr>
      <vt:lpstr>How far to shift?</vt:lpstr>
      <vt:lpstr>How far to shift?</vt:lpstr>
      <vt:lpstr>Shift table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of Horspool’s alg. application</vt:lpstr>
      <vt:lpstr>Horspool’s Algorithm</vt:lpstr>
      <vt:lpstr>PowerPoint Presentation</vt:lpstr>
      <vt:lpstr>Horspool’s Algorithm</vt:lpstr>
      <vt:lpstr>PowerPoint Presentation</vt:lpstr>
      <vt:lpstr>PowerPoint Presentation</vt:lpstr>
      <vt:lpstr>PowerPoint Presentation</vt:lpstr>
      <vt:lpstr>PowerPoint Presentation</vt:lpstr>
      <vt:lpstr>Hashing</vt:lpstr>
      <vt:lpstr>Hash function</vt:lpstr>
      <vt:lpstr>Hashing</vt:lpstr>
      <vt:lpstr>Hash Functions</vt:lpstr>
      <vt:lpstr>Hash Functions</vt:lpstr>
      <vt:lpstr>Hash Functions</vt:lpstr>
      <vt:lpstr>Hash Functions (continued)</vt:lpstr>
      <vt:lpstr>Hash Functions (continued)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Hash Functions (continued)</vt:lpstr>
      <vt:lpstr>Hash functions</vt:lpstr>
      <vt:lpstr>Collision Resolution</vt:lpstr>
      <vt:lpstr>Collision resolution: linear probing</vt:lpstr>
      <vt:lpstr>Collision Resolution (continued)</vt:lpstr>
      <vt:lpstr>Collision Resolution</vt:lpstr>
      <vt:lpstr>Collision Resolution (continued)</vt:lpstr>
      <vt:lpstr>Collision Resolution (continued)</vt:lpstr>
      <vt:lpstr>Collision resolution:  linear probing and clustering</vt:lpstr>
      <vt:lpstr>Collision Resolution (continued)</vt:lpstr>
      <vt:lpstr>Chaining</vt:lpstr>
      <vt:lpstr>PowerPoint Presentation</vt:lpstr>
      <vt:lpstr>Chaining (continued)</vt:lpstr>
      <vt:lpstr>Chaining (continued)</vt:lpstr>
      <vt:lpstr>PowerPoint Presentation</vt:lpstr>
      <vt:lpstr>Chaining (continued)</vt:lpstr>
      <vt:lpstr>Chaining (continued)</vt:lpstr>
      <vt:lpstr>Bucket Addressing</vt:lpstr>
      <vt:lpstr>Bucket Addressing (continued)</vt:lpstr>
      <vt:lpstr>Bucket Addressing (continued)</vt:lpstr>
      <vt:lpstr>Deletion</vt:lpstr>
      <vt:lpstr>Hashing</vt:lpstr>
      <vt:lpstr>Perfect Hash Functions</vt:lpstr>
      <vt:lpstr>Cichelli’s Method</vt:lpstr>
      <vt:lpstr>Cichelli’s Method</vt:lpstr>
      <vt:lpstr>Cichelli’s Method (continued)</vt:lpstr>
      <vt:lpstr>PowerPoint Presentation</vt:lpstr>
      <vt:lpstr>Cichelli’s Method</vt:lpstr>
      <vt:lpstr>PowerPoint Presentation</vt:lpstr>
    </vt:vector>
  </TitlesOfParts>
  <Company>FourPawsDesign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Web Development</dc:title>
  <dc:creator>Cyndi Middleton</dc:creator>
  <cp:lastModifiedBy>NARONGRIT WARAPORN</cp:lastModifiedBy>
  <cp:revision>223</cp:revision>
  <dcterms:created xsi:type="dcterms:W3CDTF">2005-09-19T23:06:59Z</dcterms:created>
  <dcterms:modified xsi:type="dcterms:W3CDTF">2024-10-27T04:26:54Z</dcterms:modified>
</cp:coreProperties>
</file>